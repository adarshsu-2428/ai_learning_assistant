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57" r:id="rId2"/>
    <p:sldId id="258" r:id="rId3"/>
    <p:sldId id="259" r:id="rId4"/>
    <p:sldId id="260" r:id="rId5"/>
    <p:sldId id="261" r:id="rId6"/>
    <p:sldId id="268" r:id="rId7"/>
    <p:sldId id="262" r:id="rId8"/>
    <p:sldId id="263" r:id="rId9"/>
    <p:sldId id="264" r:id="rId10"/>
    <p:sldId id="265" r:id="rId11"/>
    <p:sldId id="266" r:id="rId12"/>
    <p:sldId id="267" r:id="rId13"/>
    <p:sldId id="269" r:id="rId14"/>
    <p:sldId id="270" r:id="rId15"/>
    <p:sldId id="272" r:id="rId16"/>
    <p:sldId id="271" r:id="rId17"/>
    <p:sldId id="273" r:id="rId18"/>
    <p:sldId id="274" r:id="rId19"/>
    <p:sldId id="278" r:id="rId20"/>
    <p:sldId id="287" r:id="rId21"/>
    <p:sldId id="288" r:id="rId22"/>
    <p:sldId id="289" r:id="rId23"/>
    <p:sldId id="290" r:id="rId24"/>
    <p:sldId id="291" r:id="rId25"/>
    <p:sldId id="292" r:id="rId26"/>
    <p:sldId id="275" r:id="rId27"/>
    <p:sldId id="277" r:id="rId28"/>
    <p:sldId id="281" r:id="rId29"/>
    <p:sldId id="283" r:id="rId30"/>
    <p:sldId id="284" r:id="rId31"/>
    <p:sldId id="285" r:id="rId32"/>
    <p:sldId id="286" r:id="rId33"/>
    <p:sldId id="303" r:id="rId34"/>
    <p:sldId id="297" r:id="rId35"/>
    <p:sldId id="299" r:id="rId36"/>
    <p:sldId id="300" r:id="rId37"/>
    <p:sldId id="301" r:id="rId38"/>
    <p:sldId id="302" r:id="rId39"/>
    <p:sldId id="304" r:id="rId40"/>
    <p:sldId id="305" r:id="rId41"/>
    <p:sldId id="306" r:id="rId42"/>
    <p:sldId id="307" r:id="rId43"/>
    <p:sldId id="308" r:id="rId44"/>
    <p:sldId id="309" r:id="rId45"/>
    <p:sldId id="310" r:id="rId46"/>
    <p:sldId id="311" r:id="rId47"/>
    <p:sldId id="293" r:id="rId48"/>
    <p:sldId id="279" r:id="rId49"/>
    <p:sldId id="280" r:id="rId5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265" autoAdjust="0"/>
    <p:restoredTop sz="94660"/>
  </p:normalViewPr>
  <p:slideViewPr>
    <p:cSldViewPr>
      <p:cViewPr varScale="1">
        <p:scale>
          <a:sx n="63" d="100"/>
          <a:sy n="63" d="100"/>
        </p:scale>
        <p:origin x="172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9A41C86-447E-44D7-94EC-4189114A24EF}" type="datetimeFigureOut">
              <a:rPr lang="en-US" smtClean="0"/>
              <a:pPr/>
              <a:t>11/6/2023</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9F470FB-8205-45DB-AAD1-547BA44890D4}" type="slidenum">
              <a:rPr lang="en-IN" smtClean="0"/>
              <a:pPr/>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09F470FB-8205-45DB-AAD1-547BA44890D4}" type="slidenum">
              <a:rPr lang="en-IN" smtClean="0"/>
              <a:pPr/>
              <a:t>4</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9F470FB-8205-45DB-AAD1-547BA44890D4}" type="slidenum">
              <a:rPr lang="en-IN" smtClean="0"/>
              <a:pPr/>
              <a:t>8</a:t>
            </a:fld>
            <a:endParaRPr lang="en-IN"/>
          </a:p>
        </p:txBody>
      </p:sp>
    </p:spTree>
    <p:extLst>
      <p:ext uri="{BB962C8B-B14F-4D97-AF65-F5344CB8AC3E}">
        <p14:creationId xmlns:p14="http://schemas.microsoft.com/office/powerpoint/2010/main" val="13744290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11/6/2023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solidFill>
                  <a:srgbClr val="FF0000"/>
                </a:solidFill>
              </a:rPr>
              <a:t>ARRAY</a:t>
            </a:r>
          </a:p>
        </p:txBody>
      </p:sp>
      <p:sp>
        <p:nvSpPr>
          <p:cNvPr id="3" name="Subtitle 2"/>
          <p:cNvSpPr>
            <a:spLocks noGrp="1"/>
          </p:cNvSpPr>
          <p:nvPr>
            <p:ph type="subTitle" idx="1"/>
          </p:nvPr>
        </p:nvSpPr>
        <p:spPr/>
        <p:txBody>
          <a:bodyPr/>
          <a:lstStyle/>
          <a:p>
            <a:r>
              <a:rPr lang="en-IN" dirty="0"/>
              <a:t>Dr Mukti </a:t>
            </a:r>
            <a:r>
              <a:rPr lang="en-IN" dirty="0" err="1"/>
              <a:t>Routray</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solidFill>
                <a:srgbClr val="C00000"/>
              </a:solidFill>
            </a:endParaRPr>
          </a:p>
        </p:txBody>
      </p:sp>
      <p:sp>
        <p:nvSpPr>
          <p:cNvPr id="3" name="Content Placeholder 2"/>
          <p:cNvSpPr>
            <a:spLocks noGrp="1"/>
          </p:cNvSpPr>
          <p:nvPr>
            <p:ph idx="1"/>
          </p:nvPr>
        </p:nvSpPr>
        <p:spPr>
          <a:xfrm>
            <a:off x="533400" y="1447800"/>
            <a:ext cx="8229600" cy="5105400"/>
          </a:xfrm>
        </p:spPr>
        <p:txBody>
          <a:bodyPr/>
          <a:lstStyle/>
          <a:p>
            <a:r>
              <a:rPr lang="en-US" sz="3600" dirty="0"/>
              <a:t>How to store 60 Students marks in programming in c subject?</a:t>
            </a:r>
          </a:p>
          <a:p>
            <a:pPr lvl="1"/>
            <a:r>
              <a:rPr lang="en-US" dirty="0"/>
              <a:t>Declare 60 integer variables to store marks</a:t>
            </a:r>
          </a:p>
          <a:p>
            <a:pPr lvl="2"/>
            <a:r>
              <a:rPr lang="en-US" b="1" dirty="0">
                <a:solidFill>
                  <a:srgbClr val="C00000"/>
                </a:solidFill>
              </a:rPr>
              <a:t>int mark1, mark2,………., mark60</a:t>
            </a:r>
            <a:r>
              <a:rPr lang="en-US" dirty="0"/>
              <a:t>;</a:t>
            </a:r>
          </a:p>
          <a:p>
            <a:pPr lvl="1"/>
            <a:r>
              <a:rPr lang="en-US" dirty="0"/>
              <a:t>Declare a single variable which is able to store mark of 60 students</a:t>
            </a:r>
          </a:p>
          <a:p>
            <a:pPr>
              <a:buNone/>
            </a:pPr>
            <a:endParaRPr lang="en-IN" dirty="0"/>
          </a:p>
        </p:txBody>
      </p:sp>
      <p:sp>
        <p:nvSpPr>
          <p:cNvPr id="5" name="Rectangle 4"/>
          <p:cNvSpPr/>
          <p:nvPr/>
        </p:nvSpPr>
        <p:spPr>
          <a:xfrm>
            <a:off x="838200" y="381000"/>
            <a:ext cx="6324600" cy="91440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000" dirty="0">
                <a:solidFill>
                  <a:srgbClr val="C00000"/>
                </a:solidFill>
              </a:rPr>
              <a:t>Motivation</a:t>
            </a:r>
            <a:endParaRPr lang="en-IN" sz="4000" dirty="0"/>
          </a:p>
        </p:txBody>
      </p:sp>
      <p:sp>
        <p:nvSpPr>
          <p:cNvPr id="7" name="TextBox 6"/>
          <p:cNvSpPr txBox="1"/>
          <p:nvPr/>
        </p:nvSpPr>
        <p:spPr>
          <a:xfrm>
            <a:off x="457200" y="4572000"/>
            <a:ext cx="7772400" cy="1569660"/>
          </a:xfrm>
          <a:prstGeom prst="rect">
            <a:avLst/>
          </a:prstGeom>
          <a:solidFill>
            <a:schemeClr val="bg1">
              <a:lumMod val="85000"/>
            </a:schemeClr>
          </a:solidFill>
        </p:spPr>
        <p:txBody>
          <a:bodyPr wrap="square" rtlCol="0">
            <a:spAutoFit/>
          </a:bodyPr>
          <a:lstStyle/>
          <a:p>
            <a:r>
              <a:rPr lang="en-IN" sz="3200" dirty="0"/>
              <a:t>Obviously the second alternative is better.</a:t>
            </a:r>
          </a:p>
          <a:p>
            <a:r>
              <a:rPr lang="en-IN" sz="3200" dirty="0"/>
              <a:t>It is </a:t>
            </a:r>
            <a:r>
              <a:rPr lang="en-IN" sz="3200" b="1" dirty="0">
                <a:solidFill>
                  <a:srgbClr val="C00000"/>
                </a:solidFill>
              </a:rPr>
              <a:t>easier</a:t>
            </a:r>
            <a:r>
              <a:rPr lang="en-IN" sz="3200" dirty="0"/>
              <a:t> to handle </a:t>
            </a:r>
            <a:r>
              <a:rPr lang="en-IN" sz="3200" b="1" dirty="0">
                <a:solidFill>
                  <a:srgbClr val="C00000"/>
                </a:solidFill>
              </a:rPr>
              <a:t>one variable</a:t>
            </a:r>
            <a:r>
              <a:rPr lang="en-IN" sz="3200" dirty="0"/>
              <a:t>  than </a:t>
            </a:r>
            <a:r>
              <a:rPr lang="en-IN" sz="3200" b="1" dirty="0">
                <a:solidFill>
                  <a:srgbClr val="C00000"/>
                </a:solidFill>
              </a:rPr>
              <a:t>60 different variable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endParaRPr lang="en-IN" dirty="0"/>
          </a:p>
        </p:txBody>
      </p:sp>
      <p:sp>
        <p:nvSpPr>
          <p:cNvPr id="3" name="Content Placeholder 2"/>
          <p:cNvSpPr>
            <a:spLocks noGrp="1"/>
          </p:cNvSpPr>
          <p:nvPr>
            <p:ph idx="1"/>
          </p:nvPr>
        </p:nvSpPr>
        <p:spPr>
          <a:xfrm>
            <a:off x="457200" y="1295400"/>
            <a:ext cx="8229600" cy="4830763"/>
          </a:xfrm>
        </p:spPr>
        <p:txBody>
          <a:bodyPr>
            <a:normAutofit fontScale="92500" lnSpcReduction="10000"/>
          </a:bodyPr>
          <a:lstStyle/>
          <a:p>
            <a:r>
              <a:rPr lang="en-IN" dirty="0"/>
              <a:t>An array is a </a:t>
            </a:r>
            <a:r>
              <a:rPr lang="en-IN" b="1" u="sng" dirty="0">
                <a:solidFill>
                  <a:schemeClr val="accent5">
                    <a:lumMod val="50000"/>
                  </a:schemeClr>
                </a:solidFill>
              </a:rPr>
              <a:t>collection of elements of the same type(homogeneous element) that are referenced by a common name.</a:t>
            </a:r>
          </a:p>
          <a:p>
            <a:r>
              <a:rPr lang="en-IN" dirty="0"/>
              <a:t> It is a </a:t>
            </a:r>
            <a:r>
              <a:rPr lang="en-IN" b="1" dirty="0">
                <a:solidFill>
                  <a:srgbClr val="C00000"/>
                </a:solidFill>
              </a:rPr>
              <a:t>common name </a:t>
            </a:r>
            <a:r>
              <a:rPr lang="en-IN" dirty="0"/>
              <a:t>given to group of similar types of element.</a:t>
            </a:r>
          </a:p>
          <a:p>
            <a:r>
              <a:rPr lang="en-IN" dirty="0"/>
              <a:t> All the data stored in an array must be of same type.</a:t>
            </a:r>
          </a:p>
          <a:p>
            <a:r>
              <a:rPr lang="en-IN" dirty="0"/>
              <a:t>The elements of an array stored in a </a:t>
            </a:r>
            <a:r>
              <a:rPr lang="en-IN" b="1" dirty="0">
                <a:solidFill>
                  <a:srgbClr val="C00000"/>
                </a:solidFill>
              </a:rPr>
              <a:t>contiguous memory location</a:t>
            </a:r>
            <a:r>
              <a:rPr lang="en-IN" dirty="0"/>
              <a:t>.</a:t>
            </a:r>
          </a:p>
          <a:p>
            <a:r>
              <a:rPr lang="en-IN" dirty="0"/>
              <a:t>It is also known as subscript variable </a:t>
            </a:r>
          </a:p>
        </p:txBody>
      </p:sp>
      <p:sp>
        <p:nvSpPr>
          <p:cNvPr id="4" name="Rectangle 3"/>
          <p:cNvSpPr/>
          <p:nvPr/>
        </p:nvSpPr>
        <p:spPr>
          <a:xfrm>
            <a:off x="2133600" y="381000"/>
            <a:ext cx="4724400" cy="4572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000" b="1" dirty="0">
                <a:solidFill>
                  <a:srgbClr val="FF0000"/>
                </a:solidFill>
              </a:rPr>
              <a:t>ARRAYS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381000"/>
            <a:ext cx="8686800" cy="6248400"/>
          </a:xfrm>
        </p:spPr>
        <p:txBody>
          <a:bodyPr>
            <a:normAutofit fontScale="85000" lnSpcReduction="20000"/>
          </a:bodyPr>
          <a:lstStyle/>
          <a:p>
            <a:r>
              <a:rPr lang="en-IN" dirty="0"/>
              <a:t>Like all variables in c, array must be declared.</a:t>
            </a:r>
          </a:p>
          <a:p>
            <a:r>
              <a:rPr lang="en-IN" b="1" dirty="0"/>
              <a:t>Operator: []</a:t>
            </a:r>
          </a:p>
          <a:p>
            <a:endParaRPr lang="en-IN" dirty="0"/>
          </a:p>
          <a:p>
            <a:endParaRPr lang="en-IN" dirty="0"/>
          </a:p>
          <a:p>
            <a:endParaRPr lang="en-IN" dirty="0"/>
          </a:p>
          <a:p>
            <a:endParaRPr lang="en-IN" dirty="0"/>
          </a:p>
          <a:p>
            <a:endParaRPr lang="en-IN" sz="2400" dirty="0"/>
          </a:p>
          <a:p>
            <a:endParaRPr lang="en-IN" sz="2400" dirty="0"/>
          </a:p>
          <a:p>
            <a:endParaRPr lang="en-IN" sz="2400" dirty="0"/>
          </a:p>
          <a:p>
            <a:endParaRPr lang="en-IN" sz="2400" dirty="0"/>
          </a:p>
          <a:p>
            <a:endParaRPr lang="en-IN" sz="2400" dirty="0"/>
          </a:p>
          <a:p>
            <a:endParaRPr lang="en-IN" sz="2400" dirty="0"/>
          </a:p>
          <a:p>
            <a:r>
              <a:rPr lang="en-IN" sz="2400" dirty="0"/>
              <a:t>Here mark is </a:t>
            </a:r>
            <a:r>
              <a:rPr lang="en-IN" sz="2400" b="1" dirty="0">
                <a:solidFill>
                  <a:srgbClr val="C00000"/>
                </a:solidFill>
              </a:rPr>
              <a:t>the array name. </a:t>
            </a:r>
            <a:r>
              <a:rPr lang="en-IN" sz="2400" dirty="0"/>
              <a:t>The array name must be a </a:t>
            </a:r>
            <a:r>
              <a:rPr lang="en-IN" sz="2400" b="1" dirty="0">
                <a:solidFill>
                  <a:srgbClr val="C00000"/>
                </a:solidFill>
              </a:rPr>
              <a:t>valid identifier</a:t>
            </a:r>
            <a:r>
              <a:rPr lang="en-IN" sz="2400" dirty="0"/>
              <a:t>.</a:t>
            </a:r>
            <a:endParaRPr lang="en-IN" sz="2400" b="1" dirty="0">
              <a:solidFill>
                <a:srgbClr val="C00000"/>
              </a:solidFill>
            </a:endParaRPr>
          </a:p>
          <a:p>
            <a:r>
              <a:rPr lang="en-IN" sz="2400" dirty="0"/>
              <a:t>The above declaration will </a:t>
            </a:r>
            <a:r>
              <a:rPr lang="en-IN" sz="2400" b="1" dirty="0"/>
              <a:t>reserve 5 contiguous memory locations</a:t>
            </a:r>
            <a:r>
              <a:rPr lang="en-IN" sz="2400" dirty="0"/>
              <a:t> to store 5 integers.</a:t>
            </a:r>
          </a:p>
          <a:p>
            <a:r>
              <a:rPr lang="en-IN" sz="2400" dirty="0"/>
              <a:t>Each array element is </a:t>
            </a:r>
            <a:r>
              <a:rPr lang="en-IN" sz="2400" b="1" dirty="0"/>
              <a:t>referred</a:t>
            </a:r>
            <a:r>
              <a:rPr lang="en-IN" sz="2400" dirty="0"/>
              <a:t> by specifying array </a:t>
            </a:r>
            <a:r>
              <a:rPr lang="en-IN" sz="2400" b="1" dirty="0">
                <a:solidFill>
                  <a:srgbClr val="FF0000"/>
                </a:solidFill>
              </a:rPr>
              <a:t>name followed by subscript enclosed in square bracket</a:t>
            </a:r>
          </a:p>
          <a:p>
            <a:pPr>
              <a:buNone/>
            </a:pPr>
            <a:endParaRPr lang="en-IN" sz="2400" dirty="0"/>
          </a:p>
          <a:p>
            <a:endParaRPr lang="en-IN" sz="2400" dirty="0"/>
          </a:p>
          <a:p>
            <a:endParaRPr lang="en-IN" dirty="0"/>
          </a:p>
          <a:p>
            <a:endParaRPr lang="en-IN" dirty="0"/>
          </a:p>
          <a:p>
            <a:endParaRPr lang="en-IN" dirty="0"/>
          </a:p>
          <a:p>
            <a:endParaRPr lang="en-IN" dirty="0"/>
          </a:p>
        </p:txBody>
      </p:sp>
      <p:sp>
        <p:nvSpPr>
          <p:cNvPr id="4" name="TextBox 3"/>
          <p:cNvSpPr txBox="1"/>
          <p:nvPr/>
        </p:nvSpPr>
        <p:spPr>
          <a:xfrm>
            <a:off x="685800" y="1143000"/>
            <a:ext cx="5867400" cy="1692771"/>
          </a:xfrm>
          <a:prstGeom prst="rect">
            <a:avLst/>
          </a:prstGeom>
          <a:solidFill>
            <a:schemeClr val="bg1">
              <a:lumMod val="85000"/>
            </a:schemeClr>
          </a:solidFill>
        </p:spPr>
        <p:txBody>
          <a:bodyPr wrap="square" rtlCol="0">
            <a:spAutoFit/>
          </a:bodyPr>
          <a:lstStyle/>
          <a:p>
            <a:r>
              <a:rPr lang="en-IN" sz="2400" b="1" dirty="0"/>
              <a:t>Declaration Syntax:</a:t>
            </a:r>
          </a:p>
          <a:p>
            <a:r>
              <a:rPr lang="en-IN" sz="2400" b="1" dirty="0" err="1"/>
              <a:t>datatype</a:t>
            </a:r>
            <a:r>
              <a:rPr lang="en-IN" sz="2400" b="1" dirty="0"/>
              <a:t>  </a:t>
            </a:r>
            <a:r>
              <a:rPr lang="en-IN" sz="2400" b="1" dirty="0" err="1"/>
              <a:t>arrayname</a:t>
            </a:r>
            <a:r>
              <a:rPr lang="en-IN" sz="2400" b="1" dirty="0"/>
              <a:t>[size];</a:t>
            </a:r>
          </a:p>
          <a:p>
            <a:r>
              <a:rPr lang="en-IN" sz="2400" b="1" dirty="0"/>
              <a:t>Ex: </a:t>
            </a:r>
            <a:r>
              <a:rPr lang="en-IN" sz="2400" b="1" dirty="0" err="1"/>
              <a:t>int</a:t>
            </a:r>
            <a:r>
              <a:rPr lang="en-IN" sz="2400" b="1" dirty="0"/>
              <a:t> mark[5];</a:t>
            </a:r>
          </a:p>
          <a:p>
            <a:endParaRPr lang="en-IN" sz="3200" b="1" dirty="0"/>
          </a:p>
        </p:txBody>
      </p:sp>
      <p:cxnSp>
        <p:nvCxnSpPr>
          <p:cNvPr id="6" name="Straight Connector 5"/>
          <p:cNvCxnSpPr/>
          <p:nvPr/>
        </p:nvCxnSpPr>
        <p:spPr>
          <a:xfrm rot="5400000">
            <a:off x="915194" y="2438400"/>
            <a:ext cx="457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1143794" y="2667000"/>
            <a:ext cx="609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752600" y="2438400"/>
            <a:ext cx="1143000" cy="381000"/>
          </a:xfrm>
          <a:prstGeom prst="rect">
            <a:avLst/>
          </a:prstGeom>
          <a:noFill/>
        </p:spPr>
        <p:txBody>
          <a:bodyPr wrap="square" rtlCol="0">
            <a:spAutoFit/>
          </a:bodyPr>
          <a:lstStyle/>
          <a:p>
            <a:r>
              <a:rPr lang="en-IN" dirty="0"/>
              <a:t>Data type</a:t>
            </a:r>
          </a:p>
        </p:txBody>
      </p:sp>
      <p:cxnSp>
        <p:nvCxnSpPr>
          <p:cNvPr id="11" name="Straight Connector 10"/>
          <p:cNvCxnSpPr/>
          <p:nvPr/>
        </p:nvCxnSpPr>
        <p:spPr>
          <a:xfrm rot="5400000">
            <a:off x="1753394" y="2286000"/>
            <a:ext cx="304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1905794" y="2436812"/>
            <a:ext cx="609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514600" y="2286000"/>
            <a:ext cx="1295400" cy="369332"/>
          </a:xfrm>
          <a:prstGeom prst="rect">
            <a:avLst/>
          </a:prstGeom>
          <a:noFill/>
        </p:spPr>
        <p:txBody>
          <a:bodyPr wrap="square" rtlCol="0">
            <a:spAutoFit/>
          </a:bodyPr>
          <a:lstStyle/>
          <a:p>
            <a:r>
              <a:rPr lang="en-IN" dirty="0"/>
              <a:t>Array name</a:t>
            </a:r>
          </a:p>
        </p:txBody>
      </p:sp>
      <p:cxnSp>
        <p:nvCxnSpPr>
          <p:cNvPr id="16" name="Straight Arrow Connector 15"/>
          <p:cNvCxnSpPr/>
          <p:nvPr/>
        </p:nvCxnSpPr>
        <p:spPr>
          <a:xfrm>
            <a:off x="2591594" y="2057400"/>
            <a:ext cx="1066800" cy="1707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3733800" y="1981200"/>
            <a:ext cx="2514600" cy="646331"/>
          </a:xfrm>
          <a:prstGeom prst="rect">
            <a:avLst/>
          </a:prstGeom>
          <a:noFill/>
        </p:spPr>
        <p:txBody>
          <a:bodyPr wrap="square" rtlCol="0">
            <a:spAutoFit/>
          </a:bodyPr>
          <a:lstStyle/>
          <a:p>
            <a:r>
              <a:rPr lang="en-IN" dirty="0"/>
              <a:t>Size or maximum no of element</a:t>
            </a:r>
          </a:p>
        </p:txBody>
      </p:sp>
      <p:sp>
        <p:nvSpPr>
          <p:cNvPr id="25" name="Rectangle 24"/>
          <p:cNvSpPr/>
          <p:nvPr/>
        </p:nvSpPr>
        <p:spPr>
          <a:xfrm>
            <a:off x="1143000" y="3733800"/>
            <a:ext cx="5562600" cy="3810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27" name="Straight Connector 26"/>
          <p:cNvCxnSpPr/>
          <p:nvPr/>
        </p:nvCxnSpPr>
        <p:spPr>
          <a:xfrm rot="5400000">
            <a:off x="2018506" y="3923506"/>
            <a:ext cx="381794" cy="794"/>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rot="5400000">
            <a:off x="3237706" y="3923506"/>
            <a:ext cx="381794" cy="794"/>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5400000">
            <a:off x="4380706" y="3923506"/>
            <a:ext cx="381794" cy="794"/>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a:off x="5447506" y="3923506"/>
            <a:ext cx="381794" cy="794"/>
          </a:xfrm>
          <a:prstGeom prst="line">
            <a:avLst/>
          </a:prstGeom>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1143000" y="3352800"/>
            <a:ext cx="990600" cy="369332"/>
          </a:xfrm>
          <a:prstGeom prst="rect">
            <a:avLst/>
          </a:prstGeom>
          <a:noFill/>
        </p:spPr>
        <p:txBody>
          <a:bodyPr wrap="square" rtlCol="0">
            <a:spAutoFit/>
          </a:bodyPr>
          <a:lstStyle/>
          <a:p>
            <a:r>
              <a:rPr lang="en-IN" dirty="0"/>
              <a:t>mark[0]</a:t>
            </a:r>
          </a:p>
        </p:txBody>
      </p:sp>
      <p:sp>
        <p:nvSpPr>
          <p:cNvPr id="34" name="TextBox 33"/>
          <p:cNvSpPr txBox="1"/>
          <p:nvPr/>
        </p:nvSpPr>
        <p:spPr>
          <a:xfrm>
            <a:off x="2286000" y="3352800"/>
            <a:ext cx="990600" cy="369332"/>
          </a:xfrm>
          <a:prstGeom prst="rect">
            <a:avLst/>
          </a:prstGeom>
          <a:noFill/>
        </p:spPr>
        <p:txBody>
          <a:bodyPr wrap="square" rtlCol="0">
            <a:spAutoFit/>
          </a:bodyPr>
          <a:lstStyle/>
          <a:p>
            <a:r>
              <a:rPr lang="en-IN" dirty="0"/>
              <a:t>mark[1]</a:t>
            </a:r>
          </a:p>
        </p:txBody>
      </p:sp>
      <p:sp>
        <p:nvSpPr>
          <p:cNvPr id="35" name="TextBox 34"/>
          <p:cNvSpPr txBox="1"/>
          <p:nvPr/>
        </p:nvSpPr>
        <p:spPr>
          <a:xfrm>
            <a:off x="3581400" y="3352800"/>
            <a:ext cx="990600" cy="369332"/>
          </a:xfrm>
          <a:prstGeom prst="rect">
            <a:avLst/>
          </a:prstGeom>
          <a:noFill/>
        </p:spPr>
        <p:txBody>
          <a:bodyPr wrap="square" rtlCol="0">
            <a:spAutoFit/>
          </a:bodyPr>
          <a:lstStyle/>
          <a:p>
            <a:r>
              <a:rPr lang="en-IN" dirty="0"/>
              <a:t>mark[2]</a:t>
            </a:r>
          </a:p>
        </p:txBody>
      </p:sp>
      <p:sp>
        <p:nvSpPr>
          <p:cNvPr id="36" name="TextBox 35"/>
          <p:cNvSpPr txBox="1"/>
          <p:nvPr/>
        </p:nvSpPr>
        <p:spPr>
          <a:xfrm>
            <a:off x="4724400" y="3352800"/>
            <a:ext cx="990600" cy="369332"/>
          </a:xfrm>
          <a:prstGeom prst="rect">
            <a:avLst/>
          </a:prstGeom>
          <a:noFill/>
        </p:spPr>
        <p:txBody>
          <a:bodyPr wrap="square" rtlCol="0">
            <a:spAutoFit/>
          </a:bodyPr>
          <a:lstStyle/>
          <a:p>
            <a:r>
              <a:rPr lang="en-IN" dirty="0"/>
              <a:t>mark[3]</a:t>
            </a:r>
          </a:p>
        </p:txBody>
      </p:sp>
      <p:sp>
        <p:nvSpPr>
          <p:cNvPr id="37" name="TextBox 36"/>
          <p:cNvSpPr txBox="1"/>
          <p:nvPr/>
        </p:nvSpPr>
        <p:spPr>
          <a:xfrm>
            <a:off x="5791200" y="3352800"/>
            <a:ext cx="990600" cy="369332"/>
          </a:xfrm>
          <a:prstGeom prst="rect">
            <a:avLst/>
          </a:prstGeom>
          <a:noFill/>
        </p:spPr>
        <p:txBody>
          <a:bodyPr wrap="square" rtlCol="0">
            <a:spAutoFit/>
          </a:bodyPr>
          <a:lstStyle/>
          <a:p>
            <a:r>
              <a:rPr lang="en-IN" dirty="0"/>
              <a:t>mark[4]</a:t>
            </a:r>
          </a:p>
        </p:txBody>
      </p:sp>
      <p:sp>
        <p:nvSpPr>
          <p:cNvPr id="38" name="TextBox 37"/>
          <p:cNvSpPr txBox="1"/>
          <p:nvPr/>
        </p:nvSpPr>
        <p:spPr>
          <a:xfrm>
            <a:off x="1447800" y="4114800"/>
            <a:ext cx="304800" cy="369332"/>
          </a:xfrm>
          <a:prstGeom prst="rect">
            <a:avLst/>
          </a:prstGeom>
          <a:noFill/>
        </p:spPr>
        <p:txBody>
          <a:bodyPr wrap="square" rtlCol="0">
            <a:spAutoFit/>
          </a:bodyPr>
          <a:lstStyle/>
          <a:p>
            <a:r>
              <a:rPr lang="en-IN" b="1" dirty="0">
                <a:solidFill>
                  <a:srgbClr val="C00000"/>
                </a:solidFill>
              </a:rPr>
              <a:t>0</a:t>
            </a:r>
          </a:p>
        </p:txBody>
      </p:sp>
      <p:sp>
        <p:nvSpPr>
          <p:cNvPr id="39" name="TextBox 38"/>
          <p:cNvSpPr txBox="1"/>
          <p:nvPr/>
        </p:nvSpPr>
        <p:spPr>
          <a:xfrm>
            <a:off x="2590800" y="4114800"/>
            <a:ext cx="304800" cy="369332"/>
          </a:xfrm>
          <a:prstGeom prst="rect">
            <a:avLst/>
          </a:prstGeom>
          <a:noFill/>
        </p:spPr>
        <p:txBody>
          <a:bodyPr wrap="square" rtlCol="0">
            <a:spAutoFit/>
          </a:bodyPr>
          <a:lstStyle/>
          <a:p>
            <a:r>
              <a:rPr lang="en-IN" b="1" dirty="0">
                <a:solidFill>
                  <a:srgbClr val="C00000"/>
                </a:solidFill>
              </a:rPr>
              <a:t>1</a:t>
            </a:r>
          </a:p>
        </p:txBody>
      </p:sp>
      <p:sp>
        <p:nvSpPr>
          <p:cNvPr id="40" name="TextBox 39"/>
          <p:cNvSpPr txBox="1"/>
          <p:nvPr/>
        </p:nvSpPr>
        <p:spPr>
          <a:xfrm>
            <a:off x="3886200" y="4114800"/>
            <a:ext cx="304800" cy="369332"/>
          </a:xfrm>
          <a:prstGeom prst="rect">
            <a:avLst/>
          </a:prstGeom>
          <a:noFill/>
        </p:spPr>
        <p:txBody>
          <a:bodyPr wrap="square" rtlCol="0">
            <a:spAutoFit/>
          </a:bodyPr>
          <a:lstStyle/>
          <a:p>
            <a:r>
              <a:rPr lang="en-IN" b="1" dirty="0">
                <a:solidFill>
                  <a:srgbClr val="C00000"/>
                </a:solidFill>
              </a:rPr>
              <a:t>2</a:t>
            </a:r>
          </a:p>
        </p:txBody>
      </p:sp>
      <p:sp>
        <p:nvSpPr>
          <p:cNvPr id="41" name="TextBox 40"/>
          <p:cNvSpPr txBox="1"/>
          <p:nvPr/>
        </p:nvSpPr>
        <p:spPr>
          <a:xfrm>
            <a:off x="4953000" y="4114800"/>
            <a:ext cx="304800" cy="369332"/>
          </a:xfrm>
          <a:prstGeom prst="rect">
            <a:avLst/>
          </a:prstGeom>
          <a:noFill/>
        </p:spPr>
        <p:txBody>
          <a:bodyPr wrap="square" rtlCol="0">
            <a:spAutoFit/>
          </a:bodyPr>
          <a:lstStyle/>
          <a:p>
            <a:r>
              <a:rPr lang="en-IN" b="1" dirty="0">
                <a:solidFill>
                  <a:srgbClr val="C00000"/>
                </a:solidFill>
              </a:rPr>
              <a:t>3</a:t>
            </a:r>
          </a:p>
        </p:txBody>
      </p:sp>
      <p:sp>
        <p:nvSpPr>
          <p:cNvPr id="42" name="TextBox 41"/>
          <p:cNvSpPr txBox="1"/>
          <p:nvPr/>
        </p:nvSpPr>
        <p:spPr>
          <a:xfrm>
            <a:off x="6172200" y="4114800"/>
            <a:ext cx="304800" cy="369332"/>
          </a:xfrm>
          <a:prstGeom prst="rect">
            <a:avLst/>
          </a:prstGeom>
          <a:noFill/>
        </p:spPr>
        <p:txBody>
          <a:bodyPr wrap="square" rtlCol="0">
            <a:spAutoFit/>
          </a:bodyPr>
          <a:lstStyle/>
          <a:p>
            <a:r>
              <a:rPr lang="en-IN" b="1" dirty="0">
                <a:solidFill>
                  <a:srgbClr val="C00000"/>
                </a:solidFill>
              </a:rPr>
              <a:t>4</a:t>
            </a:r>
          </a:p>
        </p:txBody>
      </p:sp>
      <p:sp>
        <p:nvSpPr>
          <p:cNvPr id="43" name="TextBox 42"/>
          <p:cNvSpPr txBox="1"/>
          <p:nvPr/>
        </p:nvSpPr>
        <p:spPr>
          <a:xfrm>
            <a:off x="228600" y="4114800"/>
            <a:ext cx="762000" cy="461665"/>
          </a:xfrm>
          <a:prstGeom prst="rect">
            <a:avLst/>
          </a:prstGeom>
          <a:noFill/>
        </p:spPr>
        <p:txBody>
          <a:bodyPr wrap="square" rtlCol="0">
            <a:spAutoFit/>
          </a:bodyPr>
          <a:lstStyle/>
          <a:p>
            <a:r>
              <a:rPr lang="en-IN" sz="1200" b="1" dirty="0"/>
              <a:t>index / subscript</a:t>
            </a:r>
          </a:p>
        </p:txBody>
      </p:sp>
      <p:sp>
        <p:nvSpPr>
          <p:cNvPr id="44" name="TextBox 43"/>
          <p:cNvSpPr txBox="1"/>
          <p:nvPr/>
        </p:nvSpPr>
        <p:spPr>
          <a:xfrm>
            <a:off x="0" y="3429001"/>
            <a:ext cx="1143000" cy="276999"/>
          </a:xfrm>
          <a:prstGeom prst="rect">
            <a:avLst/>
          </a:prstGeom>
          <a:noFill/>
        </p:spPr>
        <p:txBody>
          <a:bodyPr wrap="square" rtlCol="0">
            <a:spAutoFit/>
          </a:bodyPr>
          <a:lstStyle/>
          <a:p>
            <a:r>
              <a:rPr lang="en-IN" sz="1200" b="1" dirty="0"/>
              <a:t>Array  element</a:t>
            </a:r>
          </a:p>
        </p:txBody>
      </p:sp>
      <p:sp>
        <p:nvSpPr>
          <p:cNvPr id="45" name="TextBox 44"/>
          <p:cNvSpPr txBox="1"/>
          <p:nvPr/>
        </p:nvSpPr>
        <p:spPr>
          <a:xfrm>
            <a:off x="1447800" y="6019800"/>
            <a:ext cx="4648200" cy="646331"/>
          </a:xfrm>
          <a:prstGeom prst="rect">
            <a:avLst/>
          </a:prstGeom>
          <a:solidFill>
            <a:schemeClr val="bg1">
              <a:lumMod val="85000"/>
            </a:schemeClr>
          </a:solidFill>
        </p:spPr>
        <p:txBody>
          <a:bodyPr wrap="square" rtlCol="0">
            <a:spAutoFit/>
          </a:bodyPr>
          <a:lstStyle/>
          <a:p>
            <a:r>
              <a:rPr lang="en-IN" b="1" dirty="0">
                <a:solidFill>
                  <a:srgbClr val="C00000"/>
                </a:solidFill>
              </a:rPr>
              <a:t>The third element of the array mark is mark[2].</a:t>
            </a:r>
          </a:p>
          <a:p>
            <a:r>
              <a:rPr lang="en-IN" b="1" dirty="0">
                <a:solidFill>
                  <a:srgbClr val="C00000"/>
                </a:solidFill>
              </a:rPr>
              <a:t>The array index or subscript start from 0 not 1.</a:t>
            </a:r>
          </a:p>
        </p:txBody>
      </p:sp>
      <p:sp>
        <p:nvSpPr>
          <p:cNvPr id="32" name="Title 31"/>
          <p:cNvSpPr>
            <a:spLocks noGrp="1"/>
          </p:cNvSpPr>
          <p:nvPr>
            <p:ph type="title"/>
          </p:nvPr>
        </p:nvSpPr>
        <p:spPr>
          <a:xfrm>
            <a:off x="457200" y="0"/>
            <a:ext cx="8229600" cy="4572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r>
              <a:rPr lang="en-IN" sz="4000" b="1" dirty="0">
                <a:solidFill>
                  <a:srgbClr val="FF0000"/>
                </a:solidFill>
              </a:rPr>
              <a:t>ARRAYS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endParaRPr lang="en-IN" dirty="0"/>
          </a:p>
        </p:txBody>
      </p:sp>
      <p:sp>
        <p:nvSpPr>
          <p:cNvPr id="3" name="Content Placeholder 2"/>
          <p:cNvSpPr>
            <a:spLocks noGrp="1"/>
          </p:cNvSpPr>
          <p:nvPr>
            <p:ph idx="1"/>
          </p:nvPr>
        </p:nvSpPr>
        <p:spPr>
          <a:xfrm>
            <a:off x="457200" y="1143000"/>
            <a:ext cx="8458200" cy="5562600"/>
          </a:xfrm>
        </p:spPr>
        <p:txBody>
          <a:bodyPr>
            <a:normAutofit/>
          </a:bodyPr>
          <a:lstStyle/>
          <a:p>
            <a:r>
              <a:rPr lang="en-IN" sz="2400" dirty="0"/>
              <a:t>To access a particular array element </a:t>
            </a:r>
            <a:r>
              <a:rPr lang="en-US" sz="2400" dirty="0"/>
              <a:t>by specifying the </a:t>
            </a:r>
            <a:r>
              <a:rPr lang="en-IN" sz="2400" b="1" dirty="0">
                <a:solidFill>
                  <a:srgbClr val="FF0000"/>
                </a:solidFill>
              </a:rPr>
              <a:t>index</a:t>
            </a:r>
            <a:r>
              <a:rPr lang="en-US" sz="2400" dirty="0"/>
              <a:t> of the desired element within </a:t>
            </a:r>
            <a:r>
              <a:rPr lang="en-US" sz="2400" b="1" dirty="0">
                <a:solidFill>
                  <a:srgbClr val="C00000"/>
                </a:solidFill>
              </a:rPr>
              <a:t>square [ ] brackets</a:t>
            </a:r>
            <a:r>
              <a:rPr lang="en-US" sz="2400" dirty="0"/>
              <a:t> after </a:t>
            </a:r>
            <a:r>
              <a:rPr lang="en-US" sz="2400" b="1" dirty="0">
                <a:solidFill>
                  <a:srgbClr val="C00000"/>
                </a:solidFill>
              </a:rPr>
              <a:t>the array name</a:t>
            </a:r>
            <a:r>
              <a:rPr lang="en-US" sz="2400" dirty="0"/>
              <a:t>. </a:t>
            </a:r>
            <a:endParaRPr lang="en-IN" sz="2400" dirty="0"/>
          </a:p>
          <a:p>
            <a:endParaRPr lang="en-IN" dirty="0"/>
          </a:p>
          <a:p>
            <a:r>
              <a:rPr lang="en-IN" sz="2000" dirty="0"/>
              <a:t>Like every variable the array can be initialized</a:t>
            </a:r>
          </a:p>
          <a:p>
            <a:pPr lvl="1"/>
            <a:r>
              <a:rPr lang="en-IN" sz="2000" dirty="0"/>
              <a:t>By the programmer(compile time)  </a:t>
            </a:r>
          </a:p>
          <a:p>
            <a:pPr lvl="2"/>
            <a:r>
              <a:rPr lang="en-US" sz="2000" dirty="0"/>
              <a:t>                                                                   //</a:t>
            </a:r>
            <a:r>
              <a:rPr lang="en-US" sz="1200" b="1" dirty="0"/>
              <a:t>Here all the elements of the array is initialized</a:t>
            </a:r>
          </a:p>
          <a:p>
            <a:pPr lvl="2"/>
            <a:endParaRPr lang="en-US" sz="1200" dirty="0"/>
          </a:p>
          <a:p>
            <a:pPr lvl="2"/>
            <a:r>
              <a:rPr lang="en-US" sz="1200" dirty="0"/>
              <a:t>                                                                                        //This array is taken as size six by the compiler</a:t>
            </a:r>
            <a:endParaRPr lang="en-IN" sz="1200" dirty="0"/>
          </a:p>
          <a:p>
            <a:pPr lvl="2"/>
            <a:endParaRPr lang="en-US" sz="1200" b="1" dirty="0"/>
          </a:p>
          <a:p>
            <a:pPr lvl="2"/>
            <a:endParaRPr lang="en-US" sz="1200" b="1" dirty="0"/>
          </a:p>
          <a:p>
            <a:pPr lvl="2"/>
            <a:r>
              <a:rPr lang="en-IN" sz="1200" b="1" dirty="0"/>
              <a:t>                                                                                      </a:t>
            </a:r>
            <a:r>
              <a:rPr lang="en-US" sz="1200" dirty="0"/>
              <a:t>// The remaining three elements will be 0s.</a:t>
            </a:r>
            <a:endParaRPr lang="en-IN" sz="1200" dirty="0"/>
          </a:p>
          <a:p>
            <a:pPr lvl="1"/>
            <a:r>
              <a:rPr lang="en-IN" sz="2000" dirty="0"/>
              <a:t>By the user(Run time)</a:t>
            </a:r>
          </a:p>
          <a:p>
            <a:pPr>
              <a:buNone/>
            </a:pPr>
            <a:endParaRPr lang="en-IN" dirty="0"/>
          </a:p>
        </p:txBody>
      </p:sp>
      <p:sp>
        <p:nvSpPr>
          <p:cNvPr id="6" name="TextBox 5"/>
          <p:cNvSpPr txBox="1"/>
          <p:nvPr/>
        </p:nvSpPr>
        <p:spPr>
          <a:xfrm>
            <a:off x="762000" y="2438400"/>
            <a:ext cx="4191000" cy="369332"/>
          </a:xfrm>
          <a:prstGeom prst="rect">
            <a:avLst/>
          </a:prstGeom>
          <a:solidFill>
            <a:schemeClr val="bg1">
              <a:lumMod val="85000"/>
            </a:schemeClr>
          </a:solidFill>
        </p:spPr>
        <p:txBody>
          <a:bodyPr wrap="square" rtlCol="0">
            <a:spAutoFit/>
          </a:bodyPr>
          <a:lstStyle/>
          <a:p>
            <a:r>
              <a:rPr lang="en-IN" b="1" dirty="0">
                <a:solidFill>
                  <a:srgbClr val="C00000"/>
                </a:solidFill>
              </a:rPr>
              <a:t>Index of the first element of the array is 0.</a:t>
            </a:r>
          </a:p>
        </p:txBody>
      </p:sp>
      <p:sp>
        <p:nvSpPr>
          <p:cNvPr id="7" name="TextBox 6"/>
          <p:cNvSpPr txBox="1"/>
          <p:nvPr/>
        </p:nvSpPr>
        <p:spPr>
          <a:xfrm>
            <a:off x="5791200" y="2209800"/>
            <a:ext cx="2895600" cy="923330"/>
          </a:xfrm>
          <a:prstGeom prst="rect">
            <a:avLst/>
          </a:prstGeom>
          <a:solidFill>
            <a:schemeClr val="bg1">
              <a:lumMod val="85000"/>
            </a:schemeClr>
          </a:solidFill>
        </p:spPr>
        <p:txBody>
          <a:bodyPr wrap="square" rtlCol="0">
            <a:spAutoFit/>
          </a:bodyPr>
          <a:lstStyle/>
          <a:p>
            <a:r>
              <a:rPr lang="en-IN" b="1" dirty="0"/>
              <a:t>If n is the size of the array</a:t>
            </a:r>
          </a:p>
          <a:p>
            <a:r>
              <a:rPr lang="en-IN" b="1" dirty="0">
                <a:solidFill>
                  <a:srgbClr val="C00000"/>
                </a:solidFill>
              </a:rPr>
              <a:t>Lower index: 0</a:t>
            </a:r>
          </a:p>
          <a:p>
            <a:r>
              <a:rPr lang="en-IN" b="1" dirty="0">
                <a:solidFill>
                  <a:srgbClr val="C00000"/>
                </a:solidFill>
              </a:rPr>
              <a:t>Upper index: n-1</a:t>
            </a:r>
          </a:p>
        </p:txBody>
      </p:sp>
      <p:sp>
        <p:nvSpPr>
          <p:cNvPr id="8" name="TextBox 7"/>
          <p:cNvSpPr txBox="1"/>
          <p:nvPr/>
        </p:nvSpPr>
        <p:spPr>
          <a:xfrm>
            <a:off x="1676400" y="3657600"/>
            <a:ext cx="3200400" cy="369332"/>
          </a:xfrm>
          <a:prstGeom prst="rect">
            <a:avLst/>
          </a:prstGeom>
          <a:solidFill>
            <a:schemeClr val="bg1">
              <a:lumMod val="85000"/>
            </a:schemeClr>
          </a:solidFill>
        </p:spPr>
        <p:txBody>
          <a:bodyPr wrap="square" rtlCol="0">
            <a:spAutoFit/>
          </a:bodyPr>
          <a:lstStyle/>
          <a:p>
            <a:r>
              <a:rPr lang="en-US" dirty="0" err="1"/>
              <a:t>int</a:t>
            </a:r>
            <a:r>
              <a:rPr lang="en-US" dirty="0"/>
              <a:t> mark[5] = {1,2,3,4,5};</a:t>
            </a:r>
            <a:endParaRPr lang="en-IN" dirty="0"/>
          </a:p>
        </p:txBody>
      </p:sp>
      <p:sp>
        <p:nvSpPr>
          <p:cNvPr id="9" name="TextBox 8"/>
          <p:cNvSpPr txBox="1"/>
          <p:nvPr/>
        </p:nvSpPr>
        <p:spPr>
          <a:xfrm>
            <a:off x="1676400" y="4191000"/>
            <a:ext cx="2971800" cy="369332"/>
          </a:xfrm>
          <a:prstGeom prst="rect">
            <a:avLst/>
          </a:prstGeom>
          <a:solidFill>
            <a:schemeClr val="bg1">
              <a:lumMod val="85000"/>
            </a:schemeClr>
          </a:solidFill>
        </p:spPr>
        <p:txBody>
          <a:bodyPr wrap="square" rtlCol="0">
            <a:spAutoFit/>
          </a:bodyPr>
          <a:lstStyle/>
          <a:p>
            <a:r>
              <a:rPr lang="en-US" dirty="0"/>
              <a:t>int </a:t>
            </a:r>
            <a:r>
              <a:rPr lang="en-US" b="1" dirty="0">
                <a:solidFill>
                  <a:srgbClr val="C00000"/>
                </a:solidFill>
              </a:rPr>
              <a:t>b[] ={1, 2, 3 ,20,10,5};</a:t>
            </a:r>
            <a:endParaRPr lang="en-IN" b="1" dirty="0">
              <a:solidFill>
                <a:srgbClr val="C00000"/>
              </a:solidFill>
            </a:endParaRPr>
          </a:p>
        </p:txBody>
      </p:sp>
      <p:sp>
        <p:nvSpPr>
          <p:cNvPr id="10" name="TextBox 9"/>
          <p:cNvSpPr txBox="1"/>
          <p:nvPr/>
        </p:nvSpPr>
        <p:spPr>
          <a:xfrm>
            <a:off x="1676400" y="4724400"/>
            <a:ext cx="1905000" cy="369332"/>
          </a:xfrm>
          <a:prstGeom prst="rect">
            <a:avLst/>
          </a:prstGeom>
          <a:solidFill>
            <a:schemeClr val="bg1">
              <a:lumMod val="85000"/>
            </a:schemeClr>
          </a:solidFill>
        </p:spPr>
        <p:txBody>
          <a:bodyPr wrap="square" rtlCol="0">
            <a:spAutoFit/>
          </a:bodyPr>
          <a:lstStyle/>
          <a:p>
            <a:r>
              <a:rPr lang="en-US" dirty="0" err="1"/>
              <a:t>int</a:t>
            </a:r>
            <a:r>
              <a:rPr lang="en-US" dirty="0"/>
              <a:t> c[5] ={10,20,8}</a:t>
            </a:r>
            <a:endParaRPr lang="en-IN" b="1" dirty="0">
              <a:solidFill>
                <a:srgbClr val="C00000"/>
              </a:solidFill>
            </a:endParaRPr>
          </a:p>
        </p:txBody>
      </p:sp>
      <p:sp>
        <p:nvSpPr>
          <p:cNvPr id="12" name="TextBox 11"/>
          <p:cNvSpPr txBox="1"/>
          <p:nvPr/>
        </p:nvSpPr>
        <p:spPr>
          <a:xfrm>
            <a:off x="1447800" y="5791200"/>
            <a:ext cx="990600" cy="400110"/>
          </a:xfrm>
          <a:prstGeom prst="rect">
            <a:avLst/>
          </a:prstGeom>
          <a:solidFill>
            <a:schemeClr val="bg1">
              <a:lumMod val="85000"/>
            </a:schemeClr>
          </a:solidFill>
        </p:spPr>
        <p:txBody>
          <a:bodyPr wrap="square" rtlCol="0">
            <a:spAutoFit/>
          </a:bodyPr>
          <a:lstStyle/>
          <a:p>
            <a:r>
              <a:rPr lang="en-IN" sz="2000" b="1" dirty="0" err="1">
                <a:solidFill>
                  <a:srgbClr val="FF0000"/>
                </a:solidFill>
              </a:rPr>
              <a:t>int</a:t>
            </a:r>
            <a:r>
              <a:rPr lang="en-IN" sz="2000" b="1" dirty="0">
                <a:solidFill>
                  <a:srgbClr val="FF0000"/>
                </a:solidFill>
              </a:rPr>
              <a:t> b[]; </a:t>
            </a:r>
          </a:p>
        </p:txBody>
      </p:sp>
      <p:cxnSp>
        <p:nvCxnSpPr>
          <p:cNvPr id="14" name="Straight Connector 13"/>
          <p:cNvCxnSpPr>
            <a:stCxn id="12" idx="1"/>
          </p:cNvCxnSpPr>
          <p:nvPr/>
        </p:nvCxnSpPr>
        <p:spPr>
          <a:xfrm rot="10800000" flipH="1" flipV="1">
            <a:off x="1447800" y="5991254"/>
            <a:ext cx="685800" cy="28545"/>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304800" y="5791200"/>
            <a:ext cx="914400" cy="369332"/>
          </a:xfrm>
          <a:prstGeom prst="rect">
            <a:avLst/>
          </a:prstGeom>
          <a:noFill/>
        </p:spPr>
        <p:txBody>
          <a:bodyPr wrap="square" rtlCol="0">
            <a:spAutoFit/>
          </a:bodyPr>
          <a:lstStyle/>
          <a:p>
            <a:r>
              <a:rPr lang="en-IN" dirty="0">
                <a:solidFill>
                  <a:srgbClr val="C00000"/>
                </a:solidFill>
              </a:rPr>
              <a:t>Note:</a:t>
            </a:r>
          </a:p>
        </p:txBody>
      </p:sp>
      <p:sp>
        <p:nvSpPr>
          <p:cNvPr id="13" name="Rectangle 12"/>
          <p:cNvSpPr/>
          <p:nvPr/>
        </p:nvSpPr>
        <p:spPr>
          <a:xfrm>
            <a:off x="3429000" y="5638800"/>
            <a:ext cx="2743200" cy="7620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solidFill>
                  <a:schemeClr val="tx1"/>
                </a:solidFill>
              </a:rPr>
              <a:t>int</a:t>
            </a:r>
            <a:r>
              <a:rPr lang="en-IN" dirty="0">
                <a:solidFill>
                  <a:schemeClr val="tx1"/>
                </a:solidFill>
              </a:rPr>
              <a:t> b[5];</a:t>
            </a:r>
          </a:p>
          <a:p>
            <a:pPr algn="ctr"/>
            <a:r>
              <a:rPr lang="en-IN" b="1" dirty="0">
                <a:solidFill>
                  <a:srgbClr val="FF0000"/>
                </a:solidFill>
              </a:rPr>
              <a:t>b = { 10, 20, 30 40, 50};</a:t>
            </a:r>
          </a:p>
          <a:p>
            <a:pPr algn="ctr"/>
            <a:endParaRPr lang="en-IN" dirty="0">
              <a:solidFill>
                <a:schemeClr val="tx1"/>
              </a:solidFill>
            </a:endParaRPr>
          </a:p>
        </p:txBody>
      </p:sp>
      <p:cxnSp>
        <p:nvCxnSpPr>
          <p:cNvPr id="17" name="Straight Connector 16"/>
          <p:cNvCxnSpPr/>
          <p:nvPr/>
        </p:nvCxnSpPr>
        <p:spPr>
          <a:xfrm>
            <a:off x="3657600" y="6019800"/>
            <a:ext cx="2286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1447800" y="304800"/>
            <a:ext cx="5486400" cy="76200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000" dirty="0">
                <a:solidFill>
                  <a:srgbClr val="FF0000"/>
                </a:solidFill>
              </a:rPr>
              <a:t>Accessing Array Element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914400" y="2209800"/>
          <a:ext cx="4876798" cy="318897"/>
        </p:xfrm>
        <a:graphic>
          <a:graphicData uri="http://schemas.openxmlformats.org/drawingml/2006/table">
            <a:tbl>
              <a:tblPr/>
              <a:tblGrid>
                <a:gridCol w="797861">
                  <a:extLst>
                    <a:ext uri="{9D8B030D-6E8A-4147-A177-3AD203B41FA5}">
                      <a16:colId xmlns:a16="http://schemas.microsoft.com/office/drawing/2014/main" val="20000"/>
                    </a:ext>
                  </a:extLst>
                </a:gridCol>
                <a:gridCol w="728801">
                  <a:extLst>
                    <a:ext uri="{9D8B030D-6E8A-4147-A177-3AD203B41FA5}">
                      <a16:colId xmlns:a16="http://schemas.microsoft.com/office/drawing/2014/main" val="20001"/>
                    </a:ext>
                  </a:extLst>
                </a:gridCol>
                <a:gridCol w="837534">
                  <a:extLst>
                    <a:ext uri="{9D8B030D-6E8A-4147-A177-3AD203B41FA5}">
                      <a16:colId xmlns:a16="http://schemas.microsoft.com/office/drawing/2014/main" val="20002"/>
                    </a:ext>
                  </a:extLst>
                </a:gridCol>
                <a:gridCol w="837534">
                  <a:extLst>
                    <a:ext uri="{9D8B030D-6E8A-4147-A177-3AD203B41FA5}">
                      <a16:colId xmlns:a16="http://schemas.microsoft.com/office/drawing/2014/main" val="20003"/>
                    </a:ext>
                  </a:extLst>
                </a:gridCol>
                <a:gridCol w="837534">
                  <a:extLst>
                    <a:ext uri="{9D8B030D-6E8A-4147-A177-3AD203B41FA5}">
                      <a16:colId xmlns:a16="http://schemas.microsoft.com/office/drawing/2014/main" val="20004"/>
                    </a:ext>
                  </a:extLst>
                </a:gridCol>
                <a:gridCol w="837534">
                  <a:extLst>
                    <a:ext uri="{9D8B030D-6E8A-4147-A177-3AD203B41FA5}">
                      <a16:colId xmlns:a16="http://schemas.microsoft.com/office/drawing/2014/main" val="20005"/>
                    </a:ext>
                  </a:extLst>
                </a:gridCol>
              </a:tblGrid>
              <a:tr h="0">
                <a:tc>
                  <a:txBody>
                    <a:bodyPr/>
                    <a:lstStyle/>
                    <a:p>
                      <a:pPr marL="457200" indent="270510" algn="l">
                        <a:lnSpc>
                          <a:spcPct val="107000"/>
                        </a:lnSpc>
                        <a:spcAft>
                          <a:spcPts val="0"/>
                        </a:spcAft>
                      </a:pPr>
                      <a:r>
                        <a:rPr lang="en-US" sz="1000" dirty="0">
                          <a:latin typeface="Calibri"/>
                          <a:ea typeface="Calibri"/>
                          <a:cs typeface="Times New Roman"/>
                        </a:rPr>
                        <a:t>110</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indent="232410" algn="l">
                        <a:lnSpc>
                          <a:spcPct val="107000"/>
                        </a:lnSpc>
                        <a:spcAft>
                          <a:spcPts val="0"/>
                        </a:spcAft>
                      </a:pPr>
                      <a:r>
                        <a:rPr lang="en-US" sz="1000" dirty="0">
                          <a:latin typeface="Calibri"/>
                          <a:ea typeface="Calibri"/>
                          <a:cs typeface="Times New Roman"/>
                        </a:rPr>
                        <a:t>220</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indent="322580" algn="l">
                        <a:lnSpc>
                          <a:spcPct val="107000"/>
                        </a:lnSpc>
                        <a:spcAft>
                          <a:spcPts val="0"/>
                        </a:spcAft>
                      </a:pPr>
                      <a:r>
                        <a:rPr lang="en-US" sz="1000" dirty="0">
                          <a:latin typeface="Calibri"/>
                          <a:ea typeface="Calibri"/>
                          <a:cs typeface="Times New Roman"/>
                        </a:rPr>
                        <a:t>330</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indent="322580" algn="l">
                        <a:lnSpc>
                          <a:spcPct val="107000"/>
                        </a:lnSpc>
                        <a:spcAft>
                          <a:spcPts val="0"/>
                        </a:spcAft>
                      </a:pPr>
                      <a:r>
                        <a:rPr lang="en-US" sz="1000" dirty="0">
                          <a:latin typeface="Calibri"/>
                          <a:ea typeface="Calibri"/>
                          <a:cs typeface="Times New Roman"/>
                        </a:rPr>
                        <a:t>440</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indent="322580" algn="l">
                        <a:lnSpc>
                          <a:spcPct val="107000"/>
                        </a:lnSpc>
                        <a:spcAft>
                          <a:spcPts val="0"/>
                        </a:spcAft>
                      </a:pPr>
                      <a:r>
                        <a:rPr lang="en-US" sz="1000" dirty="0">
                          <a:latin typeface="Calibri"/>
                          <a:ea typeface="Calibri"/>
                          <a:cs typeface="Times New Roman"/>
                        </a:rPr>
                        <a:t>550</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indent="322580" algn="l">
                        <a:lnSpc>
                          <a:spcPct val="107000"/>
                        </a:lnSpc>
                        <a:spcAft>
                          <a:spcPts val="0"/>
                        </a:spcAft>
                      </a:pPr>
                      <a:r>
                        <a:rPr lang="en-US" sz="1000" dirty="0">
                          <a:latin typeface="Calibri"/>
                          <a:ea typeface="Calibri"/>
                          <a:cs typeface="Times New Roman"/>
                        </a:rPr>
                        <a:t>660</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4" name="Title 3"/>
          <p:cNvSpPr>
            <a:spLocks noGrp="1"/>
          </p:cNvSpPr>
          <p:nvPr>
            <p:ph type="title"/>
          </p:nvPr>
        </p:nvSpPr>
        <p:spPr>
          <a:xfrm>
            <a:off x="457200" y="274638"/>
            <a:ext cx="8229600" cy="715962"/>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000" dirty="0">
                <a:solidFill>
                  <a:srgbClr val="FF0000"/>
                </a:solidFill>
              </a:rPr>
              <a:t>Significance of array name</a:t>
            </a:r>
          </a:p>
        </p:txBody>
      </p:sp>
      <p:sp>
        <p:nvSpPr>
          <p:cNvPr id="1026" name="Rectangle 2"/>
          <p:cNvSpPr>
            <a:spLocks noChangeArrowheads="1"/>
          </p:cNvSpPr>
          <p:nvPr/>
        </p:nvSpPr>
        <p:spPr bwMode="auto">
          <a:xfrm>
            <a:off x="228600" y="1371600"/>
            <a:ext cx="7010400" cy="64633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180975" algn="l" defTabSz="914400" rtl="0" eaLnBrk="1" fontAlgn="base" latinLnBrk="0" hangingPunct="1">
              <a:lnSpc>
                <a:spcPct val="100000"/>
              </a:lnSpc>
              <a:spcBef>
                <a:spcPct val="0"/>
              </a:spcBef>
              <a:spcAft>
                <a:spcPct val="0"/>
              </a:spcAft>
              <a:buClrTx/>
              <a:buSzTx/>
              <a:tabLst>
                <a:tab pos="457200" algn="l"/>
              </a:tabLst>
            </a:pPr>
            <a:r>
              <a:rPr kumimoji="0" lang="en-US" sz="280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int</a:t>
            </a:r>
            <a:r>
              <a:rPr kumimoji="0" lang="en-US" sz="280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a[6] ={10,20,30,40,50,60}</a:t>
            </a:r>
            <a:endParaRPr kumimoji="0" lang="en-US" sz="2800" i="0" u="none" strike="noStrike" cap="none" normalizeH="0" baseline="0" dirty="0">
              <a:ln>
                <a:noFill/>
              </a:ln>
              <a:solidFill>
                <a:schemeClr val="tx1"/>
              </a:solidFill>
              <a:effectLst/>
              <a:latin typeface="Arial" pitchFamily="34" charset="0"/>
              <a:cs typeface="Arial" pitchFamily="34" charset="0"/>
            </a:endParaRPr>
          </a:p>
          <a:p>
            <a:pPr marL="0" marR="0" lvl="0" indent="180975" algn="l" defTabSz="914400" rtl="0" eaLnBrk="0" fontAlgn="base" latinLnBrk="0" hangingPunct="0">
              <a:lnSpc>
                <a:spcPct val="100000"/>
              </a:lnSpc>
              <a:spcBef>
                <a:spcPct val="0"/>
              </a:spcBef>
              <a:spcAft>
                <a:spcPct val="0"/>
              </a:spcAft>
              <a:buClrTx/>
              <a:buSzTx/>
              <a:buFontTx/>
              <a:buNone/>
              <a:tabLst>
                <a:tab pos="457200" algn="l"/>
              </a:tabLst>
            </a:pPr>
            <a:r>
              <a:rPr kumimoji="0" lang="en-US" sz="800" b="0" i="0" u="none" strike="noStrike" cap="none" normalizeH="0" baseline="0" dirty="0">
                <a:ln>
                  <a:noFill/>
                </a:ln>
                <a:solidFill>
                  <a:schemeClr val="tx1"/>
                </a:solidFill>
                <a:effectLst/>
                <a:latin typeface="Arial" pitchFamily="34" charset="0"/>
                <a:ea typeface="Calibri"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9" name="Rectangle 8"/>
          <p:cNvSpPr/>
          <p:nvPr/>
        </p:nvSpPr>
        <p:spPr>
          <a:xfrm>
            <a:off x="762000" y="2667000"/>
            <a:ext cx="5638800" cy="228600"/>
          </a:xfrm>
          <a:prstGeom prst="rect">
            <a:avLst/>
          </a:prstGeom>
        </p:spPr>
        <p:txBody>
          <a:bodyPr wrap="square">
            <a:spAutoFit/>
          </a:bodyPr>
          <a:lstStyle/>
          <a:p>
            <a:r>
              <a:rPr lang="en-US" sz="900" b="1" dirty="0">
                <a:solidFill>
                  <a:srgbClr val="FF0000"/>
                </a:solidFill>
                <a:latin typeface="Arial" pitchFamily="34" charset="0"/>
                <a:ea typeface="Calibri" pitchFamily="34" charset="0"/>
                <a:cs typeface="Arial" pitchFamily="34" charset="0"/>
              </a:rPr>
              <a:t> 508                      510                     512                 514	                 516                 518	 </a:t>
            </a:r>
            <a:endParaRPr lang="en-IN" sz="900" b="1" dirty="0">
              <a:solidFill>
                <a:srgbClr val="FF0000"/>
              </a:solidFill>
            </a:endParaRPr>
          </a:p>
        </p:txBody>
      </p:sp>
      <p:sp>
        <p:nvSpPr>
          <p:cNvPr id="10" name="Rectangle 9"/>
          <p:cNvSpPr/>
          <p:nvPr/>
        </p:nvSpPr>
        <p:spPr>
          <a:xfrm>
            <a:off x="914400" y="1905000"/>
            <a:ext cx="5638800" cy="228600"/>
          </a:xfrm>
          <a:prstGeom prst="rect">
            <a:avLst/>
          </a:prstGeom>
        </p:spPr>
        <p:txBody>
          <a:bodyPr wrap="square">
            <a:spAutoFit/>
          </a:bodyPr>
          <a:lstStyle/>
          <a:p>
            <a:r>
              <a:rPr lang="en-US" sz="900" b="1" dirty="0">
                <a:solidFill>
                  <a:srgbClr val="FF0000"/>
                </a:solidFill>
                <a:latin typeface="Arial" pitchFamily="34" charset="0"/>
                <a:ea typeface="Calibri" pitchFamily="34" charset="0"/>
                <a:cs typeface="Arial" pitchFamily="34" charset="0"/>
              </a:rPr>
              <a:t>       </a:t>
            </a:r>
            <a:r>
              <a:rPr lang="en-US" sz="900" b="1" dirty="0">
                <a:solidFill>
                  <a:schemeClr val="accent2">
                    <a:lumMod val="75000"/>
                  </a:schemeClr>
                </a:solidFill>
                <a:latin typeface="Arial" pitchFamily="34" charset="0"/>
                <a:ea typeface="Calibri" pitchFamily="34" charset="0"/>
                <a:cs typeface="Arial" pitchFamily="34" charset="0"/>
              </a:rPr>
              <a:t>a[0]                  a[1]                a[2]                   a[3]                     a[4]                    a[5]	 </a:t>
            </a:r>
            <a:endParaRPr lang="en-IN" sz="900" b="1" dirty="0">
              <a:solidFill>
                <a:schemeClr val="accent2">
                  <a:lumMod val="75000"/>
                </a:schemeClr>
              </a:solidFill>
            </a:endParaRPr>
          </a:p>
        </p:txBody>
      </p:sp>
      <p:sp>
        <p:nvSpPr>
          <p:cNvPr id="11" name="TextBox 10"/>
          <p:cNvSpPr txBox="1"/>
          <p:nvPr/>
        </p:nvSpPr>
        <p:spPr>
          <a:xfrm>
            <a:off x="0" y="2209800"/>
            <a:ext cx="609600" cy="369332"/>
          </a:xfrm>
          <a:prstGeom prst="rect">
            <a:avLst/>
          </a:prstGeom>
          <a:solidFill>
            <a:schemeClr val="bg1">
              <a:lumMod val="95000"/>
            </a:schemeClr>
          </a:solidFill>
          <a:ln>
            <a:solidFill>
              <a:schemeClr val="accent1">
                <a:shade val="50000"/>
              </a:schemeClr>
            </a:solidFill>
          </a:ln>
        </p:spPr>
        <p:txBody>
          <a:bodyPr wrap="square" rtlCol="0">
            <a:spAutoFit/>
          </a:bodyPr>
          <a:lstStyle/>
          <a:p>
            <a:r>
              <a:rPr lang="en-IN" b="1" dirty="0">
                <a:solidFill>
                  <a:srgbClr val="C00000"/>
                </a:solidFill>
              </a:rPr>
              <a:t>508</a:t>
            </a:r>
          </a:p>
        </p:txBody>
      </p:sp>
      <p:sp>
        <p:nvSpPr>
          <p:cNvPr id="13" name="TextBox 12"/>
          <p:cNvSpPr txBox="1"/>
          <p:nvPr/>
        </p:nvSpPr>
        <p:spPr>
          <a:xfrm>
            <a:off x="0" y="1905000"/>
            <a:ext cx="457200" cy="369332"/>
          </a:xfrm>
          <a:prstGeom prst="rect">
            <a:avLst/>
          </a:prstGeom>
          <a:noFill/>
        </p:spPr>
        <p:txBody>
          <a:bodyPr wrap="square" rtlCol="0">
            <a:spAutoFit/>
          </a:bodyPr>
          <a:lstStyle/>
          <a:p>
            <a:r>
              <a:rPr lang="en-IN" dirty="0"/>
              <a:t>a</a:t>
            </a:r>
          </a:p>
        </p:txBody>
      </p:sp>
      <p:sp>
        <p:nvSpPr>
          <p:cNvPr id="14" name="TextBox 13"/>
          <p:cNvSpPr txBox="1"/>
          <p:nvPr/>
        </p:nvSpPr>
        <p:spPr>
          <a:xfrm>
            <a:off x="228600" y="3733800"/>
            <a:ext cx="8915400" cy="1908215"/>
          </a:xfrm>
          <a:prstGeom prst="rect">
            <a:avLst/>
          </a:prstGeom>
          <a:solidFill>
            <a:schemeClr val="bg1">
              <a:lumMod val="95000"/>
            </a:schemeClr>
          </a:solidFill>
        </p:spPr>
        <p:txBody>
          <a:bodyPr wrap="square" rtlCol="0">
            <a:spAutoFit/>
          </a:bodyPr>
          <a:lstStyle/>
          <a:p>
            <a:r>
              <a:rPr lang="en-US" sz="2000" dirty="0"/>
              <a:t>The above array stores six integers. The </a:t>
            </a:r>
            <a:r>
              <a:rPr lang="en-US" sz="2000" b="1" dirty="0"/>
              <a:t>base address</a:t>
            </a:r>
            <a:r>
              <a:rPr lang="en-US" sz="2000" dirty="0"/>
              <a:t> of the array is 508. The array name stores the base address of the array. The second cell of the array therefore has the memory location 510. The next 512 and so on.</a:t>
            </a:r>
            <a:endParaRPr lang="en-IN" sz="2000" dirty="0"/>
          </a:p>
          <a:p>
            <a:r>
              <a:rPr lang="en-US" sz="2000" dirty="0"/>
              <a:t>To access the value 10 we need to write a[0], to access the value 20 we need to write a[1] and so on. The last element can be accessed by writing a[5].</a:t>
            </a:r>
            <a:endParaRPr lang="en-IN" sz="2000" dirty="0"/>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IN" dirty="0"/>
              <a:t>Example</a:t>
            </a:r>
          </a:p>
        </p:txBody>
      </p:sp>
      <p:sp>
        <p:nvSpPr>
          <p:cNvPr id="3" name="Content Placeholder 2"/>
          <p:cNvSpPr>
            <a:spLocks noGrp="1"/>
          </p:cNvSpPr>
          <p:nvPr>
            <p:ph idx="1"/>
          </p:nvPr>
        </p:nvSpPr>
        <p:spPr>
          <a:xfrm>
            <a:off x="457200" y="990600"/>
            <a:ext cx="8229600" cy="5135563"/>
          </a:xfrm>
        </p:spPr>
        <p:txBody>
          <a:bodyPr/>
          <a:lstStyle/>
          <a:p>
            <a:r>
              <a:rPr lang="en-IN" dirty="0"/>
              <a:t>Write a program to take input the mark of 10 students and display the mark in proper format.</a:t>
            </a:r>
          </a:p>
        </p:txBody>
      </p:sp>
      <p:sp>
        <p:nvSpPr>
          <p:cNvPr id="4" name="TextBox 3"/>
          <p:cNvSpPr txBox="1"/>
          <p:nvPr/>
        </p:nvSpPr>
        <p:spPr>
          <a:xfrm>
            <a:off x="381000" y="2895600"/>
            <a:ext cx="8763000" cy="3293209"/>
          </a:xfrm>
          <a:prstGeom prst="rect">
            <a:avLst/>
          </a:prstGeom>
          <a:solidFill>
            <a:schemeClr val="bg1">
              <a:lumMod val="85000"/>
            </a:schemeClr>
          </a:solidFill>
        </p:spPr>
        <p:txBody>
          <a:bodyPr wrap="square" rtlCol="0">
            <a:spAutoFit/>
          </a:bodyPr>
          <a:lstStyle/>
          <a:p>
            <a:pPr marL="228600" indent="-228600"/>
            <a:r>
              <a:rPr lang="en-IN" sz="1600" dirty="0"/>
              <a:t>Enter the mark of a student 60</a:t>
            </a:r>
          </a:p>
          <a:p>
            <a:pPr marL="228600" indent="-228600"/>
            <a:r>
              <a:rPr lang="en-IN" sz="1600" dirty="0"/>
              <a:t>Enter the mark of a student 70</a:t>
            </a:r>
          </a:p>
          <a:p>
            <a:pPr marL="228600" indent="-228600"/>
            <a:r>
              <a:rPr lang="en-IN" sz="1600" dirty="0"/>
              <a:t>Enter the mark of a student 90</a:t>
            </a:r>
          </a:p>
          <a:p>
            <a:pPr marL="228600" indent="-228600"/>
            <a:r>
              <a:rPr lang="en-IN" sz="1600" dirty="0"/>
              <a:t>Enter the mark of a student 95</a:t>
            </a:r>
          </a:p>
          <a:p>
            <a:pPr marL="228600" indent="-228600"/>
            <a:r>
              <a:rPr lang="en-IN" sz="1600" dirty="0"/>
              <a:t>Enter the mark of a student 82</a:t>
            </a:r>
          </a:p>
          <a:p>
            <a:pPr marL="228600" indent="-228600"/>
            <a:r>
              <a:rPr lang="en-IN" sz="1600" dirty="0"/>
              <a:t>Enter the mark of a student 75</a:t>
            </a:r>
          </a:p>
          <a:p>
            <a:pPr marL="228600" indent="-228600"/>
            <a:r>
              <a:rPr lang="en-IN" sz="1600" dirty="0"/>
              <a:t>Enter the mark of a student 87</a:t>
            </a:r>
          </a:p>
          <a:p>
            <a:pPr marL="228600" indent="-228600"/>
            <a:r>
              <a:rPr lang="en-IN" sz="1600" dirty="0"/>
              <a:t>Enter the mark of a student 94</a:t>
            </a:r>
          </a:p>
          <a:p>
            <a:pPr marL="228600" indent="-228600"/>
            <a:r>
              <a:rPr lang="en-IN" sz="1600" dirty="0"/>
              <a:t>Enter the mark of a student 65</a:t>
            </a:r>
          </a:p>
          <a:p>
            <a:pPr marL="228600" indent="-228600"/>
            <a:r>
              <a:rPr lang="en-IN" sz="1600" dirty="0"/>
              <a:t>Enter the mark of a student 76</a:t>
            </a:r>
          </a:p>
          <a:p>
            <a:pPr marL="228600" indent="-228600"/>
            <a:r>
              <a:rPr lang="en-IN" sz="1600" dirty="0"/>
              <a:t>The mark secured by the students:</a:t>
            </a:r>
          </a:p>
          <a:p>
            <a:pPr marL="228600" indent="-228600"/>
            <a:r>
              <a:rPr lang="en-IN" sz="1600" dirty="0"/>
              <a:t>60		70	90	95	82	75	87	94	65	76 </a:t>
            </a:r>
          </a:p>
          <a:p>
            <a:pPr marL="228600" indent="-228600"/>
            <a:endParaRPr lang="en-IN" sz="1600" dirty="0"/>
          </a:p>
        </p:txBody>
      </p:sp>
      <p:sp>
        <p:nvSpPr>
          <p:cNvPr id="5" name="TextBox 4"/>
          <p:cNvSpPr txBox="1"/>
          <p:nvPr/>
        </p:nvSpPr>
        <p:spPr>
          <a:xfrm>
            <a:off x="609600" y="2514600"/>
            <a:ext cx="990600" cy="369332"/>
          </a:xfrm>
          <a:prstGeom prst="rect">
            <a:avLst/>
          </a:prstGeom>
          <a:noFill/>
        </p:spPr>
        <p:txBody>
          <a:bodyPr wrap="square" rtlCol="0">
            <a:spAutoFit/>
          </a:bodyPr>
          <a:lstStyle/>
          <a:p>
            <a:r>
              <a:rPr lang="en-IN" b="1" dirty="0"/>
              <a:t>output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endParaRPr lang="en-IN" dirty="0"/>
          </a:p>
        </p:txBody>
      </p:sp>
      <p:sp>
        <p:nvSpPr>
          <p:cNvPr id="3" name="Content Placeholder 2"/>
          <p:cNvSpPr>
            <a:spLocks noGrp="1"/>
          </p:cNvSpPr>
          <p:nvPr>
            <p:ph idx="1"/>
          </p:nvPr>
        </p:nvSpPr>
        <p:spPr>
          <a:xfrm>
            <a:off x="457200" y="914400"/>
            <a:ext cx="8229600" cy="5211763"/>
          </a:xfrm>
        </p:spPr>
        <p:txBody>
          <a:bodyPr>
            <a:normAutofit fontScale="70000" lnSpcReduction="20000"/>
          </a:bodyPr>
          <a:lstStyle/>
          <a:p>
            <a:pPr>
              <a:buNone/>
            </a:pPr>
            <a:r>
              <a:rPr lang="en-IN" dirty="0"/>
              <a:t>#include&lt;</a:t>
            </a:r>
            <a:r>
              <a:rPr lang="en-IN" dirty="0" err="1"/>
              <a:t>stdio.h</a:t>
            </a:r>
            <a:r>
              <a:rPr lang="en-IN" dirty="0"/>
              <a:t>&gt;</a:t>
            </a:r>
          </a:p>
          <a:p>
            <a:pPr>
              <a:buNone/>
            </a:pPr>
            <a:r>
              <a:rPr lang="en-IN" dirty="0"/>
              <a:t>main()</a:t>
            </a:r>
          </a:p>
          <a:p>
            <a:pPr>
              <a:buNone/>
            </a:pPr>
            <a:r>
              <a:rPr lang="en-IN" dirty="0"/>
              <a:t>{</a:t>
            </a:r>
          </a:p>
          <a:p>
            <a:pPr>
              <a:buNone/>
            </a:pPr>
            <a:r>
              <a:rPr lang="en-IN" dirty="0"/>
              <a:t>    	</a:t>
            </a:r>
            <a:r>
              <a:rPr lang="en-IN" dirty="0" err="1"/>
              <a:t>int</a:t>
            </a:r>
            <a:r>
              <a:rPr lang="en-IN" dirty="0"/>
              <a:t> mark[10],i;</a:t>
            </a:r>
          </a:p>
          <a:p>
            <a:pPr>
              <a:buNone/>
            </a:pPr>
            <a:r>
              <a:rPr lang="en-IN" dirty="0"/>
              <a:t>   	//input</a:t>
            </a:r>
          </a:p>
          <a:p>
            <a:pPr>
              <a:buNone/>
            </a:pPr>
            <a:r>
              <a:rPr lang="en-IN" dirty="0"/>
              <a:t>   	 for(i = 0; i&lt;10; i++)</a:t>
            </a:r>
          </a:p>
          <a:p>
            <a:pPr>
              <a:buNone/>
            </a:pPr>
            <a:r>
              <a:rPr lang="en-IN" dirty="0"/>
              <a:t>  	{</a:t>
            </a:r>
          </a:p>
          <a:p>
            <a:pPr>
              <a:buNone/>
            </a:pPr>
            <a:r>
              <a:rPr lang="en-IN" dirty="0"/>
              <a:t>        	</a:t>
            </a:r>
            <a:r>
              <a:rPr lang="en-IN" dirty="0" err="1"/>
              <a:t>printf</a:t>
            </a:r>
            <a:r>
              <a:rPr lang="en-IN" dirty="0"/>
              <a:t>("Enter the mark of a student");</a:t>
            </a:r>
          </a:p>
          <a:p>
            <a:pPr>
              <a:buNone/>
            </a:pPr>
            <a:r>
              <a:rPr lang="en-IN" dirty="0"/>
              <a:t>        	</a:t>
            </a:r>
            <a:r>
              <a:rPr lang="en-IN" dirty="0" err="1"/>
              <a:t>scanf</a:t>
            </a:r>
            <a:r>
              <a:rPr lang="en-IN" dirty="0"/>
              <a:t>("%</a:t>
            </a:r>
            <a:r>
              <a:rPr lang="en-IN" dirty="0" err="1"/>
              <a:t>d",&amp;mark</a:t>
            </a:r>
            <a:r>
              <a:rPr lang="en-IN" dirty="0"/>
              <a:t>[i]);</a:t>
            </a:r>
          </a:p>
          <a:p>
            <a:pPr>
              <a:buNone/>
            </a:pPr>
            <a:r>
              <a:rPr lang="en-IN" dirty="0"/>
              <a:t>  	  }</a:t>
            </a:r>
          </a:p>
          <a:p>
            <a:pPr>
              <a:buNone/>
            </a:pPr>
            <a:r>
              <a:rPr lang="en-IN" dirty="0"/>
              <a:t>   	 //output</a:t>
            </a:r>
          </a:p>
          <a:p>
            <a:pPr>
              <a:buNone/>
            </a:pPr>
            <a:r>
              <a:rPr lang="en-IN" dirty="0"/>
              <a:t>    	</a:t>
            </a:r>
            <a:r>
              <a:rPr lang="en-IN" dirty="0" err="1"/>
              <a:t>printf</a:t>
            </a:r>
            <a:r>
              <a:rPr lang="en-IN" dirty="0"/>
              <a:t>("The mark secured by the students:\n");</a:t>
            </a:r>
          </a:p>
          <a:p>
            <a:pPr>
              <a:buNone/>
            </a:pPr>
            <a:r>
              <a:rPr lang="en-IN" dirty="0"/>
              <a:t>    	for(i = 0; i&lt;10; i++)</a:t>
            </a:r>
          </a:p>
          <a:p>
            <a:pPr>
              <a:buNone/>
            </a:pPr>
            <a:r>
              <a:rPr lang="en-IN" dirty="0"/>
              <a:t>        	</a:t>
            </a:r>
            <a:r>
              <a:rPr lang="en-IN" dirty="0" err="1"/>
              <a:t>printf</a:t>
            </a:r>
            <a:r>
              <a:rPr lang="en-IN" dirty="0"/>
              <a:t>("%d\t", mark[i]);</a:t>
            </a:r>
          </a:p>
          <a:p>
            <a:pPr>
              <a:buNone/>
            </a:pPr>
            <a:r>
              <a:rPr lang="en-IN" dirty="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IN" dirty="0"/>
              <a:t>Example</a:t>
            </a:r>
          </a:p>
        </p:txBody>
      </p:sp>
      <p:sp>
        <p:nvSpPr>
          <p:cNvPr id="3" name="Content Placeholder 2"/>
          <p:cNvSpPr>
            <a:spLocks noGrp="1"/>
          </p:cNvSpPr>
          <p:nvPr>
            <p:ph idx="1"/>
          </p:nvPr>
        </p:nvSpPr>
        <p:spPr>
          <a:xfrm>
            <a:off x="228600" y="990600"/>
            <a:ext cx="8458200" cy="5135563"/>
          </a:xfrm>
        </p:spPr>
        <p:txBody>
          <a:bodyPr/>
          <a:lstStyle/>
          <a:p>
            <a:r>
              <a:rPr lang="en-IN" dirty="0"/>
              <a:t>Write a program to compute sum and average mark of a class taking the mark of students in a class as input.</a:t>
            </a:r>
          </a:p>
        </p:txBody>
      </p:sp>
      <p:sp>
        <p:nvSpPr>
          <p:cNvPr id="4" name="TextBox 3"/>
          <p:cNvSpPr txBox="1"/>
          <p:nvPr/>
        </p:nvSpPr>
        <p:spPr>
          <a:xfrm>
            <a:off x="228600" y="3429001"/>
            <a:ext cx="7162800" cy="2554545"/>
          </a:xfrm>
          <a:prstGeom prst="rect">
            <a:avLst/>
          </a:prstGeom>
          <a:solidFill>
            <a:schemeClr val="bg1">
              <a:lumMod val="85000"/>
            </a:schemeClr>
          </a:solidFill>
        </p:spPr>
        <p:txBody>
          <a:bodyPr wrap="square" rtlCol="0">
            <a:spAutoFit/>
          </a:bodyPr>
          <a:lstStyle/>
          <a:p>
            <a:pPr marL="228600" indent="-228600"/>
            <a:r>
              <a:rPr lang="en-IN" sz="1600" dirty="0"/>
              <a:t>Enter number of students in a class</a:t>
            </a:r>
          </a:p>
          <a:p>
            <a:pPr marL="228600" indent="-228600"/>
            <a:r>
              <a:rPr lang="en-IN" sz="1600" dirty="0"/>
              <a:t>5</a:t>
            </a:r>
          </a:p>
          <a:p>
            <a:pPr marL="228600" indent="-228600"/>
            <a:r>
              <a:rPr lang="en-IN" sz="1600" dirty="0"/>
              <a:t>Enter the mark of a student 60</a:t>
            </a:r>
          </a:p>
          <a:p>
            <a:pPr marL="228600" indent="-228600"/>
            <a:r>
              <a:rPr lang="en-IN" sz="1600" dirty="0"/>
              <a:t>Enter the mark of a student 70</a:t>
            </a:r>
          </a:p>
          <a:p>
            <a:pPr marL="228600" indent="-228600"/>
            <a:r>
              <a:rPr lang="en-IN" sz="1600" dirty="0"/>
              <a:t>Enter the mark of a student 90</a:t>
            </a:r>
          </a:p>
          <a:p>
            <a:pPr marL="228600" indent="-228600"/>
            <a:r>
              <a:rPr lang="en-IN" sz="1600" dirty="0"/>
              <a:t>Enter the mark of a student 95</a:t>
            </a:r>
          </a:p>
          <a:p>
            <a:pPr marL="228600" indent="-228600"/>
            <a:r>
              <a:rPr lang="en-IN" sz="1600" dirty="0"/>
              <a:t>Enter the mark of a student 82</a:t>
            </a:r>
          </a:p>
          <a:p>
            <a:pPr marL="228600" indent="-228600"/>
            <a:r>
              <a:rPr lang="en-IN" sz="1600" dirty="0"/>
              <a:t>The mark secured by the students: 60	70	90	95	82</a:t>
            </a:r>
          </a:p>
          <a:p>
            <a:pPr marL="228600" indent="-228600"/>
            <a:r>
              <a:rPr lang="en-IN" sz="1600" dirty="0"/>
              <a:t>Total Mark  = 397</a:t>
            </a:r>
          </a:p>
          <a:p>
            <a:pPr marL="228600" indent="-228600"/>
            <a:r>
              <a:rPr lang="en-IN" sz="1600" dirty="0"/>
              <a:t>AVERAGE Mark = 79.400000</a:t>
            </a:r>
          </a:p>
        </p:txBody>
      </p:sp>
      <p:sp>
        <p:nvSpPr>
          <p:cNvPr id="5" name="TextBox 4"/>
          <p:cNvSpPr txBox="1"/>
          <p:nvPr/>
        </p:nvSpPr>
        <p:spPr>
          <a:xfrm>
            <a:off x="990600" y="2895600"/>
            <a:ext cx="990600" cy="369332"/>
          </a:xfrm>
          <a:prstGeom prst="rect">
            <a:avLst/>
          </a:prstGeom>
          <a:noFill/>
        </p:spPr>
        <p:txBody>
          <a:bodyPr wrap="square" rtlCol="0">
            <a:spAutoFit/>
          </a:bodyPr>
          <a:lstStyle/>
          <a:p>
            <a:r>
              <a:rPr lang="en-IN" b="1" dirty="0"/>
              <a:t>output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6362"/>
          </a:xfrm>
        </p:spPr>
        <p:txBody>
          <a:bodyPr>
            <a:normAutofit fontScale="90000"/>
          </a:bodyPr>
          <a:lstStyle/>
          <a:p>
            <a:endParaRPr lang="en-IN"/>
          </a:p>
        </p:txBody>
      </p:sp>
      <p:sp>
        <p:nvSpPr>
          <p:cNvPr id="3" name="Content Placeholder 2"/>
          <p:cNvSpPr>
            <a:spLocks noGrp="1"/>
          </p:cNvSpPr>
          <p:nvPr>
            <p:ph idx="1"/>
          </p:nvPr>
        </p:nvSpPr>
        <p:spPr>
          <a:xfrm>
            <a:off x="457200" y="457200"/>
            <a:ext cx="8229600" cy="6400800"/>
          </a:xfrm>
        </p:spPr>
        <p:txBody>
          <a:bodyPr>
            <a:noAutofit/>
          </a:bodyPr>
          <a:lstStyle/>
          <a:p>
            <a:pPr>
              <a:buNone/>
            </a:pPr>
            <a:r>
              <a:rPr lang="en-IN" sz="1400" dirty="0"/>
              <a:t>#include&lt;</a:t>
            </a:r>
            <a:r>
              <a:rPr lang="en-IN" sz="1400" dirty="0" err="1"/>
              <a:t>stdio.h</a:t>
            </a:r>
            <a:r>
              <a:rPr lang="en-IN" sz="1400" dirty="0"/>
              <a:t>&gt;</a:t>
            </a:r>
          </a:p>
          <a:p>
            <a:pPr>
              <a:buNone/>
            </a:pPr>
            <a:r>
              <a:rPr lang="en-IN" sz="1400" dirty="0"/>
              <a:t>main()</a:t>
            </a:r>
          </a:p>
          <a:p>
            <a:pPr>
              <a:buNone/>
            </a:pPr>
            <a:r>
              <a:rPr lang="en-IN" sz="1400" dirty="0"/>
              <a:t>{</a:t>
            </a:r>
          </a:p>
          <a:p>
            <a:pPr>
              <a:buNone/>
            </a:pPr>
            <a:r>
              <a:rPr lang="en-IN" sz="1400" dirty="0"/>
              <a:t>	</a:t>
            </a:r>
            <a:r>
              <a:rPr lang="en-IN" sz="1400" dirty="0" err="1"/>
              <a:t>int</a:t>
            </a:r>
            <a:r>
              <a:rPr lang="en-IN" sz="1400" dirty="0"/>
              <a:t> mark[100],i, n, sum =0;</a:t>
            </a:r>
          </a:p>
          <a:p>
            <a:pPr>
              <a:buNone/>
            </a:pPr>
            <a:r>
              <a:rPr lang="en-IN" sz="1400" dirty="0"/>
              <a:t>	float </a:t>
            </a:r>
            <a:r>
              <a:rPr lang="en-IN" sz="1400" dirty="0" err="1"/>
              <a:t>avg</a:t>
            </a:r>
            <a:r>
              <a:rPr lang="en-IN" sz="1400" dirty="0"/>
              <a:t>;</a:t>
            </a:r>
          </a:p>
          <a:p>
            <a:pPr>
              <a:buNone/>
            </a:pPr>
            <a:r>
              <a:rPr lang="en-IN" sz="1400" dirty="0"/>
              <a:t>	</a:t>
            </a:r>
            <a:r>
              <a:rPr lang="en-IN" sz="1400" dirty="0" err="1"/>
              <a:t>printf</a:t>
            </a:r>
            <a:r>
              <a:rPr lang="en-IN" sz="1400" dirty="0"/>
              <a:t>(“Enter number of students in a class”);</a:t>
            </a:r>
          </a:p>
          <a:p>
            <a:pPr>
              <a:buNone/>
            </a:pPr>
            <a:r>
              <a:rPr lang="en-IN" sz="1400" dirty="0"/>
              <a:t>	</a:t>
            </a:r>
            <a:r>
              <a:rPr lang="en-IN" sz="1400" dirty="0" err="1"/>
              <a:t>scanf</a:t>
            </a:r>
            <a:r>
              <a:rPr lang="en-IN" sz="1400" dirty="0"/>
              <a:t>(“%</a:t>
            </a:r>
            <a:r>
              <a:rPr lang="en-IN" sz="1400" dirty="0" err="1"/>
              <a:t>d”,&amp;n</a:t>
            </a:r>
            <a:r>
              <a:rPr lang="en-IN" sz="1400" dirty="0"/>
              <a:t>);</a:t>
            </a:r>
          </a:p>
          <a:p>
            <a:pPr>
              <a:buNone/>
            </a:pPr>
            <a:r>
              <a:rPr lang="en-IN" sz="1400" dirty="0"/>
              <a:t>   	 //input</a:t>
            </a:r>
          </a:p>
          <a:p>
            <a:pPr>
              <a:buNone/>
            </a:pPr>
            <a:r>
              <a:rPr lang="en-IN" sz="1400" dirty="0"/>
              <a:t>    	for(i = 0; i&lt;n; i++)</a:t>
            </a:r>
          </a:p>
          <a:p>
            <a:pPr>
              <a:buNone/>
            </a:pPr>
            <a:r>
              <a:rPr lang="en-IN" sz="1400" dirty="0"/>
              <a:t>   	 {</a:t>
            </a:r>
          </a:p>
          <a:p>
            <a:pPr>
              <a:buNone/>
            </a:pPr>
            <a:r>
              <a:rPr lang="en-IN" sz="1400" dirty="0"/>
              <a:t>        	</a:t>
            </a:r>
            <a:r>
              <a:rPr lang="en-IN" sz="1400" dirty="0" err="1"/>
              <a:t>printf</a:t>
            </a:r>
            <a:r>
              <a:rPr lang="en-IN" sz="1400" dirty="0"/>
              <a:t>("Enter the mark of a student");</a:t>
            </a:r>
          </a:p>
          <a:p>
            <a:pPr>
              <a:buNone/>
            </a:pPr>
            <a:r>
              <a:rPr lang="en-IN" sz="1400" dirty="0"/>
              <a:t>       		 </a:t>
            </a:r>
            <a:r>
              <a:rPr lang="en-IN" sz="1400" dirty="0" err="1"/>
              <a:t>scanf</a:t>
            </a:r>
            <a:r>
              <a:rPr lang="en-IN" sz="1400" dirty="0"/>
              <a:t>("%</a:t>
            </a:r>
            <a:r>
              <a:rPr lang="en-IN" sz="1400" dirty="0" err="1"/>
              <a:t>d",&amp;mark</a:t>
            </a:r>
            <a:r>
              <a:rPr lang="en-IN" sz="1400" dirty="0"/>
              <a:t>[i]);</a:t>
            </a:r>
          </a:p>
          <a:p>
            <a:pPr>
              <a:buNone/>
            </a:pPr>
            <a:r>
              <a:rPr lang="en-IN" sz="1400" dirty="0"/>
              <a:t>    	}</a:t>
            </a:r>
          </a:p>
          <a:p>
            <a:pPr>
              <a:buNone/>
            </a:pPr>
            <a:r>
              <a:rPr lang="en-IN" sz="1400" dirty="0"/>
              <a:t>	 //process</a:t>
            </a:r>
          </a:p>
          <a:p>
            <a:pPr>
              <a:buNone/>
            </a:pPr>
            <a:r>
              <a:rPr lang="en-IN" sz="1400" dirty="0"/>
              <a:t>    	for(i = 0; i&lt;n; i++)</a:t>
            </a:r>
          </a:p>
          <a:p>
            <a:pPr>
              <a:buNone/>
            </a:pPr>
            <a:r>
              <a:rPr lang="en-IN" sz="1400" dirty="0"/>
              <a:t>   	 	sum = sum + mark[i];</a:t>
            </a:r>
          </a:p>
          <a:p>
            <a:pPr>
              <a:buNone/>
            </a:pPr>
            <a:r>
              <a:rPr lang="en-IN" sz="1400" dirty="0"/>
              <a:t>    	</a:t>
            </a:r>
            <a:r>
              <a:rPr lang="en-IN" sz="1400" dirty="0" err="1"/>
              <a:t>avg</a:t>
            </a:r>
            <a:r>
              <a:rPr lang="en-IN" sz="1400" dirty="0"/>
              <a:t> = (float)sum/n;</a:t>
            </a:r>
          </a:p>
          <a:p>
            <a:pPr>
              <a:buNone/>
            </a:pPr>
            <a:r>
              <a:rPr lang="en-IN" sz="1400" dirty="0"/>
              <a:t>    	//output</a:t>
            </a:r>
          </a:p>
          <a:p>
            <a:pPr>
              <a:buNone/>
            </a:pPr>
            <a:r>
              <a:rPr lang="en-IN" sz="1400" dirty="0"/>
              <a:t> 	</a:t>
            </a:r>
            <a:r>
              <a:rPr lang="en-IN" sz="1400" dirty="0" err="1"/>
              <a:t>printf</a:t>
            </a:r>
            <a:r>
              <a:rPr lang="en-IN" sz="1400" dirty="0"/>
              <a:t>("The mark secured by the students:\n");</a:t>
            </a:r>
          </a:p>
          <a:p>
            <a:pPr>
              <a:buNone/>
            </a:pPr>
            <a:r>
              <a:rPr lang="en-IN" sz="1400" dirty="0"/>
              <a:t>    	for(i = 0; i&lt;10; i++)</a:t>
            </a:r>
          </a:p>
          <a:p>
            <a:pPr>
              <a:buNone/>
            </a:pPr>
            <a:r>
              <a:rPr lang="en-IN" sz="1400" dirty="0"/>
              <a:t>     		 </a:t>
            </a:r>
            <a:r>
              <a:rPr lang="en-IN" sz="1400" dirty="0" err="1"/>
              <a:t>printf</a:t>
            </a:r>
            <a:r>
              <a:rPr lang="en-IN" sz="1400" dirty="0"/>
              <a:t>("%d\t", mark[i]);</a:t>
            </a:r>
          </a:p>
          <a:p>
            <a:pPr>
              <a:buNone/>
            </a:pPr>
            <a:r>
              <a:rPr lang="en-IN" sz="1400" dirty="0"/>
              <a:t>	</a:t>
            </a:r>
            <a:r>
              <a:rPr lang="en-IN" sz="1400" dirty="0" err="1"/>
              <a:t>printf</a:t>
            </a:r>
            <a:r>
              <a:rPr lang="en-IN" sz="1400" dirty="0"/>
              <a:t>(“Total Secured mark=%d\n”, sum);</a:t>
            </a:r>
          </a:p>
          <a:p>
            <a:pPr>
              <a:buNone/>
            </a:pPr>
            <a:r>
              <a:rPr lang="en-IN" sz="1400" dirty="0"/>
              <a:t>	</a:t>
            </a:r>
            <a:r>
              <a:rPr lang="en-IN" sz="1400" dirty="0" err="1"/>
              <a:t>printf</a:t>
            </a:r>
            <a:r>
              <a:rPr lang="en-IN" sz="1400" dirty="0"/>
              <a:t>(“Average=%</a:t>
            </a:r>
            <a:r>
              <a:rPr lang="en-IN" sz="1400" dirty="0" err="1"/>
              <a:t>f”,avg</a:t>
            </a:r>
            <a:r>
              <a:rPr lang="en-IN" sz="1400" dirty="0"/>
              <a:t>);</a:t>
            </a:r>
          </a:p>
          <a:p>
            <a:pPr>
              <a:buNone/>
            </a:pPr>
            <a:r>
              <a:rPr lang="en-IN" sz="1400"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IN" dirty="0"/>
              <a:t>Example</a:t>
            </a:r>
          </a:p>
        </p:txBody>
      </p:sp>
      <p:sp>
        <p:nvSpPr>
          <p:cNvPr id="3" name="Content Placeholder 2"/>
          <p:cNvSpPr>
            <a:spLocks noGrp="1"/>
          </p:cNvSpPr>
          <p:nvPr>
            <p:ph idx="1"/>
          </p:nvPr>
        </p:nvSpPr>
        <p:spPr>
          <a:xfrm>
            <a:off x="228600" y="990600"/>
            <a:ext cx="8458200" cy="5135563"/>
          </a:xfrm>
        </p:spPr>
        <p:txBody>
          <a:bodyPr>
            <a:normAutofit/>
          </a:bodyPr>
          <a:lstStyle/>
          <a:p>
            <a:r>
              <a:rPr lang="en-IN" sz="2000" b="1" dirty="0"/>
              <a:t>Write a program to find largest and smallest element of an array.</a:t>
            </a:r>
          </a:p>
        </p:txBody>
      </p:sp>
      <p:sp>
        <p:nvSpPr>
          <p:cNvPr id="4" name="TextBox 3"/>
          <p:cNvSpPr txBox="1"/>
          <p:nvPr/>
        </p:nvSpPr>
        <p:spPr>
          <a:xfrm>
            <a:off x="1143000" y="1447800"/>
            <a:ext cx="7162800" cy="2554545"/>
          </a:xfrm>
          <a:prstGeom prst="rect">
            <a:avLst/>
          </a:prstGeom>
          <a:solidFill>
            <a:schemeClr val="bg1">
              <a:lumMod val="85000"/>
            </a:schemeClr>
          </a:solidFill>
        </p:spPr>
        <p:txBody>
          <a:bodyPr wrap="square" rtlCol="0">
            <a:spAutoFit/>
          </a:bodyPr>
          <a:lstStyle/>
          <a:p>
            <a:pPr marL="228600" indent="-228600"/>
            <a:r>
              <a:rPr lang="en-IN" sz="1600" dirty="0"/>
              <a:t>Enter number of elements</a:t>
            </a:r>
          </a:p>
          <a:p>
            <a:pPr marL="228600" indent="-228600"/>
            <a:r>
              <a:rPr lang="en-IN" sz="1600" dirty="0"/>
              <a:t>5</a:t>
            </a:r>
          </a:p>
          <a:p>
            <a:pPr marL="228600" indent="-228600"/>
            <a:r>
              <a:rPr lang="en-IN" sz="1600" dirty="0"/>
              <a:t>Enter the elements 60</a:t>
            </a:r>
          </a:p>
          <a:p>
            <a:pPr marL="228600" indent="-228600"/>
            <a:r>
              <a:rPr lang="en-IN" sz="1600" dirty="0"/>
              <a:t>Enter the elements 70</a:t>
            </a:r>
          </a:p>
          <a:p>
            <a:pPr marL="228600" indent="-228600"/>
            <a:r>
              <a:rPr lang="en-IN" sz="1600" dirty="0"/>
              <a:t>Enter the elements 90</a:t>
            </a:r>
          </a:p>
          <a:p>
            <a:pPr marL="228600" indent="-228600"/>
            <a:r>
              <a:rPr lang="en-IN" sz="1600" dirty="0"/>
              <a:t>Enter the elements 95</a:t>
            </a:r>
          </a:p>
          <a:p>
            <a:pPr marL="228600" indent="-228600"/>
            <a:r>
              <a:rPr lang="en-IN" sz="1600" dirty="0"/>
              <a:t>Enter the elements 82</a:t>
            </a:r>
          </a:p>
          <a:p>
            <a:pPr marL="228600" indent="-228600"/>
            <a:r>
              <a:rPr lang="en-IN" sz="1600" dirty="0"/>
              <a:t>Elements: 82	70	90	95	82</a:t>
            </a:r>
          </a:p>
          <a:p>
            <a:pPr marL="228600" indent="-228600"/>
            <a:r>
              <a:rPr lang="en-IN" sz="1600" dirty="0"/>
              <a:t>Maximum	= 95</a:t>
            </a:r>
          </a:p>
          <a:p>
            <a:pPr marL="228600" indent="-228600"/>
            <a:r>
              <a:rPr lang="en-IN" sz="1600" dirty="0"/>
              <a:t>Minimum	= 60</a:t>
            </a:r>
          </a:p>
        </p:txBody>
      </p:sp>
      <p:sp>
        <p:nvSpPr>
          <p:cNvPr id="5" name="TextBox 4"/>
          <p:cNvSpPr txBox="1"/>
          <p:nvPr/>
        </p:nvSpPr>
        <p:spPr>
          <a:xfrm>
            <a:off x="228600" y="1524000"/>
            <a:ext cx="990600" cy="369332"/>
          </a:xfrm>
          <a:prstGeom prst="rect">
            <a:avLst/>
          </a:prstGeom>
          <a:noFill/>
        </p:spPr>
        <p:txBody>
          <a:bodyPr wrap="square" rtlCol="0">
            <a:spAutoFit/>
          </a:bodyPr>
          <a:lstStyle/>
          <a:p>
            <a:r>
              <a:rPr lang="en-IN" b="1" dirty="0"/>
              <a:t>output</a:t>
            </a:r>
          </a:p>
        </p:txBody>
      </p:sp>
      <p:sp>
        <p:nvSpPr>
          <p:cNvPr id="6" name="TextBox 5"/>
          <p:cNvSpPr txBox="1"/>
          <p:nvPr/>
        </p:nvSpPr>
        <p:spPr>
          <a:xfrm>
            <a:off x="609600" y="6019800"/>
            <a:ext cx="7848600" cy="646331"/>
          </a:xfrm>
          <a:prstGeom prst="rect">
            <a:avLst/>
          </a:prstGeom>
          <a:solidFill>
            <a:schemeClr val="bg1">
              <a:lumMod val="85000"/>
            </a:schemeClr>
          </a:solidFill>
        </p:spPr>
        <p:txBody>
          <a:bodyPr wrap="square" rtlCol="0">
            <a:spAutoFit/>
          </a:bodyPr>
          <a:lstStyle/>
          <a:p>
            <a:r>
              <a:rPr lang="en-US" dirty="0"/>
              <a:t>compare each element in </a:t>
            </a:r>
            <a:r>
              <a:rPr lang="en-US" u="sng" dirty="0"/>
              <a:t>array</a:t>
            </a:r>
            <a:r>
              <a:rPr lang="en-US" dirty="0"/>
              <a:t> with </a:t>
            </a:r>
            <a:r>
              <a:rPr lang="en-US" u="sng" dirty="0"/>
              <a:t>max</a:t>
            </a:r>
            <a:r>
              <a:rPr lang="en-US" dirty="0"/>
              <a:t>, update </a:t>
            </a:r>
            <a:r>
              <a:rPr lang="en-US" b="1" u="sng" dirty="0">
                <a:solidFill>
                  <a:srgbClr val="FF0000"/>
                </a:solidFill>
              </a:rPr>
              <a:t>max</a:t>
            </a:r>
            <a:r>
              <a:rPr lang="en-US" dirty="0"/>
              <a:t> if the element is greater than </a:t>
            </a:r>
            <a:r>
              <a:rPr lang="en-US" u="sng" dirty="0"/>
              <a:t>max</a:t>
            </a:r>
            <a:r>
              <a:rPr lang="en-US" dirty="0"/>
              <a:t>. </a:t>
            </a: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6362"/>
          </a:xfrm>
        </p:spPr>
        <p:txBody>
          <a:bodyPr>
            <a:normAutofit fontScale="90000"/>
          </a:bodyPr>
          <a:lstStyle/>
          <a:p>
            <a:endParaRPr lang="en-IN"/>
          </a:p>
        </p:txBody>
      </p:sp>
      <p:sp>
        <p:nvSpPr>
          <p:cNvPr id="3" name="Content Placeholder 2"/>
          <p:cNvSpPr>
            <a:spLocks noGrp="1"/>
          </p:cNvSpPr>
          <p:nvPr>
            <p:ph idx="1"/>
          </p:nvPr>
        </p:nvSpPr>
        <p:spPr>
          <a:xfrm>
            <a:off x="381000" y="0"/>
            <a:ext cx="8229600" cy="6858000"/>
          </a:xfrm>
        </p:spPr>
        <p:txBody>
          <a:bodyPr>
            <a:noAutofit/>
          </a:bodyPr>
          <a:lstStyle/>
          <a:p>
            <a:pPr>
              <a:buNone/>
            </a:pPr>
            <a:r>
              <a:rPr lang="en-IN" sz="1400" dirty="0"/>
              <a:t>#include&lt;</a:t>
            </a:r>
            <a:r>
              <a:rPr lang="en-IN" sz="1400" dirty="0" err="1"/>
              <a:t>stdio.h</a:t>
            </a:r>
            <a:r>
              <a:rPr lang="en-IN" sz="1400" dirty="0"/>
              <a:t>&gt;</a:t>
            </a:r>
          </a:p>
          <a:p>
            <a:pPr>
              <a:buNone/>
            </a:pPr>
            <a:r>
              <a:rPr lang="en-IN" sz="1400" dirty="0"/>
              <a:t>main()</a:t>
            </a:r>
          </a:p>
          <a:p>
            <a:pPr>
              <a:buNone/>
            </a:pPr>
            <a:r>
              <a:rPr lang="en-IN" sz="1400" dirty="0"/>
              <a:t>{</a:t>
            </a:r>
          </a:p>
          <a:p>
            <a:pPr>
              <a:buNone/>
            </a:pPr>
            <a:r>
              <a:rPr lang="en-IN" sz="1400" dirty="0"/>
              <a:t>	</a:t>
            </a:r>
            <a:r>
              <a:rPr lang="en-IN" sz="1400" dirty="0" err="1"/>
              <a:t>int</a:t>
            </a:r>
            <a:r>
              <a:rPr lang="en-IN" sz="1400" dirty="0"/>
              <a:t> </a:t>
            </a:r>
            <a:r>
              <a:rPr lang="en-IN" sz="1400" dirty="0" err="1"/>
              <a:t>arr</a:t>
            </a:r>
            <a:r>
              <a:rPr lang="en-IN" sz="1400" dirty="0"/>
              <a:t>[100],i, n, max, min;</a:t>
            </a:r>
          </a:p>
          <a:p>
            <a:pPr>
              <a:buNone/>
            </a:pPr>
            <a:r>
              <a:rPr lang="en-IN" sz="1400" dirty="0"/>
              <a:t>	float </a:t>
            </a:r>
            <a:r>
              <a:rPr lang="en-IN" sz="1400" dirty="0" err="1"/>
              <a:t>avg</a:t>
            </a:r>
            <a:r>
              <a:rPr lang="en-IN" sz="1400" dirty="0"/>
              <a:t>;</a:t>
            </a:r>
          </a:p>
          <a:p>
            <a:pPr>
              <a:buNone/>
            </a:pPr>
            <a:r>
              <a:rPr lang="en-IN" sz="1400" dirty="0"/>
              <a:t>	</a:t>
            </a:r>
            <a:r>
              <a:rPr lang="en-IN" sz="1400" dirty="0" err="1"/>
              <a:t>printf</a:t>
            </a:r>
            <a:r>
              <a:rPr lang="en-IN" sz="1400" dirty="0"/>
              <a:t>(“Enter number of elements”);</a:t>
            </a:r>
          </a:p>
          <a:p>
            <a:pPr>
              <a:buNone/>
            </a:pPr>
            <a:r>
              <a:rPr lang="en-IN" sz="1400" dirty="0"/>
              <a:t>	</a:t>
            </a:r>
            <a:r>
              <a:rPr lang="en-IN" sz="1400" dirty="0" err="1"/>
              <a:t>scanf</a:t>
            </a:r>
            <a:r>
              <a:rPr lang="en-IN" sz="1400" dirty="0"/>
              <a:t>(“%</a:t>
            </a:r>
            <a:r>
              <a:rPr lang="en-IN" sz="1400" dirty="0" err="1"/>
              <a:t>d”,&amp;n</a:t>
            </a:r>
            <a:r>
              <a:rPr lang="en-IN" sz="1400" dirty="0"/>
              <a:t>);</a:t>
            </a:r>
          </a:p>
          <a:p>
            <a:pPr>
              <a:buNone/>
            </a:pPr>
            <a:r>
              <a:rPr lang="en-IN" sz="1400" dirty="0"/>
              <a:t>   	for(i = 0; i&lt;n; i++)</a:t>
            </a:r>
          </a:p>
          <a:p>
            <a:pPr>
              <a:buNone/>
            </a:pPr>
            <a:r>
              <a:rPr lang="en-IN" sz="1400" dirty="0"/>
              <a:t>   	 {</a:t>
            </a:r>
          </a:p>
          <a:p>
            <a:pPr>
              <a:buNone/>
            </a:pPr>
            <a:r>
              <a:rPr lang="en-IN" sz="1400" dirty="0"/>
              <a:t>        		</a:t>
            </a:r>
            <a:r>
              <a:rPr lang="en-IN" sz="1400" dirty="0" err="1"/>
              <a:t>printf</a:t>
            </a:r>
            <a:r>
              <a:rPr lang="en-IN" sz="1400" dirty="0"/>
              <a:t>("Enter the mark of a student");</a:t>
            </a:r>
          </a:p>
          <a:p>
            <a:pPr>
              <a:buNone/>
            </a:pPr>
            <a:r>
              <a:rPr lang="en-IN" sz="1400" dirty="0"/>
              <a:t>       		 </a:t>
            </a:r>
            <a:r>
              <a:rPr lang="en-IN" sz="1400" dirty="0" err="1"/>
              <a:t>scanf</a:t>
            </a:r>
            <a:r>
              <a:rPr lang="en-IN" sz="1400" dirty="0"/>
              <a:t>("%</a:t>
            </a:r>
            <a:r>
              <a:rPr lang="en-IN" sz="1400" dirty="0" err="1"/>
              <a:t>d",&amp;arr</a:t>
            </a:r>
            <a:r>
              <a:rPr lang="en-IN" sz="1400" dirty="0"/>
              <a:t>[i]);</a:t>
            </a:r>
          </a:p>
          <a:p>
            <a:pPr>
              <a:buNone/>
            </a:pPr>
            <a:r>
              <a:rPr lang="en-IN" sz="1400" dirty="0"/>
              <a:t>    	}</a:t>
            </a:r>
          </a:p>
          <a:p>
            <a:pPr>
              <a:buNone/>
            </a:pPr>
            <a:r>
              <a:rPr lang="en-IN" sz="1400" dirty="0"/>
              <a:t>	max = </a:t>
            </a:r>
            <a:r>
              <a:rPr lang="en-IN" sz="1400" dirty="0" err="1"/>
              <a:t>arr</a:t>
            </a:r>
            <a:r>
              <a:rPr lang="en-IN" sz="1400" dirty="0"/>
              <a:t>[0];</a:t>
            </a:r>
          </a:p>
          <a:p>
            <a:pPr>
              <a:buNone/>
            </a:pPr>
            <a:r>
              <a:rPr lang="en-IN" sz="1400" dirty="0"/>
              <a:t>	min = </a:t>
            </a:r>
            <a:r>
              <a:rPr lang="en-IN" sz="1400" dirty="0" err="1"/>
              <a:t>arr</a:t>
            </a:r>
            <a:r>
              <a:rPr lang="en-IN" sz="1400" dirty="0"/>
              <a:t>[0];</a:t>
            </a:r>
          </a:p>
          <a:p>
            <a:pPr>
              <a:buNone/>
            </a:pPr>
            <a:r>
              <a:rPr lang="en-IN" sz="1400" dirty="0"/>
              <a:t>	for(i = 1; i&lt;n; i++)</a:t>
            </a:r>
          </a:p>
          <a:p>
            <a:pPr>
              <a:buNone/>
            </a:pPr>
            <a:r>
              <a:rPr lang="en-IN" sz="1400" dirty="0"/>
              <a:t>	{</a:t>
            </a:r>
          </a:p>
          <a:p>
            <a:pPr>
              <a:buNone/>
            </a:pPr>
            <a:r>
              <a:rPr lang="en-IN" sz="1400" dirty="0"/>
              <a:t>		if(</a:t>
            </a:r>
            <a:r>
              <a:rPr lang="en-IN" sz="1400" dirty="0" err="1"/>
              <a:t>arr</a:t>
            </a:r>
            <a:r>
              <a:rPr lang="en-IN" sz="1400" dirty="0"/>
              <a:t>[i] &gt; max)</a:t>
            </a:r>
          </a:p>
          <a:p>
            <a:pPr>
              <a:buNone/>
            </a:pPr>
            <a:r>
              <a:rPr lang="en-IN" sz="1400" dirty="0"/>
              <a:t>			max = </a:t>
            </a:r>
            <a:r>
              <a:rPr lang="en-IN" sz="1400" dirty="0" err="1"/>
              <a:t>arr</a:t>
            </a:r>
            <a:r>
              <a:rPr lang="en-IN" sz="1400" dirty="0"/>
              <a:t>[i];</a:t>
            </a:r>
          </a:p>
          <a:p>
            <a:pPr>
              <a:buNone/>
            </a:pPr>
            <a:r>
              <a:rPr lang="en-IN" sz="1400" dirty="0"/>
              <a:t>		else if(</a:t>
            </a:r>
            <a:r>
              <a:rPr lang="en-IN" sz="1400" dirty="0" err="1"/>
              <a:t>arr</a:t>
            </a:r>
            <a:r>
              <a:rPr lang="en-IN" sz="1400" dirty="0"/>
              <a:t>[i] &lt; min)</a:t>
            </a:r>
          </a:p>
          <a:p>
            <a:pPr>
              <a:buNone/>
            </a:pPr>
            <a:r>
              <a:rPr lang="en-IN" sz="1400" dirty="0"/>
              <a:t>			min = </a:t>
            </a:r>
            <a:r>
              <a:rPr lang="en-IN" sz="1400" dirty="0" err="1"/>
              <a:t>arr</a:t>
            </a:r>
            <a:r>
              <a:rPr lang="en-IN" sz="1400" dirty="0"/>
              <a:t>[i];</a:t>
            </a:r>
          </a:p>
          <a:p>
            <a:pPr>
              <a:buNone/>
            </a:pPr>
            <a:r>
              <a:rPr lang="en-IN" sz="1400" dirty="0"/>
              <a:t>	}   	 	</a:t>
            </a:r>
          </a:p>
          <a:p>
            <a:pPr>
              <a:buNone/>
            </a:pPr>
            <a:r>
              <a:rPr lang="en-IN" sz="1400" dirty="0"/>
              <a:t>    	</a:t>
            </a:r>
            <a:r>
              <a:rPr lang="en-IN" sz="1400" dirty="0" err="1"/>
              <a:t>printf</a:t>
            </a:r>
            <a:r>
              <a:rPr lang="en-IN" sz="1400" dirty="0"/>
              <a:t>(“Elements:\n");</a:t>
            </a:r>
          </a:p>
          <a:p>
            <a:pPr>
              <a:buNone/>
            </a:pPr>
            <a:r>
              <a:rPr lang="en-IN" sz="1400" dirty="0"/>
              <a:t>    	for(i = 0; </a:t>
            </a:r>
            <a:r>
              <a:rPr lang="en-IN" sz="1400" dirty="0" err="1"/>
              <a:t>i</a:t>
            </a:r>
            <a:r>
              <a:rPr lang="en-IN" sz="1400" dirty="0"/>
              <a:t>&lt;n; i++)</a:t>
            </a:r>
          </a:p>
          <a:p>
            <a:pPr>
              <a:buNone/>
            </a:pPr>
            <a:r>
              <a:rPr lang="en-IN" sz="1400" dirty="0"/>
              <a:t>     		 </a:t>
            </a:r>
            <a:r>
              <a:rPr lang="en-IN" sz="1400" dirty="0" err="1"/>
              <a:t>printf</a:t>
            </a:r>
            <a:r>
              <a:rPr lang="en-IN" sz="1400" dirty="0"/>
              <a:t>("%d\t", mark[i]);</a:t>
            </a:r>
          </a:p>
          <a:p>
            <a:pPr>
              <a:buNone/>
            </a:pPr>
            <a:r>
              <a:rPr lang="en-IN" sz="1400" dirty="0"/>
              <a:t>	</a:t>
            </a:r>
            <a:r>
              <a:rPr lang="en-IN" sz="1400" dirty="0" err="1"/>
              <a:t>printf</a:t>
            </a:r>
            <a:r>
              <a:rPr lang="en-IN" sz="1400" dirty="0"/>
              <a:t>(“Maximum=%d\n”, max);</a:t>
            </a:r>
          </a:p>
          <a:p>
            <a:pPr>
              <a:buNone/>
            </a:pPr>
            <a:r>
              <a:rPr lang="en-IN" sz="1400" dirty="0"/>
              <a:t>	</a:t>
            </a:r>
            <a:r>
              <a:rPr lang="en-IN" sz="1400" dirty="0" err="1"/>
              <a:t>printf</a:t>
            </a:r>
            <a:r>
              <a:rPr lang="en-IN" sz="1400" dirty="0"/>
              <a:t>(“Minimum=%</a:t>
            </a:r>
            <a:r>
              <a:rPr lang="en-IN" sz="1400" dirty="0" err="1"/>
              <a:t>d”,min</a:t>
            </a:r>
            <a:r>
              <a:rPr lang="en-IN" sz="1400" dirty="0"/>
              <a:t>);</a:t>
            </a:r>
          </a:p>
          <a:p>
            <a:pPr>
              <a:buNone/>
            </a:pPr>
            <a:r>
              <a:rPr lang="en-IN" sz="1400" dirty="0"/>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endParaRPr lang="en-IN" dirty="0"/>
          </a:p>
        </p:txBody>
      </p:sp>
      <p:sp>
        <p:nvSpPr>
          <p:cNvPr id="3" name="Content Placeholder 2"/>
          <p:cNvSpPr>
            <a:spLocks noGrp="1"/>
          </p:cNvSpPr>
          <p:nvPr>
            <p:ph idx="1"/>
          </p:nvPr>
        </p:nvSpPr>
        <p:spPr>
          <a:xfrm>
            <a:off x="457200" y="1219200"/>
            <a:ext cx="8229600" cy="5410200"/>
          </a:xfrm>
        </p:spPr>
        <p:txBody>
          <a:bodyPr>
            <a:normAutofit/>
          </a:bodyPr>
          <a:lstStyle/>
          <a:p>
            <a:r>
              <a:rPr lang="en-IN" dirty="0"/>
              <a:t>Single operation which </a:t>
            </a:r>
            <a:r>
              <a:rPr lang="en-IN" b="1" dirty="0">
                <a:solidFill>
                  <a:schemeClr val="accent2">
                    <a:lumMod val="75000"/>
                  </a:schemeClr>
                </a:solidFill>
              </a:rPr>
              <a:t>involve entire array </a:t>
            </a:r>
            <a:r>
              <a:rPr lang="en-IN" dirty="0"/>
              <a:t>are </a:t>
            </a:r>
            <a:r>
              <a:rPr lang="en-IN" b="1" dirty="0"/>
              <a:t>not permitted </a:t>
            </a:r>
            <a:r>
              <a:rPr lang="en-IN" dirty="0"/>
              <a:t>in c.</a:t>
            </a:r>
          </a:p>
          <a:p>
            <a:pPr lvl="1"/>
            <a:r>
              <a:rPr lang="en-IN" dirty="0"/>
              <a:t>To Multiply 2 to each element of array having name arr.</a:t>
            </a:r>
          </a:p>
          <a:p>
            <a:pPr lvl="1"/>
            <a:endParaRPr lang="en-IN" dirty="0"/>
          </a:p>
          <a:p>
            <a:pPr lvl="1"/>
            <a:r>
              <a:rPr lang="en-IN" dirty="0"/>
              <a:t>You have to multiply 2 to individual element of the array. </a:t>
            </a:r>
          </a:p>
          <a:p>
            <a:pPr lvl="1"/>
            <a:endParaRPr lang="en-IN" dirty="0"/>
          </a:p>
          <a:p>
            <a:pPr lvl="1"/>
            <a:endParaRPr lang="en-IN" dirty="0"/>
          </a:p>
          <a:p>
            <a:pPr lvl="1"/>
            <a:endParaRPr lang="en-IN" dirty="0"/>
          </a:p>
          <a:p>
            <a:pPr lvl="1">
              <a:buNone/>
            </a:pPr>
            <a:endParaRPr lang="en-IN" dirty="0"/>
          </a:p>
        </p:txBody>
      </p:sp>
      <p:sp>
        <p:nvSpPr>
          <p:cNvPr id="4" name="Rectangle 3"/>
          <p:cNvSpPr/>
          <p:nvPr/>
        </p:nvSpPr>
        <p:spPr>
          <a:xfrm>
            <a:off x="1752600" y="304800"/>
            <a:ext cx="4953000" cy="7620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b="1" dirty="0">
                <a:solidFill>
                  <a:schemeClr val="accent2">
                    <a:lumMod val="75000"/>
                  </a:schemeClr>
                </a:solidFill>
              </a:rPr>
              <a:t>Processing an array</a:t>
            </a:r>
          </a:p>
        </p:txBody>
      </p:sp>
      <p:sp>
        <p:nvSpPr>
          <p:cNvPr id="5" name="TextBox 4"/>
          <p:cNvSpPr txBox="1"/>
          <p:nvPr/>
        </p:nvSpPr>
        <p:spPr>
          <a:xfrm>
            <a:off x="1600200" y="3352800"/>
            <a:ext cx="1828800" cy="369332"/>
          </a:xfrm>
          <a:prstGeom prst="rect">
            <a:avLst/>
          </a:prstGeom>
          <a:solidFill>
            <a:schemeClr val="bg1">
              <a:lumMod val="85000"/>
            </a:schemeClr>
          </a:solidFill>
        </p:spPr>
        <p:txBody>
          <a:bodyPr wrap="square" rtlCol="0">
            <a:spAutoFit/>
          </a:bodyPr>
          <a:lstStyle/>
          <a:p>
            <a:r>
              <a:rPr lang="en-IN" b="1" dirty="0" err="1">
                <a:solidFill>
                  <a:schemeClr val="accent2">
                    <a:lumMod val="75000"/>
                  </a:schemeClr>
                </a:solidFill>
              </a:rPr>
              <a:t>arr</a:t>
            </a:r>
            <a:r>
              <a:rPr lang="en-IN" b="1" dirty="0">
                <a:solidFill>
                  <a:schemeClr val="accent2">
                    <a:lumMod val="75000"/>
                  </a:schemeClr>
                </a:solidFill>
              </a:rPr>
              <a:t> = </a:t>
            </a:r>
            <a:r>
              <a:rPr lang="en-IN" b="1" dirty="0" err="1">
                <a:solidFill>
                  <a:schemeClr val="accent2">
                    <a:lumMod val="75000"/>
                  </a:schemeClr>
                </a:solidFill>
              </a:rPr>
              <a:t>arr</a:t>
            </a:r>
            <a:r>
              <a:rPr lang="en-IN" b="1" dirty="0">
                <a:solidFill>
                  <a:schemeClr val="accent2">
                    <a:lumMod val="75000"/>
                  </a:schemeClr>
                </a:solidFill>
              </a:rPr>
              <a:t> * 2;</a:t>
            </a:r>
          </a:p>
        </p:txBody>
      </p:sp>
      <p:cxnSp>
        <p:nvCxnSpPr>
          <p:cNvPr id="7" name="Straight Connector 6"/>
          <p:cNvCxnSpPr>
            <a:stCxn id="5" idx="1"/>
          </p:cNvCxnSpPr>
          <p:nvPr/>
        </p:nvCxnSpPr>
        <p:spPr>
          <a:xfrm rot="10800000" flipH="1" flipV="1">
            <a:off x="1600200" y="3537466"/>
            <a:ext cx="1295400" cy="43934"/>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676400" y="4876800"/>
            <a:ext cx="2438400" cy="1200329"/>
          </a:xfrm>
          <a:prstGeom prst="rect">
            <a:avLst/>
          </a:prstGeom>
          <a:solidFill>
            <a:schemeClr val="bg1">
              <a:lumMod val="85000"/>
            </a:schemeClr>
          </a:solidFill>
        </p:spPr>
        <p:txBody>
          <a:bodyPr wrap="square" rtlCol="0">
            <a:spAutoFit/>
          </a:bodyPr>
          <a:lstStyle/>
          <a:p>
            <a:r>
              <a:rPr lang="en-IN" b="1" dirty="0" err="1"/>
              <a:t>arr</a:t>
            </a:r>
            <a:r>
              <a:rPr lang="en-IN" b="1" dirty="0"/>
              <a:t>[0] = </a:t>
            </a:r>
            <a:r>
              <a:rPr lang="en-IN" b="1" dirty="0" err="1"/>
              <a:t>arr</a:t>
            </a:r>
            <a:r>
              <a:rPr lang="en-IN" b="1" dirty="0"/>
              <a:t>[0] * 2;</a:t>
            </a:r>
          </a:p>
          <a:p>
            <a:r>
              <a:rPr lang="en-IN" b="1" dirty="0" err="1"/>
              <a:t>arr</a:t>
            </a:r>
            <a:r>
              <a:rPr lang="en-IN" b="1" dirty="0"/>
              <a:t>[1] = </a:t>
            </a:r>
            <a:r>
              <a:rPr lang="en-IN" b="1" dirty="0" err="1"/>
              <a:t>arr</a:t>
            </a:r>
            <a:r>
              <a:rPr lang="en-IN" b="1" dirty="0"/>
              <a:t>[1] * 2;</a:t>
            </a:r>
          </a:p>
          <a:p>
            <a:r>
              <a:rPr lang="en-IN" b="1" dirty="0"/>
              <a:t>……………….</a:t>
            </a:r>
          </a:p>
          <a:p>
            <a:r>
              <a:rPr lang="en-IN" b="1" dirty="0" err="1"/>
              <a:t>arr</a:t>
            </a:r>
            <a:r>
              <a:rPr lang="en-IN" b="1" dirty="0"/>
              <a:t>[n-1] = </a:t>
            </a:r>
            <a:r>
              <a:rPr lang="en-IN" b="1" dirty="0" err="1"/>
              <a:t>arr</a:t>
            </a:r>
            <a:r>
              <a:rPr lang="en-IN" b="1" dirty="0"/>
              <a:t>[n-1] * 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IN" dirty="0"/>
              <a:t>Example</a:t>
            </a:r>
          </a:p>
        </p:txBody>
      </p:sp>
      <p:sp>
        <p:nvSpPr>
          <p:cNvPr id="3" name="Content Placeholder 2"/>
          <p:cNvSpPr>
            <a:spLocks noGrp="1"/>
          </p:cNvSpPr>
          <p:nvPr>
            <p:ph idx="1"/>
          </p:nvPr>
        </p:nvSpPr>
        <p:spPr>
          <a:xfrm>
            <a:off x="228600" y="990600"/>
            <a:ext cx="8458200" cy="5135563"/>
          </a:xfrm>
        </p:spPr>
        <p:txBody>
          <a:bodyPr/>
          <a:lstStyle/>
          <a:p>
            <a:r>
              <a:rPr lang="en-IN" dirty="0"/>
              <a:t>Write a program to multiply 2 to each element of the array.</a:t>
            </a:r>
          </a:p>
        </p:txBody>
      </p:sp>
      <p:sp>
        <p:nvSpPr>
          <p:cNvPr id="4" name="TextBox 3"/>
          <p:cNvSpPr txBox="1"/>
          <p:nvPr/>
        </p:nvSpPr>
        <p:spPr>
          <a:xfrm>
            <a:off x="762000" y="2819400"/>
            <a:ext cx="6858000" cy="2308324"/>
          </a:xfrm>
          <a:prstGeom prst="rect">
            <a:avLst/>
          </a:prstGeom>
          <a:solidFill>
            <a:schemeClr val="bg1">
              <a:lumMod val="85000"/>
            </a:schemeClr>
          </a:solidFill>
        </p:spPr>
        <p:txBody>
          <a:bodyPr wrap="square" rtlCol="0">
            <a:spAutoFit/>
          </a:bodyPr>
          <a:lstStyle/>
          <a:p>
            <a:pPr marL="228600" indent="-228600"/>
            <a:r>
              <a:rPr lang="en-IN" sz="1600" dirty="0"/>
              <a:t>Enter number of elements</a:t>
            </a:r>
          </a:p>
          <a:p>
            <a:pPr marL="228600" indent="-228600"/>
            <a:r>
              <a:rPr lang="en-IN" sz="1600" dirty="0"/>
              <a:t>5</a:t>
            </a:r>
          </a:p>
          <a:p>
            <a:pPr marL="228600" indent="-228600"/>
            <a:r>
              <a:rPr lang="en-IN" sz="1600" dirty="0"/>
              <a:t>Enter the elements 60</a:t>
            </a:r>
          </a:p>
          <a:p>
            <a:pPr marL="228600" indent="-228600"/>
            <a:r>
              <a:rPr lang="en-IN" sz="1600" dirty="0"/>
              <a:t>Enter the elements 70</a:t>
            </a:r>
          </a:p>
          <a:p>
            <a:pPr marL="228600" indent="-228600"/>
            <a:r>
              <a:rPr lang="en-IN" sz="1600" dirty="0"/>
              <a:t>Enter the elements 90</a:t>
            </a:r>
          </a:p>
          <a:p>
            <a:pPr marL="228600" indent="-228600"/>
            <a:r>
              <a:rPr lang="en-IN" sz="1600" dirty="0"/>
              <a:t>Enter the elements 95</a:t>
            </a:r>
          </a:p>
          <a:p>
            <a:pPr marL="228600" indent="-228600"/>
            <a:r>
              <a:rPr lang="en-IN" sz="1600" dirty="0"/>
              <a:t>Enter the elements 82</a:t>
            </a:r>
          </a:p>
          <a:p>
            <a:pPr marL="228600" indent="-228600"/>
            <a:r>
              <a:rPr lang="en-IN" sz="1600" dirty="0"/>
              <a:t>Elements Before </a:t>
            </a:r>
            <a:r>
              <a:rPr lang="en-IN" sz="1600" dirty="0" err="1"/>
              <a:t>updation</a:t>
            </a:r>
            <a:r>
              <a:rPr lang="en-IN" sz="1600" dirty="0"/>
              <a:t>: 60	70	90	95	82</a:t>
            </a:r>
          </a:p>
          <a:p>
            <a:pPr marL="228600" indent="-228600"/>
            <a:r>
              <a:rPr lang="en-IN" sz="1600" dirty="0"/>
              <a:t>Elements after </a:t>
            </a:r>
            <a:r>
              <a:rPr lang="en-IN" sz="1600" dirty="0" err="1"/>
              <a:t>updation</a:t>
            </a:r>
            <a:r>
              <a:rPr lang="en-IN" sz="1600" dirty="0"/>
              <a:t>: 120	140	180	190	164</a:t>
            </a:r>
          </a:p>
        </p:txBody>
      </p:sp>
      <p:sp>
        <p:nvSpPr>
          <p:cNvPr id="5" name="TextBox 4"/>
          <p:cNvSpPr txBox="1"/>
          <p:nvPr/>
        </p:nvSpPr>
        <p:spPr>
          <a:xfrm>
            <a:off x="609600" y="2286000"/>
            <a:ext cx="990600" cy="369332"/>
          </a:xfrm>
          <a:prstGeom prst="rect">
            <a:avLst/>
          </a:prstGeom>
          <a:noFill/>
        </p:spPr>
        <p:txBody>
          <a:bodyPr wrap="square" rtlCol="0">
            <a:spAutoFit/>
          </a:bodyPr>
          <a:lstStyle/>
          <a:p>
            <a:r>
              <a:rPr lang="en-IN" b="1" dirty="0"/>
              <a:t>output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endParaRPr lang="en-IN" dirty="0"/>
          </a:p>
        </p:txBody>
      </p:sp>
      <p:sp>
        <p:nvSpPr>
          <p:cNvPr id="3" name="Content Placeholder 2"/>
          <p:cNvSpPr>
            <a:spLocks noGrp="1"/>
          </p:cNvSpPr>
          <p:nvPr>
            <p:ph idx="1"/>
          </p:nvPr>
        </p:nvSpPr>
        <p:spPr>
          <a:xfrm>
            <a:off x="457200" y="838200"/>
            <a:ext cx="8229600" cy="6019800"/>
          </a:xfrm>
        </p:spPr>
        <p:txBody>
          <a:bodyPr>
            <a:noAutofit/>
          </a:bodyPr>
          <a:lstStyle/>
          <a:p>
            <a:pPr>
              <a:buNone/>
            </a:pPr>
            <a:r>
              <a:rPr lang="en-IN" sz="1400" dirty="0"/>
              <a:t>#include&lt;</a:t>
            </a:r>
            <a:r>
              <a:rPr lang="en-IN" sz="1400" dirty="0" err="1"/>
              <a:t>stdio.h</a:t>
            </a:r>
            <a:r>
              <a:rPr lang="en-IN" sz="1400" dirty="0"/>
              <a:t>&gt;</a:t>
            </a:r>
          </a:p>
          <a:p>
            <a:pPr>
              <a:buNone/>
            </a:pPr>
            <a:r>
              <a:rPr lang="en-IN" sz="1400" dirty="0"/>
              <a:t>main()</a:t>
            </a:r>
          </a:p>
          <a:p>
            <a:pPr>
              <a:buNone/>
            </a:pPr>
            <a:r>
              <a:rPr lang="en-IN" sz="1400" dirty="0"/>
              <a:t>{</a:t>
            </a:r>
          </a:p>
          <a:p>
            <a:pPr>
              <a:buNone/>
            </a:pPr>
            <a:r>
              <a:rPr lang="en-IN" sz="1400" dirty="0"/>
              <a:t>	</a:t>
            </a:r>
            <a:r>
              <a:rPr lang="en-IN" sz="1400" dirty="0" err="1"/>
              <a:t>int</a:t>
            </a:r>
            <a:r>
              <a:rPr lang="en-IN" sz="1400" dirty="0"/>
              <a:t> </a:t>
            </a:r>
            <a:r>
              <a:rPr lang="en-IN" sz="1400" dirty="0" err="1"/>
              <a:t>arr</a:t>
            </a:r>
            <a:r>
              <a:rPr lang="en-IN" sz="1400" dirty="0"/>
              <a:t>[100],i, n;</a:t>
            </a:r>
          </a:p>
          <a:p>
            <a:pPr>
              <a:buNone/>
            </a:pPr>
            <a:r>
              <a:rPr lang="en-IN" sz="1400" dirty="0"/>
              <a:t>	float </a:t>
            </a:r>
            <a:r>
              <a:rPr lang="en-IN" sz="1400" dirty="0" err="1"/>
              <a:t>avg</a:t>
            </a:r>
            <a:r>
              <a:rPr lang="en-IN" sz="1400" dirty="0"/>
              <a:t>;</a:t>
            </a:r>
          </a:p>
          <a:p>
            <a:pPr>
              <a:buNone/>
            </a:pPr>
            <a:r>
              <a:rPr lang="en-IN" sz="1400" dirty="0"/>
              <a:t>	</a:t>
            </a:r>
            <a:r>
              <a:rPr lang="en-IN" sz="1400" dirty="0" err="1"/>
              <a:t>printf</a:t>
            </a:r>
            <a:r>
              <a:rPr lang="en-IN" sz="1400" dirty="0"/>
              <a:t>(“Enter number of elements”);</a:t>
            </a:r>
          </a:p>
          <a:p>
            <a:pPr>
              <a:buNone/>
            </a:pPr>
            <a:r>
              <a:rPr lang="en-IN" sz="1400" dirty="0"/>
              <a:t>	</a:t>
            </a:r>
            <a:r>
              <a:rPr lang="en-IN" sz="1400" dirty="0" err="1"/>
              <a:t>scanf</a:t>
            </a:r>
            <a:r>
              <a:rPr lang="en-IN" sz="1400" dirty="0"/>
              <a:t>(“%</a:t>
            </a:r>
            <a:r>
              <a:rPr lang="en-IN" sz="1400" dirty="0" err="1"/>
              <a:t>d”,&amp;n</a:t>
            </a:r>
            <a:r>
              <a:rPr lang="en-IN" sz="1400" dirty="0"/>
              <a:t>);</a:t>
            </a:r>
          </a:p>
          <a:p>
            <a:pPr>
              <a:buNone/>
            </a:pPr>
            <a:r>
              <a:rPr lang="en-IN" sz="1400" dirty="0"/>
              <a:t>   	for(i = 0; i&lt;n; i++)</a:t>
            </a:r>
          </a:p>
          <a:p>
            <a:pPr>
              <a:buNone/>
            </a:pPr>
            <a:r>
              <a:rPr lang="en-IN" sz="1400" dirty="0"/>
              <a:t>   	 {</a:t>
            </a:r>
          </a:p>
          <a:p>
            <a:pPr>
              <a:buNone/>
            </a:pPr>
            <a:r>
              <a:rPr lang="en-IN" sz="1400" dirty="0"/>
              <a:t>        		</a:t>
            </a:r>
            <a:r>
              <a:rPr lang="en-IN" sz="1400" dirty="0" err="1"/>
              <a:t>printf</a:t>
            </a:r>
            <a:r>
              <a:rPr lang="en-IN" sz="1400" dirty="0"/>
              <a:t>("Enter the mark of a student");</a:t>
            </a:r>
          </a:p>
          <a:p>
            <a:pPr>
              <a:buNone/>
            </a:pPr>
            <a:r>
              <a:rPr lang="en-IN" sz="1400" dirty="0"/>
              <a:t>       		 </a:t>
            </a:r>
            <a:r>
              <a:rPr lang="en-IN" sz="1400" dirty="0" err="1"/>
              <a:t>scanf</a:t>
            </a:r>
            <a:r>
              <a:rPr lang="en-IN" sz="1400" dirty="0"/>
              <a:t>("%</a:t>
            </a:r>
            <a:r>
              <a:rPr lang="en-IN" sz="1400" dirty="0" err="1"/>
              <a:t>d",&amp;arr</a:t>
            </a:r>
            <a:r>
              <a:rPr lang="en-IN" sz="1400" dirty="0"/>
              <a:t>[i]);</a:t>
            </a:r>
          </a:p>
          <a:p>
            <a:pPr>
              <a:buNone/>
            </a:pPr>
            <a:r>
              <a:rPr lang="en-IN" sz="1400" dirty="0"/>
              <a:t>    	}</a:t>
            </a:r>
          </a:p>
          <a:p>
            <a:pPr>
              <a:buNone/>
            </a:pPr>
            <a:r>
              <a:rPr lang="en-IN" sz="1400" dirty="0"/>
              <a:t>	 </a:t>
            </a:r>
            <a:r>
              <a:rPr lang="en-IN" sz="1400" dirty="0" err="1"/>
              <a:t>printf</a:t>
            </a:r>
            <a:r>
              <a:rPr lang="en-IN" sz="1400" dirty="0"/>
              <a:t>(“Elements Before </a:t>
            </a:r>
            <a:r>
              <a:rPr lang="en-IN" sz="1400" dirty="0" err="1"/>
              <a:t>updation</a:t>
            </a:r>
            <a:r>
              <a:rPr lang="en-IN" sz="1400" dirty="0"/>
              <a:t>:");</a:t>
            </a:r>
          </a:p>
          <a:p>
            <a:pPr>
              <a:buNone/>
            </a:pPr>
            <a:r>
              <a:rPr lang="en-IN" sz="1400" dirty="0"/>
              <a:t>    	for(i = 0; </a:t>
            </a:r>
            <a:r>
              <a:rPr lang="en-IN" sz="1400" dirty="0" err="1"/>
              <a:t>i</a:t>
            </a:r>
            <a:r>
              <a:rPr lang="en-IN" sz="1400" dirty="0"/>
              <a:t>&lt;n; i++)</a:t>
            </a:r>
          </a:p>
          <a:p>
            <a:pPr>
              <a:buNone/>
            </a:pPr>
            <a:r>
              <a:rPr lang="en-IN" sz="1400" dirty="0"/>
              <a:t>     		 </a:t>
            </a:r>
            <a:r>
              <a:rPr lang="en-IN" sz="1400" dirty="0" err="1"/>
              <a:t>printf</a:t>
            </a:r>
            <a:r>
              <a:rPr lang="en-IN" sz="1400" dirty="0"/>
              <a:t>("%d\t", </a:t>
            </a:r>
            <a:r>
              <a:rPr lang="en-IN" sz="1400" dirty="0" err="1"/>
              <a:t>arr</a:t>
            </a:r>
            <a:r>
              <a:rPr lang="en-IN" sz="1400" dirty="0"/>
              <a:t>[i]); 	</a:t>
            </a:r>
          </a:p>
          <a:p>
            <a:pPr>
              <a:buNone/>
            </a:pPr>
            <a:r>
              <a:rPr lang="en-IN" sz="1400" dirty="0"/>
              <a:t>	for(i = 0; i&lt;n; i++)</a:t>
            </a:r>
          </a:p>
          <a:p>
            <a:pPr>
              <a:buNone/>
            </a:pPr>
            <a:r>
              <a:rPr lang="en-IN" sz="1400" dirty="0"/>
              <a:t>	{</a:t>
            </a:r>
          </a:p>
          <a:p>
            <a:pPr>
              <a:buNone/>
            </a:pPr>
            <a:r>
              <a:rPr lang="en-IN" sz="1400" dirty="0"/>
              <a:t>		</a:t>
            </a:r>
            <a:r>
              <a:rPr lang="en-IN" sz="1400" dirty="0" err="1"/>
              <a:t>arr</a:t>
            </a:r>
            <a:r>
              <a:rPr lang="en-IN" sz="1400" dirty="0"/>
              <a:t>[i] = </a:t>
            </a:r>
            <a:r>
              <a:rPr lang="en-IN" sz="1400" dirty="0" err="1"/>
              <a:t>arr</a:t>
            </a:r>
            <a:r>
              <a:rPr lang="en-IN" sz="1400" dirty="0"/>
              <a:t>[i] * 2;</a:t>
            </a:r>
          </a:p>
          <a:p>
            <a:pPr>
              <a:buNone/>
            </a:pPr>
            <a:r>
              <a:rPr lang="en-IN" sz="1400" dirty="0"/>
              <a:t>	}   	 	</a:t>
            </a:r>
          </a:p>
          <a:p>
            <a:pPr>
              <a:buNone/>
            </a:pPr>
            <a:r>
              <a:rPr lang="en-IN" sz="1400" dirty="0"/>
              <a:t>    	</a:t>
            </a:r>
            <a:r>
              <a:rPr lang="en-IN" sz="1400" dirty="0" err="1"/>
              <a:t>printf</a:t>
            </a:r>
            <a:r>
              <a:rPr lang="en-IN" sz="1400" dirty="0"/>
              <a:t>(“Elements after </a:t>
            </a:r>
            <a:r>
              <a:rPr lang="en-IN" sz="1400" dirty="0" err="1"/>
              <a:t>updation</a:t>
            </a:r>
            <a:r>
              <a:rPr lang="en-IN" sz="1400" dirty="0"/>
              <a:t>:\n");</a:t>
            </a:r>
          </a:p>
          <a:p>
            <a:pPr>
              <a:buNone/>
            </a:pPr>
            <a:r>
              <a:rPr lang="en-IN" sz="1400" dirty="0"/>
              <a:t>    	for(i = 0; </a:t>
            </a:r>
            <a:r>
              <a:rPr lang="en-IN" sz="1400" dirty="0" err="1"/>
              <a:t>i</a:t>
            </a:r>
            <a:r>
              <a:rPr lang="en-IN" sz="1400" dirty="0"/>
              <a:t>&lt;n; i++)</a:t>
            </a:r>
          </a:p>
          <a:p>
            <a:pPr>
              <a:buNone/>
            </a:pPr>
            <a:r>
              <a:rPr lang="en-IN" sz="1400" dirty="0"/>
              <a:t>     		 </a:t>
            </a:r>
            <a:r>
              <a:rPr lang="en-IN" sz="1400" dirty="0" err="1"/>
              <a:t>printf</a:t>
            </a:r>
            <a:r>
              <a:rPr lang="en-IN" sz="1400" dirty="0"/>
              <a:t>("%d\t", </a:t>
            </a:r>
            <a:r>
              <a:rPr lang="en-IN" sz="1400" dirty="0" err="1"/>
              <a:t>arr</a:t>
            </a:r>
            <a:r>
              <a:rPr lang="en-IN" sz="1400" dirty="0"/>
              <a:t>[</a:t>
            </a:r>
            <a:r>
              <a:rPr lang="en-IN" sz="1400" dirty="0" err="1"/>
              <a:t>i</a:t>
            </a:r>
            <a:r>
              <a:rPr lang="en-IN" sz="1400" dirty="0"/>
              <a:t>]);</a:t>
            </a:r>
          </a:p>
          <a:p>
            <a:pPr>
              <a:buNone/>
            </a:pPr>
            <a:r>
              <a:rPr lang="en-IN" sz="1400" dirty="0"/>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accent2">
                    <a:lumMod val="75000"/>
                  </a:schemeClr>
                </a:solidFill>
              </a:rPr>
              <a:t>Bound Checking</a:t>
            </a:r>
          </a:p>
        </p:txBody>
      </p:sp>
      <p:sp>
        <p:nvSpPr>
          <p:cNvPr id="3" name="Content Placeholder 2"/>
          <p:cNvSpPr>
            <a:spLocks noGrp="1"/>
          </p:cNvSpPr>
          <p:nvPr>
            <p:ph idx="1"/>
          </p:nvPr>
        </p:nvSpPr>
        <p:spPr/>
        <p:txBody>
          <a:bodyPr/>
          <a:lstStyle/>
          <a:p>
            <a:r>
              <a:rPr lang="en-IN" dirty="0"/>
              <a:t>C compiler </a:t>
            </a:r>
            <a:r>
              <a:rPr lang="en-IN" b="1" dirty="0"/>
              <a:t>does not check </a:t>
            </a:r>
            <a:r>
              <a:rPr lang="en-IN" dirty="0"/>
              <a:t>if the subscript used for an </a:t>
            </a:r>
            <a:r>
              <a:rPr lang="en-IN" dirty="0">
                <a:solidFill>
                  <a:srgbClr val="FF0000"/>
                </a:solidFill>
              </a:rPr>
              <a:t>array exceeds the size of the array</a:t>
            </a:r>
            <a:r>
              <a:rPr lang="en-IN" dirty="0"/>
              <a:t>.</a:t>
            </a:r>
          </a:p>
          <a:p>
            <a:r>
              <a:rPr lang="en-IN" dirty="0"/>
              <a:t>The compiler gives no error message if the user reach beyond the array size.</a:t>
            </a:r>
          </a:p>
          <a:p>
            <a:r>
              <a:rPr lang="en-IN" dirty="0"/>
              <a:t>It is the </a:t>
            </a:r>
            <a:r>
              <a:rPr lang="en-IN" b="1" dirty="0">
                <a:solidFill>
                  <a:srgbClr val="FF0000"/>
                </a:solidFill>
              </a:rPr>
              <a:t>responsibility</a:t>
            </a:r>
            <a:r>
              <a:rPr lang="en-IN" dirty="0"/>
              <a:t> of the </a:t>
            </a:r>
            <a:r>
              <a:rPr lang="en-IN" b="1" dirty="0">
                <a:solidFill>
                  <a:srgbClr val="FF0000"/>
                </a:solidFill>
              </a:rPr>
              <a:t>programmer</a:t>
            </a:r>
            <a:r>
              <a:rPr lang="en-IN" dirty="0"/>
              <a:t> to use array index </a:t>
            </a:r>
            <a:r>
              <a:rPr lang="en-IN" b="1" dirty="0">
                <a:solidFill>
                  <a:srgbClr val="FF0000"/>
                </a:solidFill>
              </a:rPr>
              <a:t>0 to n-1 </a:t>
            </a:r>
            <a:r>
              <a:rPr lang="en-IN" dirty="0"/>
              <a:t>if the size of array is n.</a:t>
            </a:r>
          </a:p>
          <a:p>
            <a:r>
              <a:rPr lang="en-IN" dirty="0"/>
              <a:t>C compiler does not </a:t>
            </a:r>
            <a:r>
              <a:rPr lang="en-IN" b="1" dirty="0">
                <a:solidFill>
                  <a:srgbClr val="FF0000"/>
                </a:solidFill>
              </a:rPr>
              <a:t>have bound checking</a:t>
            </a:r>
            <a:r>
              <a:rPr lang="en-IN" dirty="0"/>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IN" b="1" dirty="0">
                <a:solidFill>
                  <a:srgbClr val="FF0000"/>
                </a:solidFill>
              </a:rPr>
              <a:t>Linear Search</a:t>
            </a:r>
          </a:p>
        </p:txBody>
      </p:sp>
      <p:sp>
        <p:nvSpPr>
          <p:cNvPr id="3" name="Content Placeholder 2"/>
          <p:cNvSpPr>
            <a:spLocks noGrp="1"/>
          </p:cNvSpPr>
          <p:nvPr>
            <p:ph idx="1"/>
          </p:nvPr>
        </p:nvSpPr>
        <p:spPr>
          <a:xfrm>
            <a:off x="457200" y="1143000"/>
            <a:ext cx="8229600" cy="4983163"/>
          </a:xfrm>
        </p:spPr>
        <p:txBody>
          <a:bodyPr/>
          <a:lstStyle/>
          <a:p>
            <a:r>
              <a:rPr lang="en-US" dirty="0"/>
              <a:t>Here we start searching the element from the </a:t>
            </a:r>
            <a:r>
              <a:rPr lang="en-US" b="1" dirty="0">
                <a:solidFill>
                  <a:srgbClr val="FF0000"/>
                </a:solidFill>
              </a:rPr>
              <a:t>beginning of the array </a:t>
            </a:r>
            <a:r>
              <a:rPr lang="en-US" dirty="0"/>
              <a:t>until we </a:t>
            </a:r>
            <a:r>
              <a:rPr lang="en-US" b="1" dirty="0">
                <a:solidFill>
                  <a:srgbClr val="FF0000"/>
                </a:solidFill>
              </a:rPr>
              <a:t>found the element </a:t>
            </a:r>
            <a:r>
              <a:rPr lang="en-US" dirty="0"/>
              <a:t>or reached to the </a:t>
            </a:r>
            <a:r>
              <a:rPr lang="en-US" b="1" dirty="0">
                <a:solidFill>
                  <a:srgbClr val="FF0000"/>
                </a:solidFill>
              </a:rPr>
              <a:t>end of the array</a:t>
            </a:r>
            <a:r>
              <a:rPr lang="en-US" dirty="0"/>
              <a:t>. If we have reached to </a:t>
            </a:r>
            <a:r>
              <a:rPr lang="en-US" b="1" dirty="0">
                <a:solidFill>
                  <a:srgbClr val="FF0000"/>
                </a:solidFill>
              </a:rPr>
              <a:t>end of the array</a:t>
            </a:r>
            <a:r>
              <a:rPr lang="en-US" dirty="0"/>
              <a:t>, then we conclude that the </a:t>
            </a:r>
            <a:r>
              <a:rPr lang="en-US" b="1" dirty="0">
                <a:solidFill>
                  <a:srgbClr val="FF0000"/>
                </a:solidFill>
              </a:rPr>
              <a:t>element is not found </a:t>
            </a:r>
            <a:r>
              <a:rPr lang="en-US" dirty="0"/>
              <a:t>in the array and we stop. </a:t>
            </a:r>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059363"/>
          </a:xfrm>
        </p:spPr>
        <p:txBody>
          <a:bodyPr/>
          <a:lstStyle/>
          <a:p>
            <a:endParaRPr lang="en-IN" dirty="0"/>
          </a:p>
        </p:txBody>
      </p:sp>
      <p:sp>
        <p:nvSpPr>
          <p:cNvPr id="4" name="TextBox 3"/>
          <p:cNvSpPr txBox="1"/>
          <p:nvPr/>
        </p:nvSpPr>
        <p:spPr>
          <a:xfrm>
            <a:off x="762000" y="1524000"/>
            <a:ext cx="7848600" cy="2800767"/>
          </a:xfrm>
          <a:prstGeom prst="rect">
            <a:avLst/>
          </a:prstGeom>
          <a:solidFill>
            <a:schemeClr val="bg1">
              <a:lumMod val="85000"/>
            </a:schemeClr>
          </a:solidFill>
        </p:spPr>
        <p:txBody>
          <a:bodyPr wrap="square" rtlCol="0">
            <a:spAutoFit/>
          </a:bodyPr>
          <a:lstStyle/>
          <a:p>
            <a:pPr marL="228600" indent="-228600"/>
            <a:r>
              <a:rPr lang="en-IN" sz="1600" dirty="0"/>
              <a:t>Enter number of elements</a:t>
            </a:r>
          </a:p>
          <a:p>
            <a:pPr marL="228600" indent="-228600"/>
            <a:r>
              <a:rPr lang="en-IN" sz="1600" dirty="0"/>
              <a:t>6</a:t>
            </a:r>
          </a:p>
          <a:p>
            <a:pPr marL="228600" indent="-228600"/>
            <a:r>
              <a:rPr lang="en-IN" sz="1600" dirty="0"/>
              <a:t>Enter the elements 60</a:t>
            </a:r>
          </a:p>
          <a:p>
            <a:pPr marL="228600" indent="-228600"/>
            <a:r>
              <a:rPr lang="en-IN" sz="1600" dirty="0"/>
              <a:t>Enter the elements 70</a:t>
            </a:r>
          </a:p>
          <a:p>
            <a:pPr marL="228600" indent="-228600"/>
            <a:r>
              <a:rPr lang="en-IN" sz="1600" dirty="0"/>
              <a:t>Enter the elements 90</a:t>
            </a:r>
          </a:p>
          <a:p>
            <a:pPr marL="228600" indent="-228600"/>
            <a:r>
              <a:rPr lang="en-IN" sz="1600" dirty="0"/>
              <a:t>Enter the elements 95</a:t>
            </a:r>
          </a:p>
          <a:p>
            <a:pPr marL="228600" indent="-228600"/>
            <a:r>
              <a:rPr lang="en-IN" sz="1600" dirty="0"/>
              <a:t>Enter the elements90</a:t>
            </a:r>
          </a:p>
          <a:p>
            <a:pPr marL="228600" indent="-228600"/>
            <a:r>
              <a:rPr lang="en-IN" sz="1600" dirty="0"/>
              <a:t>Enter the element 65</a:t>
            </a:r>
          </a:p>
          <a:p>
            <a:pPr marL="228600" indent="-228600"/>
            <a:r>
              <a:rPr lang="en-IN" sz="1600" dirty="0"/>
              <a:t>Enter the elements to search 90</a:t>
            </a:r>
          </a:p>
          <a:p>
            <a:pPr marL="228600" indent="-228600"/>
            <a:r>
              <a:rPr lang="en-IN" sz="1600" dirty="0"/>
              <a:t>Elements Entered are: 60	70	90	95	90 	65</a:t>
            </a:r>
          </a:p>
          <a:p>
            <a:pPr marL="228600" indent="-228600"/>
            <a:r>
              <a:rPr lang="en-IN" sz="1600" dirty="0"/>
              <a:t>Element 95    is found at 4 position</a:t>
            </a:r>
          </a:p>
        </p:txBody>
      </p:sp>
      <p:sp>
        <p:nvSpPr>
          <p:cNvPr id="5" name="TextBox 4"/>
          <p:cNvSpPr txBox="1"/>
          <p:nvPr/>
        </p:nvSpPr>
        <p:spPr>
          <a:xfrm>
            <a:off x="914400" y="1219200"/>
            <a:ext cx="990600" cy="369332"/>
          </a:xfrm>
          <a:prstGeom prst="rect">
            <a:avLst/>
          </a:prstGeom>
          <a:noFill/>
        </p:spPr>
        <p:txBody>
          <a:bodyPr wrap="square" rtlCol="0">
            <a:spAutoFit/>
          </a:bodyPr>
          <a:lstStyle/>
          <a:p>
            <a:r>
              <a:rPr lang="en-IN" b="1" dirty="0"/>
              <a:t>output</a:t>
            </a:r>
          </a:p>
        </p:txBody>
      </p:sp>
      <p:sp>
        <p:nvSpPr>
          <p:cNvPr id="6" name="Title 1"/>
          <p:cNvSpPr>
            <a:spLocks noGrp="1"/>
          </p:cNvSpPr>
          <p:nvPr>
            <p:ph type="title"/>
          </p:nvPr>
        </p:nvSpPr>
        <p:spPr>
          <a:xfrm>
            <a:off x="457200" y="274638"/>
            <a:ext cx="8229600" cy="792162"/>
          </a:xfrm>
        </p:spPr>
        <p:txBody>
          <a:bodyPr>
            <a:normAutofit/>
          </a:bodyPr>
          <a:lstStyle/>
          <a:p>
            <a:r>
              <a:rPr lang="en-IN" b="1" dirty="0">
                <a:solidFill>
                  <a:srgbClr val="FF0000"/>
                </a:solidFill>
              </a:rPr>
              <a:t>Linear Search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58762"/>
          </a:xfrm>
        </p:spPr>
        <p:txBody>
          <a:bodyPr>
            <a:normAutofit fontScale="90000"/>
          </a:bodyPr>
          <a:lstStyle/>
          <a:p>
            <a:endParaRPr lang="en-IN" dirty="0"/>
          </a:p>
        </p:txBody>
      </p:sp>
      <p:sp>
        <p:nvSpPr>
          <p:cNvPr id="3" name="Content Placeholder 2"/>
          <p:cNvSpPr>
            <a:spLocks noGrp="1"/>
          </p:cNvSpPr>
          <p:nvPr>
            <p:ph idx="1"/>
          </p:nvPr>
        </p:nvSpPr>
        <p:spPr>
          <a:xfrm>
            <a:off x="304800" y="518160"/>
            <a:ext cx="8229600" cy="6324600"/>
          </a:xfrm>
        </p:spPr>
        <p:txBody>
          <a:bodyPr>
            <a:noAutofit/>
          </a:bodyPr>
          <a:lstStyle/>
          <a:p>
            <a:pPr>
              <a:buNone/>
            </a:pPr>
            <a:r>
              <a:rPr lang="en-IN" sz="1100" dirty="0"/>
              <a:t>#include&lt;</a:t>
            </a:r>
            <a:r>
              <a:rPr lang="en-IN" sz="1100" dirty="0" err="1"/>
              <a:t>stdio.h</a:t>
            </a:r>
            <a:r>
              <a:rPr lang="en-IN" sz="1100" dirty="0"/>
              <a:t>&gt;</a:t>
            </a:r>
          </a:p>
          <a:p>
            <a:pPr>
              <a:buNone/>
            </a:pPr>
            <a:r>
              <a:rPr lang="en-IN" sz="1100" dirty="0"/>
              <a:t>main()</a:t>
            </a:r>
          </a:p>
          <a:p>
            <a:pPr>
              <a:buNone/>
            </a:pPr>
            <a:r>
              <a:rPr lang="en-IN" sz="1100" dirty="0"/>
              <a:t>{</a:t>
            </a:r>
          </a:p>
          <a:p>
            <a:pPr>
              <a:buNone/>
            </a:pPr>
            <a:r>
              <a:rPr lang="en-IN" sz="1100" dirty="0"/>
              <a:t>	</a:t>
            </a:r>
            <a:r>
              <a:rPr lang="en-IN" sz="1100" dirty="0" err="1"/>
              <a:t>int</a:t>
            </a:r>
            <a:r>
              <a:rPr lang="en-IN" sz="1100" dirty="0"/>
              <a:t> </a:t>
            </a:r>
            <a:r>
              <a:rPr lang="en-IN" sz="1100" dirty="0" err="1"/>
              <a:t>arr</a:t>
            </a:r>
            <a:r>
              <a:rPr lang="en-IN" sz="1100" dirty="0"/>
              <a:t>[100],i, n, key;</a:t>
            </a:r>
          </a:p>
          <a:p>
            <a:pPr>
              <a:buNone/>
            </a:pPr>
            <a:r>
              <a:rPr lang="en-IN" sz="1100" dirty="0"/>
              <a:t>	</a:t>
            </a:r>
            <a:r>
              <a:rPr lang="en-IN" sz="1100" dirty="0" err="1"/>
              <a:t>printf</a:t>
            </a:r>
            <a:r>
              <a:rPr lang="en-IN" sz="1100" dirty="0"/>
              <a:t>(“Enter number of elements”);</a:t>
            </a:r>
          </a:p>
          <a:p>
            <a:pPr>
              <a:buNone/>
            </a:pPr>
            <a:r>
              <a:rPr lang="en-IN" sz="1100" dirty="0"/>
              <a:t>	</a:t>
            </a:r>
            <a:r>
              <a:rPr lang="en-IN" sz="1100" dirty="0" err="1"/>
              <a:t>scanf</a:t>
            </a:r>
            <a:r>
              <a:rPr lang="en-IN" sz="1100" dirty="0"/>
              <a:t>(“%</a:t>
            </a:r>
            <a:r>
              <a:rPr lang="en-IN" sz="1100" dirty="0" err="1"/>
              <a:t>d”,&amp;n</a:t>
            </a:r>
            <a:r>
              <a:rPr lang="en-IN" sz="1100" dirty="0"/>
              <a:t>);</a:t>
            </a:r>
          </a:p>
          <a:p>
            <a:pPr>
              <a:buNone/>
            </a:pPr>
            <a:r>
              <a:rPr lang="en-IN" sz="1100" dirty="0"/>
              <a:t>   	for(i = 0; i&lt;n; i++)</a:t>
            </a:r>
          </a:p>
          <a:p>
            <a:pPr>
              <a:buNone/>
            </a:pPr>
            <a:r>
              <a:rPr lang="en-IN" sz="1100" dirty="0"/>
              <a:t>   	 {</a:t>
            </a:r>
          </a:p>
          <a:p>
            <a:pPr>
              <a:buNone/>
            </a:pPr>
            <a:r>
              <a:rPr lang="en-IN" sz="1100" dirty="0"/>
              <a:t>        		</a:t>
            </a:r>
            <a:r>
              <a:rPr lang="en-IN" sz="1100" dirty="0" err="1"/>
              <a:t>printf</a:t>
            </a:r>
            <a:r>
              <a:rPr lang="en-IN" sz="1100" dirty="0"/>
              <a:t>("Enter the elements");</a:t>
            </a:r>
          </a:p>
          <a:p>
            <a:pPr>
              <a:buNone/>
            </a:pPr>
            <a:r>
              <a:rPr lang="en-IN" sz="1100" dirty="0"/>
              <a:t>       		 </a:t>
            </a:r>
            <a:r>
              <a:rPr lang="en-IN" sz="1100" dirty="0" err="1"/>
              <a:t>scanf</a:t>
            </a:r>
            <a:r>
              <a:rPr lang="en-IN" sz="1100" dirty="0"/>
              <a:t>("%</a:t>
            </a:r>
            <a:r>
              <a:rPr lang="en-IN" sz="1100" dirty="0" err="1"/>
              <a:t>d",&amp;arr</a:t>
            </a:r>
            <a:r>
              <a:rPr lang="en-IN" sz="1100" dirty="0"/>
              <a:t>[i]);</a:t>
            </a:r>
          </a:p>
          <a:p>
            <a:pPr>
              <a:buNone/>
            </a:pPr>
            <a:r>
              <a:rPr lang="en-IN" sz="1100" dirty="0"/>
              <a:t>    	}</a:t>
            </a:r>
          </a:p>
          <a:p>
            <a:pPr>
              <a:buNone/>
            </a:pPr>
            <a:r>
              <a:rPr lang="en-IN" sz="1100" dirty="0"/>
              <a:t>	</a:t>
            </a:r>
            <a:r>
              <a:rPr lang="en-IN" sz="1100" dirty="0" err="1"/>
              <a:t>printf</a:t>
            </a:r>
            <a:r>
              <a:rPr lang="en-IN" sz="1100" dirty="0"/>
              <a:t>(“Enter the elements to search");</a:t>
            </a:r>
          </a:p>
          <a:p>
            <a:pPr>
              <a:buNone/>
            </a:pPr>
            <a:r>
              <a:rPr lang="en-IN" sz="1100" dirty="0"/>
              <a:t>	</a:t>
            </a:r>
            <a:r>
              <a:rPr lang="en-IN" sz="1100" dirty="0" err="1"/>
              <a:t>scanf</a:t>
            </a:r>
            <a:r>
              <a:rPr lang="en-IN" sz="1100" dirty="0"/>
              <a:t>(“%</a:t>
            </a:r>
            <a:r>
              <a:rPr lang="en-IN" sz="1100" dirty="0" err="1"/>
              <a:t>d”,&amp;key</a:t>
            </a:r>
            <a:r>
              <a:rPr lang="en-IN" sz="1100" dirty="0"/>
              <a:t>);</a:t>
            </a:r>
          </a:p>
          <a:p>
            <a:pPr>
              <a:buNone/>
            </a:pPr>
            <a:r>
              <a:rPr lang="en-IN" sz="1100" dirty="0"/>
              <a:t>	</a:t>
            </a:r>
            <a:r>
              <a:rPr lang="en-IN" sz="1100" dirty="0" err="1"/>
              <a:t>printf</a:t>
            </a:r>
            <a:r>
              <a:rPr lang="en-IN" sz="1100" dirty="0"/>
              <a:t>(“Elements entered are \t:");</a:t>
            </a:r>
          </a:p>
          <a:p>
            <a:pPr>
              <a:buNone/>
            </a:pPr>
            <a:r>
              <a:rPr lang="en-IN" sz="1100" dirty="0"/>
              <a:t>	for(i = 0; i&lt;n; i++)</a:t>
            </a:r>
          </a:p>
          <a:p>
            <a:pPr>
              <a:buNone/>
            </a:pPr>
            <a:r>
              <a:rPr lang="en-IN" sz="1100" dirty="0"/>
              <a:t>   	 {</a:t>
            </a:r>
          </a:p>
          <a:p>
            <a:pPr>
              <a:buNone/>
            </a:pPr>
            <a:r>
              <a:rPr lang="en-IN" sz="1100" dirty="0"/>
              <a:t>        		</a:t>
            </a:r>
            <a:r>
              <a:rPr lang="en-IN" sz="1100" dirty="0" err="1"/>
              <a:t>printf</a:t>
            </a:r>
            <a:r>
              <a:rPr lang="en-IN" sz="1100" dirty="0"/>
              <a:t>("%d\</a:t>
            </a:r>
            <a:r>
              <a:rPr lang="en-IN" sz="1100" dirty="0" err="1"/>
              <a:t>t",arr</a:t>
            </a:r>
            <a:r>
              <a:rPr lang="en-IN" sz="1100" dirty="0"/>
              <a:t>[i]);</a:t>
            </a:r>
          </a:p>
          <a:p>
            <a:pPr>
              <a:buNone/>
            </a:pPr>
            <a:r>
              <a:rPr lang="en-IN" sz="1100" dirty="0"/>
              <a:t>    	}</a:t>
            </a:r>
          </a:p>
          <a:p>
            <a:pPr>
              <a:buNone/>
            </a:pPr>
            <a:r>
              <a:rPr lang="en-IN" sz="1100" dirty="0"/>
              <a:t>    	for(i = 0; i&lt;n; i++)</a:t>
            </a:r>
          </a:p>
          <a:p>
            <a:pPr>
              <a:buNone/>
            </a:pPr>
            <a:r>
              <a:rPr lang="en-IN" sz="1100" dirty="0"/>
              <a:t>	{</a:t>
            </a:r>
          </a:p>
          <a:p>
            <a:pPr>
              <a:buNone/>
            </a:pPr>
            <a:r>
              <a:rPr lang="en-IN" sz="1100" dirty="0"/>
              <a:t>		if (a[i] ==key)</a:t>
            </a:r>
          </a:p>
          <a:p>
            <a:pPr>
              <a:buNone/>
            </a:pPr>
            <a:r>
              <a:rPr lang="en-IN" sz="1100" dirty="0"/>
              <a:t>		{</a:t>
            </a:r>
          </a:p>
          <a:p>
            <a:pPr>
              <a:buNone/>
            </a:pPr>
            <a:r>
              <a:rPr lang="en-IN" sz="1100" dirty="0"/>
              <a:t>			</a:t>
            </a:r>
            <a:r>
              <a:rPr lang="en-IN" sz="1100" dirty="0" err="1"/>
              <a:t>printf</a:t>
            </a:r>
            <a:r>
              <a:rPr lang="en-IN" sz="1100" dirty="0"/>
              <a:t>(“Element  %d is at found at %d”,key,i+1);</a:t>
            </a:r>
          </a:p>
          <a:p>
            <a:pPr>
              <a:buNone/>
            </a:pPr>
            <a:r>
              <a:rPr lang="en-IN" sz="1100" dirty="0"/>
              <a:t>			break;</a:t>
            </a:r>
          </a:p>
          <a:p>
            <a:pPr>
              <a:buNone/>
            </a:pPr>
            <a:r>
              <a:rPr lang="en-IN" sz="1100" dirty="0"/>
              <a:t>		}</a:t>
            </a:r>
          </a:p>
          <a:p>
            <a:pPr>
              <a:buNone/>
            </a:pPr>
            <a:r>
              <a:rPr lang="en-IN" sz="1100" dirty="0"/>
              <a:t>	  }   </a:t>
            </a:r>
          </a:p>
          <a:p>
            <a:pPr>
              <a:buNone/>
            </a:pPr>
            <a:r>
              <a:rPr lang="en-IN" sz="1100" dirty="0"/>
              <a:t>	if(i == n)</a:t>
            </a:r>
          </a:p>
          <a:p>
            <a:pPr>
              <a:buNone/>
            </a:pPr>
            <a:r>
              <a:rPr lang="en-IN" sz="1100" dirty="0"/>
              <a:t>		 </a:t>
            </a:r>
            <a:r>
              <a:rPr lang="en-IN" sz="1100" dirty="0" err="1"/>
              <a:t>printf</a:t>
            </a:r>
            <a:r>
              <a:rPr lang="en-IN" sz="1100" dirty="0"/>
              <a:t>(“Element  %d is not found “,key); 	 	</a:t>
            </a:r>
          </a:p>
          <a:p>
            <a:pPr>
              <a:buNone/>
            </a:pPr>
            <a:r>
              <a:rPr lang="en-IN" sz="1100" dirty="0"/>
              <a:t>    </a:t>
            </a:r>
          </a:p>
          <a:p>
            <a:pPr>
              <a:buNone/>
            </a:pPr>
            <a:r>
              <a:rPr lang="en-IN" sz="1100" dirty="0"/>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IN" dirty="0"/>
              <a:t>Example</a:t>
            </a:r>
          </a:p>
        </p:txBody>
      </p:sp>
      <p:sp>
        <p:nvSpPr>
          <p:cNvPr id="3" name="Content Placeholder 2"/>
          <p:cNvSpPr>
            <a:spLocks noGrp="1"/>
          </p:cNvSpPr>
          <p:nvPr>
            <p:ph idx="1"/>
          </p:nvPr>
        </p:nvSpPr>
        <p:spPr>
          <a:xfrm>
            <a:off x="228600" y="990600"/>
            <a:ext cx="8458200" cy="5135563"/>
          </a:xfrm>
        </p:spPr>
        <p:txBody>
          <a:bodyPr/>
          <a:lstStyle/>
          <a:p>
            <a:r>
              <a:rPr lang="en-IN" dirty="0"/>
              <a:t>Write a program to reverse elements of the array using Another Array.</a:t>
            </a:r>
          </a:p>
        </p:txBody>
      </p:sp>
      <p:sp>
        <p:nvSpPr>
          <p:cNvPr id="4" name="TextBox 3"/>
          <p:cNvSpPr txBox="1"/>
          <p:nvPr/>
        </p:nvSpPr>
        <p:spPr>
          <a:xfrm>
            <a:off x="609600" y="3200400"/>
            <a:ext cx="7543800" cy="1323439"/>
          </a:xfrm>
          <a:prstGeom prst="rect">
            <a:avLst/>
          </a:prstGeom>
          <a:solidFill>
            <a:schemeClr val="bg1">
              <a:lumMod val="85000"/>
            </a:schemeClr>
          </a:solidFill>
        </p:spPr>
        <p:txBody>
          <a:bodyPr wrap="square" rtlCol="0">
            <a:spAutoFit/>
          </a:bodyPr>
          <a:lstStyle/>
          <a:p>
            <a:pPr marL="228600" indent="-228600"/>
            <a:r>
              <a:rPr lang="en-IN" sz="1600" dirty="0"/>
              <a:t>Enter number of elements</a:t>
            </a:r>
          </a:p>
          <a:p>
            <a:pPr marL="228600" indent="-228600"/>
            <a:r>
              <a:rPr lang="en-IN" sz="1600" dirty="0"/>
              <a:t>5</a:t>
            </a:r>
          </a:p>
          <a:p>
            <a:pPr marL="228600" indent="-228600"/>
            <a:r>
              <a:rPr lang="en-IN" sz="1600" dirty="0"/>
              <a:t>Enter the elements 60 70 90 95 82</a:t>
            </a:r>
          </a:p>
          <a:p>
            <a:pPr marL="228600" indent="-228600"/>
            <a:r>
              <a:rPr lang="en-IN" sz="1600" dirty="0"/>
              <a:t>Elements of Array: 60		70	90	95	82</a:t>
            </a:r>
          </a:p>
          <a:p>
            <a:pPr marL="228600" indent="-228600"/>
            <a:r>
              <a:rPr lang="en-IN" sz="1600" dirty="0"/>
              <a:t>Elements of Array After Reverse: 82	95	90	70	60</a:t>
            </a:r>
          </a:p>
        </p:txBody>
      </p:sp>
      <p:sp>
        <p:nvSpPr>
          <p:cNvPr id="5" name="TextBox 4"/>
          <p:cNvSpPr txBox="1"/>
          <p:nvPr/>
        </p:nvSpPr>
        <p:spPr>
          <a:xfrm>
            <a:off x="609600" y="2286000"/>
            <a:ext cx="990600" cy="369332"/>
          </a:xfrm>
          <a:prstGeom prst="rect">
            <a:avLst/>
          </a:prstGeom>
          <a:noFill/>
        </p:spPr>
        <p:txBody>
          <a:bodyPr wrap="square" rtlCol="0">
            <a:spAutoFit/>
          </a:bodyPr>
          <a:lstStyle/>
          <a:p>
            <a:r>
              <a:rPr lang="en-IN" b="1" dirty="0"/>
              <a:t>output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sp>
        <p:nvSpPr>
          <p:cNvPr id="4" name="Rectangle 3"/>
          <p:cNvSpPr/>
          <p:nvPr/>
        </p:nvSpPr>
        <p:spPr>
          <a:xfrm>
            <a:off x="1524000" y="2362200"/>
            <a:ext cx="5638800" cy="230832"/>
          </a:xfrm>
          <a:prstGeom prst="rect">
            <a:avLst/>
          </a:prstGeom>
        </p:spPr>
        <p:txBody>
          <a:bodyPr wrap="square">
            <a:spAutoFit/>
          </a:bodyPr>
          <a:lstStyle/>
          <a:p>
            <a:r>
              <a:rPr lang="en-US" sz="900" b="1" dirty="0">
                <a:solidFill>
                  <a:srgbClr val="FF0000"/>
                </a:solidFill>
                <a:latin typeface="Arial" pitchFamily="34" charset="0"/>
                <a:ea typeface="Calibri" pitchFamily="34" charset="0"/>
                <a:cs typeface="Arial" pitchFamily="34" charset="0"/>
              </a:rPr>
              <a:t>       </a:t>
            </a:r>
            <a:r>
              <a:rPr lang="en-US" sz="900" b="1" dirty="0">
                <a:solidFill>
                  <a:schemeClr val="accent2">
                    <a:lumMod val="75000"/>
                  </a:schemeClr>
                </a:solidFill>
                <a:latin typeface="Arial" pitchFamily="34" charset="0"/>
                <a:ea typeface="Calibri" pitchFamily="34" charset="0"/>
                <a:cs typeface="Arial" pitchFamily="34" charset="0"/>
              </a:rPr>
              <a:t>arr1[0]             arr1[1]                arr1[2]            arr1[3]           arr1[4]                    	 </a:t>
            </a:r>
            <a:endParaRPr lang="en-IN" sz="900" b="1" dirty="0">
              <a:solidFill>
                <a:schemeClr val="accent2">
                  <a:lumMod val="75000"/>
                </a:schemeClr>
              </a:solidFill>
            </a:endParaRPr>
          </a:p>
        </p:txBody>
      </p:sp>
      <p:sp>
        <p:nvSpPr>
          <p:cNvPr id="5" name="TextBox 4"/>
          <p:cNvSpPr txBox="1"/>
          <p:nvPr/>
        </p:nvSpPr>
        <p:spPr>
          <a:xfrm>
            <a:off x="685800" y="2373868"/>
            <a:ext cx="457200" cy="276999"/>
          </a:xfrm>
          <a:prstGeom prst="rect">
            <a:avLst/>
          </a:prstGeom>
          <a:noFill/>
        </p:spPr>
        <p:txBody>
          <a:bodyPr wrap="square" rtlCol="0">
            <a:spAutoFit/>
          </a:bodyPr>
          <a:lstStyle/>
          <a:p>
            <a:r>
              <a:rPr lang="en-IN" sz="1200" dirty="0"/>
              <a:t>arr1</a:t>
            </a:r>
          </a:p>
        </p:txBody>
      </p:sp>
      <p:graphicFrame>
        <p:nvGraphicFramePr>
          <p:cNvPr id="6" name="Content Placeholder 6"/>
          <p:cNvGraphicFramePr>
            <a:graphicFrameLocks/>
          </p:cNvGraphicFramePr>
          <p:nvPr/>
        </p:nvGraphicFramePr>
        <p:xfrm>
          <a:off x="1524002" y="2721864"/>
          <a:ext cx="4039264" cy="318897"/>
        </p:xfrm>
        <a:graphic>
          <a:graphicData uri="http://schemas.openxmlformats.org/drawingml/2006/table">
            <a:tbl>
              <a:tblPr/>
              <a:tblGrid>
                <a:gridCol w="797861">
                  <a:extLst>
                    <a:ext uri="{9D8B030D-6E8A-4147-A177-3AD203B41FA5}">
                      <a16:colId xmlns:a16="http://schemas.microsoft.com/office/drawing/2014/main" val="20000"/>
                    </a:ext>
                  </a:extLst>
                </a:gridCol>
                <a:gridCol w="728801">
                  <a:extLst>
                    <a:ext uri="{9D8B030D-6E8A-4147-A177-3AD203B41FA5}">
                      <a16:colId xmlns:a16="http://schemas.microsoft.com/office/drawing/2014/main" val="20001"/>
                    </a:ext>
                  </a:extLst>
                </a:gridCol>
                <a:gridCol w="837534">
                  <a:extLst>
                    <a:ext uri="{9D8B030D-6E8A-4147-A177-3AD203B41FA5}">
                      <a16:colId xmlns:a16="http://schemas.microsoft.com/office/drawing/2014/main" val="20002"/>
                    </a:ext>
                  </a:extLst>
                </a:gridCol>
                <a:gridCol w="837534">
                  <a:extLst>
                    <a:ext uri="{9D8B030D-6E8A-4147-A177-3AD203B41FA5}">
                      <a16:colId xmlns:a16="http://schemas.microsoft.com/office/drawing/2014/main" val="20003"/>
                    </a:ext>
                  </a:extLst>
                </a:gridCol>
                <a:gridCol w="837534">
                  <a:extLst>
                    <a:ext uri="{9D8B030D-6E8A-4147-A177-3AD203B41FA5}">
                      <a16:colId xmlns:a16="http://schemas.microsoft.com/office/drawing/2014/main" val="20004"/>
                    </a:ext>
                  </a:extLst>
                </a:gridCol>
              </a:tblGrid>
              <a:tr h="0">
                <a:tc>
                  <a:txBody>
                    <a:bodyPr/>
                    <a:lstStyle/>
                    <a:p>
                      <a:pPr marL="457200" indent="270510" algn="ctr">
                        <a:lnSpc>
                          <a:spcPct val="107000"/>
                        </a:lnSpc>
                        <a:spcAft>
                          <a:spcPts val="0"/>
                        </a:spcAft>
                      </a:pPr>
                      <a:r>
                        <a:rPr lang="en-US" sz="1000" dirty="0">
                          <a:latin typeface="Calibri"/>
                          <a:ea typeface="Calibri"/>
                          <a:cs typeface="Times New Roman"/>
                        </a:rPr>
                        <a:t>160</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indent="232410" algn="ctr">
                        <a:lnSpc>
                          <a:spcPct val="107000"/>
                        </a:lnSpc>
                        <a:spcAft>
                          <a:spcPts val="0"/>
                        </a:spcAft>
                      </a:pPr>
                      <a:r>
                        <a:rPr lang="en-US" sz="1000" dirty="0">
                          <a:latin typeface="Calibri"/>
                          <a:ea typeface="Calibri"/>
                          <a:cs typeface="Times New Roman"/>
                        </a:rPr>
                        <a:t>270</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indent="322580" algn="ctr">
                        <a:lnSpc>
                          <a:spcPct val="107000"/>
                        </a:lnSpc>
                        <a:spcAft>
                          <a:spcPts val="0"/>
                        </a:spcAft>
                      </a:pPr>
                      <a:r>
                        <a:rPr lang="en-US" sz="1000" dirty="0">
                          <a:latin typeface="Calibri"/>
                          <a:ea typeface="Calibri"/>
                          <a:cs typeface="Times New Roman"/>
                        </a:rPr>
                        <a:t>390</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indent="322580" algn="ctr">
                        <a:lnSpc>
                          <a:spcPct val="107000"/>
                        </a:lnSpc>
                        <a:spcAft>
                          <a:spcPts val="0"/>
                        </a:spcAft>
                      </a:pPr>
                      <a:r>
                        <a:rPr lang="en-US" sz="1000" dirty="0">
                          <a:latin typeface="Calibri"/>
                          <a:ea typeface="Calibri"/>
                          <a:cs typeface="Times New Roman"/>
                        </a:rPr>
                        <a:t>495</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indent="322580" algn="ctr">
                        <a:lnSpc>
                          <a:spcPct val="107000"/>
                        </a:lnSpc>
                        <a:spcAft>
                          <a:spcPts val="0"/>
                        </a:spcAft>
                      </a:pPr>
                      <a:r>
                        <a:rPr lang="en-US" sz="1000" dirty="0">
                          <a:latin typeface="Calibri"/>
                          <a:ea typeface="Calibri"/>
                          <a:cs typeface="Times New Roman"/>
                        </a:rPr>
                        <a:t>582</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7" name="Rectangle 6"/>
          <p:cNvSpPr/>
          <p:nvPr/>
        </p:nvSpPr>
        <p:spPr>
          <a:xfrm>
            <a:off x="1600200" y="4572000"/>
            <a:ext cx="5638800" cy="230832"/>
          </a:xfrm>
          <a:prstGeom prst="rect">
            <a:avLst/>
          </a:prstGeom>
        </p:spPr>
        <p:txBody>
          <a:bodyPr wrap="square">
            <a:spAutoFit/>
          </a:bodyPr>
          <a:lstStyle/>
          <a:p>
            <a:r>
              <a:rPr lang="en-US" sz="900" b="1" dirty="0">
                <a:solidFill>
                  <a:srgbClr val="FF0000"/>
                </a:solidFill>
                <a:latin typeface="Arial" pitchFamily="34" charset="0"/>
                <a:ea typeface="Calibri" pitchFamily="34" charset="0"/>
                <a:cs typeface="Arial" pitchFamily="34" charset="0"/>
              </a:rPr>
              <a:t>       </a:t>
            </a:r>
            <a:r>
              <a:rPr lang="en-US" sz="900" b="1" dirty="0">
                <a:solidFill>
                  <a:schemeClr val="accent2">
                    <a:lumMod val="75000"/>
                  </a:schemeClr>
                </a:solidFill>
                <a:latin typeface="Arial" pitchFamily="34" charset="0"/>
                <a:ea typeface="Calibri" pitchFamily="34" charset="0"/>
                <a:cs typeface="Arial" pitchFamily="34" charset="0"/>
              </a:rPr>
              <a:t>arr2[0]             arr2[1]                arr2[2]            arr2[3]                 arr2[4]                    	 </a:t>
            </a:r>
            <a:endParaRPr lang="en-IN" sz="900" b="1" dirty="0">
              <a:solidFill>
                <a:schemeClr val="accent2">
                  <a:lumMod val="75000"/>
                </a:schemeClr>
              </a:solidFill>
            </a:endParaRPr>
          </a:p>
        </p:txBody>
      </p:sp>
      <p:sp>
        <p:nvSpPr>
          <p:cNvPr id="8" name="TextBox 7"/>
          <p:cNvSpPr txBox="1"/>
          <p:nvPr/>
        </p:nvSpPr>
        <p:spPr>
          <a:xfrm>
            <a:off x="762000" y="4583668"/>
            <a:ext cx="457200" cy="276999"/>
          </a:xfrm>
          <a:prstGeom prst="rect">
            <a:avLst/>
          </a:prstGeom>
          <a:noFill/>
        </p:spPr>
        <p:txBody>
          <a:bodyPr wrap="square" rtlCol="0">
            <a:spAutoFit/>
          </a:bodyPr>
          <a:lstStyle/>
          <a:p>
            <a:r>
              <a:rPr lang="en-IN" sz="1200" dirty="0"/>
              <a:t>arr2</a:t>
            </a:r>
          </a:p>
        </p:txBody>
      </p:sp>
      <p:graphicFrame>
        <p:nvGraphicFramePr>
          <p:cNvPr id="9" name="Content Placeholder 6"/>
          <p:cNvGraphicFramePr>
            <a:graphicFrameLocks/>
          </p:cNvGraphicFramePr>
          <p:nvPr/>
        </p:nvGraphicFramePr>
        <p:xfrm>
          <a:off x="1600202" y="4931664"/>
          <a:ext cx="4039264" cy="318897"/>
        </p:xfrm>
        <a:graphic>
          <a:graphicData uri="http://schemas.openxmlformats.org/drawingml/2006/table">
            <a:tbl>
              <a:tblPr/>
              <a:tblGrid>
                <a:gridCol w="797861">
                  <a:extLst>
                    <a:ext uri="{9D8B030D-6E8A-4147-A177-3AD203B41FA5}">
                      <a16:colId xmlns:a16="http://schemas.microsoft.com/office/drawing/2014/main" val="20000"/>
                    </a:ext>
                  </a:extLst>
                </a:gridCol>
                <a:gridCol w="728801">
                  <a:extLst>
                    <a:ext uri="{9D8B030D-6E8A-4147-A177-3AD203B41FA5}">
                      <a16:colId xmlns:a16="http://schemas.microsoft.com/office/drawing/2014/main" val="20001"/>
                    </a:ext>
                  </a:extLst>
                </a:gridCol>
                <a:gridCol w="837534">
                  <a:extLst>
                    <a:ext uri="{9D8B030D-6E8A-4147-A177-3AD203B41FA5}">
                      <a16:colId xmlns:a16="http://schemas.microsoft.com/office/drawing/2014/main" val="20002"/>
                    </a:ext>
                  </a:extLst>
                </a:gridCol>
                <a:gridCol w="837534">
                  <a:extLst>
                    <a:ext uri="{9D8B030D-6E8A-4147-A177-3AD203B41FA5}">
                      <a16:colId xmlns:a16="http://schemas.microsoft.com/office/drawing/2014/main" val="20003"/>
                    </a:ext>
                  </a:extLst>
                </a:gridCol>
                <a:gridCol w="837534">
                  <a:extLst>
                    <a:ext uri="{9D8B030D-6E8A-4147-A177-3AD203B41FA5}">
                      <a16:colId xmlns:a16="http://schemas.microsoft.com/office/drawing/2014/main" val="20004"/>
                    </a:ext>
                  </a:extLst>
                </a:gridCol>
              </a:tblGrid>
              <a:tr h="0">
                <a:tc>
                  <a:txBody>
                    <a:bodyPr/>
                    <a:lstStyle/>
                    <a:p>
                      <a:pPr marL="457200" indent="270510" algn="ctr">
                        <a:lnSpc>
                          <a:spcPct val="107000"/>
                        </a:lnSpc>
                        <a:spcAft>
                          <a:spcPts val="0"/>
                        </a:spcAft>
                      </a:pPr>
                      <a:r>
                        <a:rPr lang="en-US" sz="1000" dirty="0">
                          <a:latin typeface="Calibri"/>
                          <a:ea typeface="Calibri"/>
                          <a:cs typeface="Times New Roman"/>
                        </a:rPr>
                        <a:t>182</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indent="232410" algn="ctr">
                        <a:lnSpc>
                          <a:spcPct val="107000"/>
                        </a:lnSpc>
                        <a:spcAft>
                          <a:spcPts val="0"/>
                        </a:spcAft>
                      </a:pPr>
                      <a:r>
                        <a:rPr lang="en-US" sz="1000" dirty="0">
                          <a:latin typeface="Calibri"/>
                          <a:ea typeface="Calibri"/>
                          <a:cs typeface="Times New Roman"/>
                        </a:rPr>
                        <a:t>295</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indent="322580" algn="ctr">
                        <a:lnSpc>
                          <a:spcPct val="107000"/>
                        </a:lnSpc>
                        <a:spcAft>
                          <a:spcPts val="0"/>
                        </a:spcAft>
                      </a:pPr>
                      <a:r>
                        <a:rPr lang="en-US" sz="1000" dirty="0">
                          <a:latin typeface="Calibri"/>
                          <a:ea typeface="Calibri"/>
                          <a:cs typeface="Times New Roman"/>
                        </a:rPr>
                        <a:t>390</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indent="322580" algn="ctr">
                        <a:lnSpc>
                          <a:spcPct val="107000"/>
                        </a:lnSpc>
                        <a:spcAft>
                          <a:spcPts val="0"/>
                        </a:spcAft>
                      </a:pPr>
                      <a:r>
                        <a:rPr lang="en-US" sz="1000" dirty="0">
                          <a:latin typeface="Calibri"/>
                          <a:ea typeface="Calibri"/>
                          <a:cs typeface="Times New Roman"/>
                        </a:rPr>
                        <a:t>470</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indent="322580" algn="ctr">
                        <a:lnSpc>
                          <a:spcPct val="107000"/>
                        </a:lnSpc>
                        <a:spcAft>
                          <a:spcPts val="0"/>
                        </a:spcAft>
                      </a:pPr>
                      <a:r>
                        <a:rPr lang="en-US" sz="1000" dirty="0">
                          <a:latin typeface="Calibri"/>
                          <a:ea typeface="Calibri"/>
                          <a:cs typeface="Times New Roman"/>
                        </a:rPr>
                        <a:t>560</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58762"/>
          </a:xfrm>
        </p:spPr>
        <p:txBody>
          <a:bodyPr>
            <a:normAutofit fontScale="90000"/>
          </a:bodyPr>
          <a:lstStyle/>
          <a:p>
            <a:endParaRPr lang="en-IN" dirty="0"/>
          </a:p>
        </p:txBody>
      </p:sp>
      <p:sp>
        <p:nvSpPr>
          <p:cNvPr id="3" name="Content Placeholder 2"/>
          <p:cNvSpPr>
            <a:spLocks noGrp="1"/>
          </p:cNvSpPr>
          <p:nvPr>
            <p:ph idx="1"/>
          </p:nvPr>
        </p:nvSpPr>
        <p:spPr>
          <a:xfrm>
            <a:off x="457200" y="533400"/>
            <a:ext cx="8229600" cy="6324600"/>
          </a:xfrm>
        </p:spPr>
        <p:txBody>
          <a:bodyPr>
            <a:noAutofit/>
          </a:bodyPr>
          <a:lstStyle/>
          <a:p>
            <a:pPr>
              <a:buNone/>
            </a:pPr>
            <a:r>
              <a:rPr lang="en-IN" sz="1100" dirty="0"/>
              <a:t>#include&lt;</a:t>
            </a:r>
            <a:r>
              <a:rPr lang="en-IN" sz="1100" dirty="0" err="1"/>
              <a:t>stdio.h</a:t>
            </a:r>
            <a:r>
              <a:rPr lang="en-IN" sz="1100" dirty="0"/>
              <a:t>&gt;</a:t>
            </a:r>
          </a:p>
          <a:p>
            <a:pPr>
              <a:buNone/>
            </a:pPr>
            <a:r>
              <a:rPr lang="en-IN" sz="1100" dirty="0"/>
              <a:t>main()</a:t>
            </a:r>
          </a:p>
          <a:p>
            <a:pPr>
              <a:buNone/>
            </a:pPr>
            <a:r>
              <a:rPr lang="en-IN" sz="1100" dirty="0"/>
              <a:t>{</a:t>
            </a:r>
          </a:p>
          <a:p>
            <a:pPr>
              <a:buNone/>
            </a:pPr>
            <a:r>
              <a:rPr lang="en-IN" sz="1100" dirty="0"/>
              <a:t>	</a:t>
            </a:r>
            <a:r>
              <a:rPr lang="en-IN" sz="1100" dirty="0" err="1"/>
              <a:t>int</a:t>
            </a:r>
            <a:r>
              <a:rPr lang="en-IN" sz="1100" dirty="0"/>
              <a:t> arr1[100], arr2[100],i, n, j;</a:t>
            </a:r>
          </a:p>
          <a:p>
            <a:pPr>
              <a:buNone/>
            </a:pPr>
            <a:r>
              <a:rPr lang="en-IN" sz="1100" dirty="0"/>
              <a:t>	</a:t>
            </a:r>
            <a:r>
              <a:rPr lang="en-IN" sz="1100" dirty="0" err="1"/>
              <a:t>printf</a:t>
            </a:r>
            <a:r>
              <a:rPr lang="en-IN" sz="1100" dirty="0"/>
              <a:t>("Enter number of elements");</a:t>
            </a:r>
          </a:p>
          <a:p>
            <a:pPr>
              <a:buNone/>
            </a:pPr>
            <a:r>
              <a:rPr lang="en-IN" sz="1100" dirty="0"/>
              <a:t>	</a:t>
            </a:r>
            <a:r>
              <a:rPr lang="en-IN" sz="1100" dirty="0" err="1"/>
              <a:t>scanf</a:t>
            </a:r>
            <a:r>
              <a:rPr lang="en-IN" sz="1100" dirty="0"/>
              <a:t>("%</a:t>
            </a:r>
            <a:r>
              <a:rPr lang="en-IN" sz="1100" dirty="0" err="1"/>
              <a:t>d",&amp;n</a:t>
            </a:r>
            <a:r>
              <a:rPr lang="en-IN" sz="1100" dirty="0"/>
              <a:t>);</a:t>
            </a:r>
          </a:p>
          <a:p>
            <a:pPr>
              <a:buNone/>
            </a:pPr>
            <a:r>
              <a:rPr lang="en-IN" sz="1100" dirty="0"/>
              <a:t>   	for(i = 0; i&lt;n; i++)</a:t>
            </a:r>
          </a:p>
          <a:p>
            <a:pPr>
              <a:buNone/>
            </a:pPr>
            <a:r>
              <a:rPr lang="en-IN" sz="1100" dirty="0"/>
              <a:t>   	 {</a:t>
            </a:r>
          </a:p>
          <a:p>
            <a:pPr>
              <a:buNone/>
            </a:pPr>
            <a:r>
              <a:rPr lang="en-IN" sz="1100" dirty="0"/>
              <a:t>        	                  </a:t>
            </a:r>
            <a:r>
              <a:rPr lang="en-IN" sz="1100" dirty="0" err="1"/>
              <a:t>printf</a:t>
            </a:r>
            <a:r>
              <a:rPr lang="en-IN" sz="1100" dirty="0"/>
              <a:t>("Enter the elements");</a:t>
            </a:r>
          </a:p>
          <a:p>
            <a:pPr>
              <a:buNone/>
            </a:pPr>
            <a:r>
              <a:rPr lang="en-IN" sz="1100" dirty="0"/>
              <a:t>       		 </a:t>
            </a:r>
            <a:r>
              <a:rPr lang="en-IN" sz="1100" dirty="0" err="1"/>
              <a:t>scanf</a:t>
            </a:r>
            <a:r>
              <a:rPr lang="en-IN" sz="1100" dirty="0"/>
              <a:t>("%d",&amp;arr1[i]);</a:t>
            </a:r>
          </a:p>
          <a:p>
            <a:pPr>
              <a:buNone/>
            </a:pPr>
            <a:r>
              <a:rPr lang="en-IN" sz="1100" dirty="0"/>
              <a:t>           }</a:t>
            </a:r>
          </a:p>
          <a:p>
            <a:pPr>
              <a:buNone/>
            </a:pPr>
            <a:r>
              <a:rPr lang="en-IN" sz="1100" dirty="0"/>
              <a:t>	</a:t>
            </a:r>
            <a:r>
              <a:rPr lang="en-IN" sz="1100" dirty="0" err="1"/>
              <a:t>printf</a:t>
            </a:r>
            <a:r>
              <a:rPr lang="en-IN" sz="1100" dirty="0"/>
              <a:t>("Elements of Array :");</a:t>
            </a:r>
          </a:p>
          <a:p>
            <a:pPr>
              <a:buNone/>
            </a:pPr>
            <a:r>
              <a:rPr lang="en-IN" sz="1100" dirty="0"/>
              <a:t>	for(i = 0; i&lt;n; i++)</a:t>
            </a:r>
          </a:p>
          <a:p>
            <a:pPr>
              <a:buNone/>
            </a:pPr>
            <a:r>
              <a:rPr lang="en-IN" sz="1100" dirty="0"/>
              <a:t>   	{</a:t>
            </a:r>
          </a:p>
          <a:p>
            <a:pPr>
              <a:buNone/>
            </a:pPr>
            <a:r>
              <a:rPr lang="en-IN" sz="1100" dirty="0"/>
              <a:t>        		</a:t>
            </a:r>
            <a:r>
              <a:rPr lang="en-IN" sz="1100" dirty="0" err="1"/>
              <a:t>printf</a:t>
            </a:r>
            <a:r>
              <a:rPr lang="en-IN" sz="1100" dirty="0"/>
              <a:t>("%d\t",arr1[i]);</a:t>
            </a:r>
          </a:p>
          <a:p>
            <a:pPr>
              <a:buNone/>
            </a:pPr>
            <a:r>
              <a:rPr lang="en-IN" sz="1100" dirty="0"/>
              <a:t>          }</a:t>
            </a:r>
          </a:p>
          <a:p>
            <a:pPr>
              <a:buNone/>
            </a:pPr>
            <a:r>
              <a:rPr lang="en-IN" sz="1100" dirty="0"/>
              <a:t>          for(j= 0, i=n-1; j&lt;n; j++,i--)</a:t>
            </a:r>
          </a:p>
          <a:p>
            <a:pPr>
              <a:buNone/>
            </a:pPr>
            <a:r>
              <a:rPr lang="en-IN" sz="1100" dirty="0"/>
              <a:t>	{</a:t>
            </a:r>
          </a:p>
          <a:p>
            <a:pPr>
              <a:buNone/>
            </a:pPr>
            <a:r>
              <a:rPr lang="en-IN" sz="1100" dirty="0"/>
              <a:t>		arr2[j] = arr1[i];</a:t>
            </a:r>
          </a:p>
          <a:p>
            <a:pPr>
              <a:buNone/>
            </a:pPr>
            <a:r>
              <a:rPr lang="en-IN" sz="1100" dirty="0"/>
              <a:t>	}</a:t>
            </a:r>
          </a:p>
          <a:p>
            <a:pPr>
              <a:buNone/>
            </a:pPr>
            <a:r>
              <a:rPr lang="en-IN" sz="1100" dirty="0"/>
              <a:t>	</a:t>
            </a:r>
            <a:r>
              <a:rPr lang="en-IN" sz="1100" dirty="0" err="1"/>
              <a:t>printf</a:t>
            </a:r>
            <a:r>
              <a:rPr lang="en-IN" sz="1100" dirty="0"/>
              <a:t>("\</a:t>
            </a:r>
            <a:r>
              <a:rPr lang="en-IN" sz="1100" dirty="0" err="1"/>
              <a:t>nElements</a:t>
            </a:r>
            <a:r>
              <a:rPr lang="en-IN" sz="1100" dirty="0"/>
              <a:t> of Array after reverse:");</a:t>
            </a:r>
          </a:p>
          <a:p>
            <a:pPr>
              <a:buNone/>
            </a:pPr>
            <a:r>
              <a:rPr lang="en-IN" sz="1100" dirty="0"/>
              <a:t>	for(i = 0; i&lt;n; i++)</a:t>
            </a:r>
          </a:p>
          <a:p>
            <a:pPr>
              <a:buNone/>
            </a:pPr>
            <a:r>
              <a:rPr lang="en-IN" sz="1100" dirty="0"/>
              <a:t>    	{</a:t>
            </a:r>
          </a:p>
          <a:p>
            <a:pPr>
              <a:buNone/>
            </a:pPr>
            <a:r>
              <a:rPr lang="en-IN" sz="1100" dirty="0"/>
              <a:t>        		</a:t>
            </a:r>
            <a:r>
              <a:rPr lang="en-IN" sz="1100" dirty="0" err="1"/>
              <a:t>printf</a:t>
            </a:r>
            <a:r>
              <a:rPr lang="en-IN" sz="1100" dirty="0"/>
              <a:t>("%d\t",arr2[i]);</a:t>
            </a:r>
          </a:p>
          <a:p>
            <a:pPr>
              <a:buNone/>
            </a:pPr>
            <a:r>
              <a:rPr lang="en-IN" sz="1100" dirty="0"/>
              <a:t>    	}</a:t>
            </a:r>
          </a:p>
          <a:p>
            <a:pPr>
              <a:buNone/>
            </a:pPr>
            <a:r>
              <a:rPr lang="en-IN" sz="1100" dirty="0"/>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IN" dirty="0"/>
              <a:t>Example</a:t>
            </a:r>
          </a:p>
        </p:txBody>
      </p:sp>
      <p:sp>
        <p:nvSpPr>
          <p:cNvPr id="3" name="Content Placeholder 2"/>
          <p:cNvSpPr>
            <a:spLocks noGrp="1"/>
          </p:cNvSpPr>
          <p:nvPr>
            <p:ph idx="1"/>
          </p:nvPr>
        </p:nvSpPr>
        <p:spPr>
          <a:xfrm>
            <a:off x="228600" y="990600"/>
            <a:ext cx="8458200" cy="5135563"/>
          </a:xfrm>
        </p:spPr>
        <p:txBody>
          <a:bodyPr/>
          <a:lstStyle/>
          <a:p>
            <a:r>
              <a:rPr lang="en-IN" dirty="0"/>
              <a:t>Write a program to reverse elements of the array without using Another Array.</a:t>
            </a:r>
          </a:p>
        </p:txBody>
      </p:sp>
      <p:sp>
        <p:nvSpPr>
          <p:cNvPr id="4" name="TextBox 3"/>
          <p:cNvSpPr txBox="1"/>
          <p:nvPr/>
        </p:nvSpPr>
        <p:spPr>
          <a:xfrm>
            <a:off x="609600" y="3200400"/>
            <a:ext cx="7543800" cy="1323439"/>
          </a:xfrm>
          <a:prstGeom prst="rect">
            <a:avLst/>
          </a:prstGeom>
          <a:solidFill>
            <a:schemeClr val="bg1">
              <a:lumMod val="85000"/>
            </a:schemeClr>
          </a:solidFill>
        </p:spPr>
        <p:txBody>
          <a:bodyPr wrap="square" rtlCol="0">
            <a:spAutoFit/>
          </a:bodyPr>
          <a:lstStyle/>
          <a:p>
            <a:pPr marL="228600" indent="-228600"/>
            <a:r>
              <a:rPr lang="en-IN" sz="1600" dirty="0"/>
              <a:t>Enter number of elements</a:t>
            </a:r>
          </a:p>
          <a:p>
            <a:pPr marL="228600" indent="-228600"/>
            <a:r>
              <a:rPr lang="en-IN" sz="1600" dirty="0"/>
              <a:t>5</a:t>
            </a:r>
          </a:p>
          <a:p>
            <a:pPr marL="228600" indent="-228600"/>
            <a:r>
              <a:rPr lang="en-IN" sz="1600" dirty="0"/>
              <a:t>Enter the elements 60 70 90 95 82</a:t>
            </a:r>
          </a:p>
          <a:p>
            <a:pPr marL="228600" indent="-228600"/>
            <a:r>
              <a:rPr lang="en-IN" sz="1600" dirty="0"/>
              <a:t>Elements of Array: 60		70	90	95	82</a:t>
            </a:r>
          </a:p>
          <a:p>
            <a:pPr marL="228600" indent="-228600"/>
            <a:r>
              <a:rPr lang="en-IN" sz="1600" dirty="0"/>
              <a:t>Elements of Array After Reverse: 82	95	90	70	60</a:t>
            </a:r>
          </a:p>
        </p:txBody>
      </p:sp>
      <p:sp>
        <p:nvSpPr>
          <p:cNvPr id="5" name="TextBox 4"/>
          <p:cNvSpPr txBox="1"/>
          <p:nvPr/>
        </p:nvSpPr>
        <p:spPr>
          <a:xfrm>
            <a:off x="609600" y="2286000"/>
            <a:ext cx="990600" cy="369332"/>
          </a:xfrm>
          <a:prstGeom prst="rect">
            <a:avLst/>
          </a:prstGeom>
          <a:noFill/>
        </p:spPr>
        <p:txBody>
          <a:bodyPr wrap="square" rtlCol="0">
            <a:spAutoFit/>
          </a:bodyPr>
          <a:lstStyle/>
          <a:p>
            <a:r>
              <a:rPr lang="en-IN" b="1" dirty="0"/>
              <a:t>output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sp>
        <p:nvSpPr>
          <p:cNvPr id="4" name="Rectangle 3"/>
          <p:cNvSpPr/>
          <p:nvPr/>
        </p:nvSpPr>
        <p:spPr>
          <a:xfrm>
            <a:off x="1524000" y="2362200"/>
            <a:ext cx="5638800" cy="230832"/>
          </a:xfrm>
          <a:prstGeom prst="rect">
            <a:avLst/>
          </a:prstGeom>
        </p:spPr>
        <p:txBody>
          <a:bodyPr wrap="square">
            <a:spAutoFit/>
          </a:bodyPr>
          <a:lstStyle/>
          <a:p>
            <a:r>
              <a:rPr lang="en-US" sz="900" b="1" dirty="0">
                <a:solidFill>
                  <a:srgbClr val="FF0000"/>
                </a:solidFill>
                <a:latin typeface="Arial" pitchFamily="34" charset="0"/>
                <a:ea typeface="Calibri" pitchFamily="34" charset="0"/>
                <a:cs typeface="Arial" pitchFamily="34" charset="0"/>
              </a:rPr>
              <a:t>       </a:t>
            </a:r>
            <a:r>
              <a:rPr lang="en-US" sz="900" b="1" dirty="0">
                <a:solidFill>
                  <a:schemeClr val="accent2">
                    <a:lumMod val="75000"/>
                  </a:schemeClr>
                </a:solidFill>
                <a:latin typeface="Arial" pitchFamily="34" charset="0"/>
                <a:ea typeface="Calibri" pitchFamily="34" charset="0"/>
                <a:cs typeface="Arial" pitchFamily="34" charset="0"/>
              </a:rPr>
              <a:t>arr1[0]             arr1[1]                arr1[2]            arr1[3]           arr1[4]                    	 </a:t>
            </a:r>
            <a:endParaRPr lang="en-IN" sz="900" b="1" dirty="0">
              <a:solidFill>
                <a:schemeClr val="accent2">
                  <a:lumMod val="75000"/>
                </a:schemeClr>
              </a:solidFill>
            </a:endParaRPr>
          </a:p>
        </p:txBody>
      </p:sp>
      <p:sp>
        <p:nvSpPr>
          <p:cNvPr id="5" name="TextBox 4"/>
          <p:cNvSpPr txBox="1"/>
          <p:nvPr/>
        </p:nvSpPr>
        <p:spPr>
          <a:xfrm>
            <a:off x="685800" y="2373868"/>
            <a:ext cx="457200" cy="276999"/>
          </a:xfrm>
          <a:prstGeom prst="rect">
            <a:avLst/>
          </a:prstGeom>
          <a:noFill/>
        </p:spPr>
        <p:txBody>
          <a:bodyPr wrap="square" rtlCol="0">
            <a:spAutoFit/>
          </a:bodyPr>
          <a:lstStyle/>
          <a:p>
            <a:r>
              <a:rPr lang="en-IN" sz="1200" dirty="0"/>
              <a:t>arr1</a:t>
            </a:r>
          </a:p>
        </p:txBody>
      </p:sp>
      <p:graphicFrame>
        <p:nvGraphicFramePr>
          <p:cNvPr id="6" name="Content Placeholder 6"/>
          <p:cNvGraphicFramePr>
            <a:graphicFrameLocks/>
          </p:cNvGraphicFramePr>
          <p:nvPr/>
        </p:nvGraphicFramePr>
        <p:xfrm>
          <a:off x="1524002" y="2721864"/>
          <a:ext cx="4039264" cy="318897"/>
        </p:xfrm>
        <a:graphic>
          <a:graphicData uri="http://schemas.openxmlformats.org/drawingml/2006/table">
            <a:tbl>
              <a:tblPr/>
              <a:tblGrid>
                <a:gridCol w="797861">
                  <a:extLst>
                    <a:ext uri="{9D8B030D-6E8A-4147-A177-3AD203B41FA5}">
                      <a16:colId xmlns:a16="http://schemas.microsoft.com/office/drawing/2014/main" val="20000"/>
                    </a:ext>
                  </a:extLst>
                </a:gridCol>
                <a:gridCol w="728801">
                  <a:extLst>
                    <a:ext uri="{9D8B030D-6E8A-4147-A177-3AD203B41FA5}">
                      <a16:colId xmlns:a16="http://schemas.microsoft.com/office/drawing/2014/main" val="20001"/>
                    </a:ext>
                  </a:extLst>
                </a:gridCol>
                <a:gridCol w="837534">
                  <a:extLst>
                    <a:ext uri="{9D8B030D-6E8A-4147-A177-3AD203B41FA5}">
                      <a16:colId xmlns:a16="http://schemas.microsoft.com/office/drawing/2014/main" val="20002"/>
                    </a:ext>
                  </a:extLst>
                </a:gridCol>
                <a:gridCol w="837534">
                  <a:extLst>
                    <a:ext uri="{9D8B030D-6E8A-4147-A177-3AD203B41FA5}">
                      <a16:colId xmlns:a16="http://schemas.microsoft.com/office/drawing/2014/main" val="20003"/>
                    </a:ext>
                  </a:extLst>
                </a:gridCol>
                <a:gridCol w="837534">
                  <a:extLst>
                    <a:ext uri="{9D8B030D-6E8A-4147-A177-3AD203B41FA5}">
                      <a16:colId xmlns:a16="http://schemas.microsoft.com/office/drawing/2014/main" val="20004"/>
                    </a:ext>
                  </a:extLst>
                </a:gridCol>
              </a:tblGrid>
              <a:tr h="0">
                <a:tc>
                  <a:txBody>
                    <a:bodyPr/>
                    <a:lstStyle/>
                    <a:p>
                      <a:pPr marL="457200" indent="270510" algn="ctr">
                        <a:lnSpc>
                          <a:spcPct val="107000"/>
                        </a:lnSpc>
                        <a:spcAft>
                          <a:spcPts val="0"/>
                        </a:spcAft>
                      </a:pPr>
                      <a:r>
                        <a:rPr lang="en-US" sz="1000" dirty="0">
                          <a:latin typeface="Calibri"/>
                          <a:ea typeface="Calibri"/>
                          <a:cs typeface="Times New Roman"/>
                        </a:rPr>
                        <a:t>160</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indent="232410" algn="ctr">
                        <a:lnSpc>
                          <a:spcPct val="107000"/>
                        </a:lnSpc>
                        <a:spcAft>
                          <a:spcPts val="0"/>
                        </a:spcAft>
                      </a:pPr>
                      <a:r>
                        <a:rPr lang="en-US" sz="1000" dirty="0">
                          <a:latin typeface="Calibri"/>
                          <a:ea typeface="Calibri"/>
                          <a:cs typeface="Times New Roman"/>
                        </a:rPr>
                        <a:t>270</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indent="322580" algn="ctr">
                        <a:lnSpc>
                          <a:spcPct val="107000"/>
                        </a:lnSpc>
                        <a:spcAft>
                          <a:spcPts val="0"/>
                        </a:spcAft>
                      </a:pPr>
                      <a:r>
                        <a:rPr lang="en-US" sz="1000" dirty="0">
                          <a:latin typeface="Calibri"/>
                          <a:ea typeface="Calibri"/>
                          <a:cs typeface="Times New Roman"/>
                        </a:rPr>
                        <a:t>390</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indent="322580" algn="ctr">
                        <a:lnSpc>
                          <a:spcPct val="107000"/>
                        </a:lnSpc>
                        <a:spcAft>
                          <a:spcPts val="0"/>
                        </a:spcAft>
                      </a:pPr>
                      <a:r>
                        <a:rPr lang="en-US" sz="1000" dirty="0">
                          <a:latin typeface="Calibri"/>
                          <a:ea typeface="Calibri"/>
                          <a:cs typeface="Times New Roman"/>
                        </a:rPr>
                        <a:t>495</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indent="322580" algn="ctr">
                        <a:lnSpc>
                          <a:spcPct val="107000"/>
                        </a:lnSpc>
                        <a:spcAft>
                          <a:spcPts val="0"/>
                        </a:spcAft>
                      </a:pPr>
                      <a:r>
                        <a:rPr lang="en-US" sz="1000" dirty="0">
                          <a:latin typeface="Calibri"/>
                          <a:ea typeface="Calibri"/>
                          <a:cs typeface="Times New Roman"/>
                        </a:rPr>
                        <a:t>582</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7" name="Rectangle 6"/>
          <p:cNvSpPr/>
          <p:nvPr/>
        </p:nvSpPr>
        <p:spPr>
          <a:xfrm>
            <a:off x="1600200" y="4572000"/>
            <a:ext cx="5638800" cy="230832"/>
          </a:xfrm>
          <a:prstGeom prst="rect">
            <a:avLst/>
          </a:prstGeom>
        </p:spPr>
        <p:txBody>
          <a:bodyPr wrap="square">
            <a:spAutoFit/>
          </a:bodyPr>
          <a:lstStyle/>
          <a:p>
            <a:r>
              <a:rPr lang="en-US" sz="900" b="1" dirty="0">
                <a:solidFill>
                  <a:srgbClr val="FF0000"/>
                </a:solidFill>
                <a:latin typeface="Arial" pitchFamily="34" charset="0"/>
                <a:ea typeface="Calibri" pitchFamily="34" charset="0"/>
                <a:cs typeface="Arial" pitchFamily="34" charset="0"/>
              </a:rPr>
              <a:t>       </a:t>
            </a:r>
            <a:r>
              <a:rPr lang="en-US" sz="900" b="1" dirty="0">
                <a:solidFill>
                  <a:schemeClr val="accent2">
                    <a:lumMod val="75000"/>
                  </a:schemeClr>
                </a:solidFill>
                <a:latin typeface="Arial" pitchFamily="34" charset="0"/>
                <a:ea typeface="Calibri" pitchFamily="34" charset="0"/>
                <a:cs typeface="Arial" pitchFamily="34" charset="0"/>
              </a:rPr>
              <a:t>arr1[0]             arr1[1]          arr1[2]            arr1[3]                 arr1[4]                    	 </a:t>
            </a:r>
            <a:endParaRPr lang="en-IN" sz="900" b="1" dirty="0">
              <a:solidFill>
                <a:schemeClr val="accent2">
                  <a:lumMod val="75000"/>
                </a:schemeClr>
              </a:solidFill>
            </a:endParaRPr>
          </a:p>
        </p:txBody>
      </p:sp>
      <p:sp>
        <p:nvSpPr>
          <p:cNvPr id="8" name="TextBox 7"/>
          <p:cNvSpPr txBox="1"/>
          <p:nvPr/>
        </p:nvSpPr>
        <p:spPr>
          <a:xfrm>
            <a:off x="762000" y="4583668"/>
            <a:ext cx="457200" cy="276999"/>
          </a:xfrm>
          <a:prstGeom prst="rect">
            <a:avLst/>
          </a:prstGeom>
          <a:noFill/>
        </p:spPr>
        <p:txBody>
          <a:bodyPr wrap="square" rtlCol="0">
            <a:spAutoFit/>
          </a:bodyPr>
          <a:lstStyle/>
          <a:p>
            <a:r>
              <a:rPr lang="en-IN" sz="1200" dirty="0"/>
              <a:t>arr1</a:t>
            </a:r>
          </a:p>
        </p:txBody>
      </p:sp>
      <p:graphicFrame>
        <p:nvGraphicFramePr>
          <p:cNvPr id="9" name="Content Placeholder 6"/>
          <p:cNvGraphicFramePr>
            <a:graphicFrameLocks/>
          </p:cNvGraphicFramePr>
          <p:nvPr/>
        </p:nvGraphicFramePr>
        <p:xfrm>
          <a:off x="1600202" y="4931664"/>
          <a:ext cx="4039264" cy="318897"/>
        </p:xfrm>
        <a:graphic>
          <a:graphicData uri="http://schemas.openxmlformats.org/drawingml/2006/table">
            <a:tbl>
              <a:tblPr/>
              <a:tblGrid>
                <a:gridCol w="797861">
                  <a:extLst>
                    <a:ext uri="{9D8B030D-6E8A-4147-A177-3AD203B41FA5}">
                      <a16:colId xmlns:a16="http://schemas.microsoft.com/office/drawing/2014/main" val="20000"/>
                    </a:ext>
                  </a:extLst>
                </a:gridCol>
                <a:gridCol w="728801">
                  <a:extLst>
                    <a:ext uri="{9D8B030D-6E8A-4147-A177-3AD203B41FA5}">
                      <a16:colId xmlns:a16="http://schemas.microsoft.com/office/drawing/2014/main" val="20001"/>
                    </a:ext>
                  </a:extLst>
                </a:gridCol>
                <a:gridCol w="837534">
                  <a:extLst>
                    <a:ext uri="{9D8B030D-6E8A-4147-A177-3AD203B41FA5}">
                      <a16:colId xmlns:a16="http://schemas.microsoft.com/office/drawing/2014/main" val="20002"/>
                    </a:ext>
                  </a:extLst>
                </a:gridCol>
                <a:gridCol w="837534">
                  <a:extLst>
                    <a:ext uri="{9D8B030D-6E8A-4147-A177-3AD203B41FA5}">
                      <a16:colId xmlns:a16="http://schemas.microsoft.com/office/drawing/2014/main" val="20003"/>
                    </a:ext>
                  </a:extLst>
                </a:gridCol>
                <a:gridCol w="837534">
                  <a:extLst>
                    <a:ext uri="{9D8B030D-6E8A-4147-A177-3AD203B41FA5}">
                      <a16:colId xmlns:a16="http://schemas.microsoft.com/office/drawing/2014/main" val="20004"/>
                    </a:ext>
                  </a:extLst>
                </a:gridCol>
              </a:tblGrid>
              <a:tr h="0">
                <a:tc>
                  <a:txBody>
                    <a:bodyPr/>
                    <a:lstStyle/>
                    <a:p>
                      <a:pPr marL="457200" indent="270510" algn="ctr">
                        <a:lnSpc>
                          <a:spcPct val="107000"/>
                        </a:lnSpc>
                        <a:spcAft>
                          <a:spcPts val="0"/>
                        </a:spcAft>
                      </a:pPr>
                      <a:r>
                        <a:rPr lang="en-US" sz="1000" dirty="0">
                          <a:latin typeface="Calibri"/>
                          <a:ea typeface="Calibri"/>
                          <a:cs typeface="Times New Roman"/>
                        </a:rPr>
                        <a:t>182</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indent="232410" algn="ctr">
                        <a:lnSpc>
                          <a:spcPct val="107000"/>
                        </a:lnSpc>
                        <a:spcAft>
                          <a:spcPts val="0"/>
                        </a:spcAft>
                      </a:pPr>
                      <a:r>
                        <a:rPr lang="en-US" sz="1000" dirty="0">
                          <a:latin typeface="Calibri"/>
                          <a:ea typeface="Calibri"/>
                          <a:cs typeface="Times New Roman"/>
                        </a:rPr>
                        <a:t>295</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indent="322580" algn="ctr">
                        <a:lnSpc>
                          <a:spcPct val="107000"/>
                        </a:lnSpc>
                        <a:spcAft>
                          <a:spcPts val="0"/>
                        </a:spcAft>
                      </a:pPr>
                      <a:r>
                        <a:rPr lang="en-US" sz="1000" dirty="0">
                          <a:latin typeface="Calibri"/>
                          <a:ea typeface="Calibri"/>
                          <a:cs typeface="Times New Roman"/>
                        </a:rPr>
                        <a:t>390</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indent="322580" algn="ctr">
                        <a:lnSpc>
                          <a:spcPct val="107000"/>
                        </a:lnSpc>
                        <a:spcAft>
                          <a:spcPts val="0"/>
                        </a:spcAft>
                      </a:pPr>
                      <a:r>
                        <a:rPr lang="en-US" sz="1000" dirty="0">
                          <a:latin typeface="Calibri"/>
                          <a:ea typeface="Calibri"/>
                          <a:cs typeface="Times New Roman"/>
                        </a:rPr>
                        <a:t>470</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indent="322580" algn="ctr">
                        <a:lnSpc>
                          <a:spcPct val="107000"/>
                        </a:lnSpc>
                        <a:spcAft>
                          <a:spcPts val="0"/>
                        </a:spcAft>
                      </a:pPr>
                      <a:r>
                        <a:rPr lang="en-US" sz="1000" dirty="0">
                          <a:latin typeface="Calibri"/>
                          <a:ea typeface="Calibri"/>
                          <a:cs typeface="Times New Roman"/>
                        </a:rPr>
                        <a:t>560</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10" name="Curved Up Arrow 9"/>
          <p:cNvSpPr/>
          <p:nvPr/>
        </p:nvSpPr>
        <p:spPr>
          <a:xfrm>
            <a:off x="1828800" y="3429000"/>
            <a:ext cx="3581400" cy="83820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Curved Up Arrow 10"/>
          <p:cNvSpPr/>
          <p:nvPr/>
        </p:nvSpPr>
        <p:spPr>
          <a:xfrm>
            <a:off x="2667000" y="3124200"/>
            <a:ext cx="1828800" cy="68580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58762"/>
          </a:xfrm>
        </p:spPr>
        <p:txBody>
          <a:bodyPr>
            <a:normAutofit fontScale="90000"/>
          </a:bodyPr>
          <a:lstStyle/>
          <a:p>
            <a:endParaRPr lang="en-IN" dirty="0"/>
          </a:p>
        </p:txBody>
      </p:sp>
      <p:sp>
        <p:nvSpPr>
          <p:cNvPr id="3" name="Content Placeholder 2"/>
          <p:cNvSpPr>
            <a:spLocks noGrp="1"/>
          </p:cNvSpPr>
          <p:nvPr>
            <p:ph idx="1"/>
          </p:nvPr>
        </p:nvSpPr>
        <p:spPr>
          <a:xfrm>
            <a:off x="457200" y="533400"/>
            <a:ext cx="8229600" cy="6324600"/>
          </a:xfrm>
        </p:spPr>
        <p:txBody>
          <a:bodyPr>
            <a:noAutofit/>
          </a:bodyPr>
          <a:lstStyle/>
          <a:p>
            <a:pPr>
              <a:buNone/>
            </a:pPr>
            <a:r>
              <a:rPr lang="en-IN" sz="1100" dirty="0"/>
              <a:t>#include&lt;</a:t>
            </a:r>
            <a:r>
              <a:rPr lang="en-IN" sz="1100" dirty="0" err="1"/>
              <a:t>stdio.h</a:t>
            </a:r>
            <a:r>
              <a:rPr lang="en-IN" sz="1100" dirty="0"/>
              <a:t>&gt;</a:t>
            </a:r>
          </a:p>
          <a:p>
            <a:pPr>
              <a:buNone/>
            </a:pPr>
            <a:r>
              <a:rPr lang="en-IN" sz="1100" dirty="0"/>
              <a:t>main()</a:t>
            </a:r>
          </a:p>
          <a:p>
            <a:pPr>
              <a:buNone/>
            </a:pPr>
            <a:r>
              <a:rPr lang="en-IN" sz="1100" dirty="0"/>
              <a:t>{</a:t>
            </a:r>
          </a:p>
          <a:p>
            <a:pPr>
              <a:buNone/>
            </a:pPr>
            <a:r>
              <a:rPr lang="en-IN" sz="1100" dirty="0"/>
              <a:t>	</a:t>
            </a:r>
            <a:r>
              <a:rPr lang="en-IN" sz="1100" dirty="0" err="1"/>
              <a:t>int</a:t>
            </a:r>
            <a:r>
              <a:rPr lang="en-IN" sz="1100" dirty="0"/>
              <a:t> arr1[100],i, n, j, temp;</a:t>
            </a:r>
          </a:p>
          <a:p>
            <a:pPr>
              <a:buNone/>
            </a:pPr>
            <a:r>
              <a:rPr lang="en-IN" sz="1100" dirty="0"/>
              <a:t>	</a:t>
            </a:r>
            <a:r>
              <a:rPr lang="en-IN" sz="1100" dirty="0" err="1"/>
              <a:t>printf</a:t>
            </a:r>
            <a:r>
              <a:rPr lang="en-IN" sz="1100" dirty="0"/>
              <a:t>("Enter number of elements");</a:t>
            </a:r>
          </a:p>
          <a:p>
            <a:pPr>
              <a:buNone/>
            </a:pPr>
            <a:r>
              <a:rPr lang="en-IN" sz="1100" dirty="0"/>
              <a:t>	</a:t>
            </a:r>
            <a:r>
              <a:rPr lang="en-IN" sz="1100" dirty="0" err="1"/>
              <a:t>scanf</a:t>
            </a:r>
            <a:r>
              <a:rPr lang="en-IN" sz="1100" dirty="0"/>
              <a:t>("%</a:t>
            </a:r>
            <a:r>
              <a:rPr lang="en-IN" sz="1100" dirty="0" err="1"/>
              <a:t>d",&amp;n</a:t>
            </a:r>
            <a:r>
              <a:rPr lang="en-IN" sz="1100" dirty="0"/>
              <a:t>);</a:t>
            </a:r>
          </a:p>
          <a:p>
            <a:pPr>
              <a:buNone/>
            </a:pPr>
            <a:r>
              <a:rPr lang="en-IN" sz="1100" dirty="0"/>
              <a:t>   	for(i = 0; i&lt;n; i++)</a:t>
            </a:r>
          </a:p>
          <a:p>
            <a:pPr>
              <a:buNone/>
            </a:pPr>
            <a:r>
              <a:rPr lang="en-IN" sz="1100" dirty="0"/>
              <a:t>    {</a:t>
            </a:r>
          </a:p>
          <a:p>
            <a:pPr>
              <a:buNone/>
            </a:pPr>
            <a:r>
              <a:rPr lang="en-IN" sz="1100" dirty="0"/>
              <a:t>        		</a:t>
            </a:r>
            <a:r>
              <a:rPr lang="en-IN" sz="1100" dirty="0" err="1"/>
              <a:t>printf</a:t>
            </a:r>
            <a:r>
              <a:rPr lang="en-IN" sz="1100" dirty="0"/>
              <a:t>("Enter the elements");</a:t>
            </a:r>
          </a:p>
          <a:p>
            <a:pPr>
              <a:buNone/>
            </a:pPr>
            <a:r>
              <a:rPr lang="en-IN" sz="1100" dirty="0"/>
              <a:t>       		 </a:t>
            </a:r>
            <a:r>
              <a:rPr lang="en-IN" sz="1100" dirty="0" err="1"/>
              <a:t>scanf</a:t>
            </a:r>
            <a:r>
              <a:rPr lang="en-IN" sz="1100" dirty="0"/>
              <a:t>("%d",&amp;arr1[i]);</a:t>
            </a:r>
          </a:p>
          <a:p>
            <a:pPr>
              <a:buNone/>
            </a:pPr>
            <a:r>
              <a:rPr lang="en-IN" sz="1100" dirty="0"/>
              <a:t>    }</a:t>
            </a:r>
          </a:p>
          <a:p>
            <a:pPr>
              <a:buNone/>
            </a:pPr>
            <a:r>
              <a:rPr lang="en-IN" sz="1100" dirty="0"/>
              <a:t>	</a:t>
            </a:r>
            <a:r>
              <a:rPr lang="en-IN" sz="1100" dirty="0" err="1"/>
              <a:t>printf</a:t>
            </a:r>
            <a:r>
              <a:rPr lang="en-IN" sz="1100" dirty="0"/>
              <a:t>("Elements of Array :");</a:t>
            </a:r>
          </a:p>
          <a:p>
            <a:pPr>
              <a:buNone/>
            </a:pPr>
            <a:r>
              <a:rPr lang="en-IN" sz="1100" dirty="0"/>
              <a:t>	for(i = 0; i&lt;n; i++)</a:t>
            </a:r>
          </a:p>
          <a:p>
            <a:pPr>
              <a:buNone/>
            </a:pPr>
            <a:r>
              <a:rPr lang="en-IN" sz="1100" dirty="0"/>
              <a:t>   	{</a:t>
            </a:r>
          </a:p>
          <a:p>
            <a:pPr>
              <a:buNone/>
            </a:pPr>
            <a:r>
              <a:rPr lang="en-IN" sz="1100" dirty="0"/>
              <a:t>        		</a:t>
            </a:r>
            <a:r>
              <a:rPr lang="en-IN" sz="1100" dirty="0" err="1"/>
              <a:t>printf</a:t>
            </a:r>
            <a:r>
              <a:rPr lang="en-IN" sz="1100" dirty="0"/>
              <a:t>("%d\t",arr1[i]);</a:t>
            </a:r>
          </a:p>
          <a:p>
            <a:pPr>
              <a:buNone/>
            </a:pPr>
            <a:r>
              <a:rPr lang="en-IN" sz="1100" dirty="0"/>
              <a:t>    }</a:t>
            </a:r>
          </a:p>
          <a:p>
            <a:pPr>
              <a:buNone/>
            </a:pPr>
            <a:r>
              <a:rPr lang="en-IN" sz="1100" dirty="0"/>
              <a:t>    for(j= 0, i=n-1; j&lt;n/2; j++,i--)</a:t>
            </a:r>
          </a:p>
          <a:p>
            <a:pPr>
              <a:buNone/>
            </a:pPr>
            <a:r>
              <a:rPr lang="en-IN" sz="1100" dirty="0"/>
              <a:t>   {</a:t>
            </a:r>
          </a:p>
          <a:p>
            <a:pPr>
              <a:buNone/>
            </a:pPr>
            <a:r>
              <a:rPr lang="en-IN" sz="1100" dirty="0"/>
              <a:t>        		temp = arr1[j];</a:t>
            </a:r>
          </a:p>
          <a:p>
            <a:pPr>
              <a:buNone/>
            </a:pPr>
            <a:r>
              <a:rPr lang="en-IN" sz="1100" dirty="0"/>
              <a:t>		arr1[j] = arr1[i];</a:t>
            </a:r>
          </a:p>
          <a:p>
            <a:pPr>
              <a:buNone/>
            </a:pPr>
            <a:r>
              <a:rPr lang="en-IN" sz="1100" dirty="0"/>
              <a:t>		arr1[i] = temp;</a:t>
            </a:r>
          </a:p>
          <a:p>
            <a:pPr>
              <a:buNone/>
            </a:pPr>
            <a:r>
              <a:rPr lang="en-IN" sz="1100" dirty="0"/>
              <a:t>    }</a:t>
            </a:r>
          </a:p>
          <a:p>
            <a:pPr>
              <a:buNone/>
            </a:pPr>
            <a:r>
              <a:rPr lang="en-IN" sz="1100" dirty="0"/>
              <a:t>	</a:t>
            </a:r>
            <a:r>
              <a:rPr lang="en-IN" sz="1100" dirty="0" err="1"/>
              <a:t>printf</a:t>
            </a:r>
            <a:r>
              <a:rPr lang="en-IN" sz="1100" dirty="0"/>
              <a:t>("\</a:t>
            </a:r>
            <a:r>
              <a:rPr lang="en-IN" sz="1100" dirty="0" err="1"/>
              <a:t>nElements</a:t>
            </a:r>
            <a:r>
              <a:rPr lang="en-IN" sz="1100" dirty="0"/>
              <a:t> of Array after reverse:");</a:t>
            </a:r>
          </a:p>
          <a:p>
            <a:pPr>
              <a:buNone/>
            </a:pPr>
            <a:r>
              <a:rPr lang="en-IN" sz="1100" dirty="0"/>
              <a:t>	for(i = 0; i&lt;n; i++)</a:t>
            </a:r>
          </a:p>
          <a:p>
            <a:pPr>
              <a:buNone/>
            </a:pPr>
            <a:r>
              <a:rPr lang="en-IN" sz="1100" dirty="0"/>
              <a:t>   	{</a:t>
            </a:r>
          </a:p>
          <a:p>
            <a:pPr>
              <a:buNone/>
            </a:pPr>
            <a:r>
              <a:rPr lang="en-IN" sz="1100" dirty="0"/>
              <a:t>        		</a:t>
            </a:r>
            <a:r>
              <a:rPr lang="en-IN" sz="1100" dirty="0" err="1"/>
              <a:t>printf</a:t>
            </a:r>
            <a:r>
              <a:rPr lang="en-IN" sz="1100" dirty="0"/>
              <a:t>("%d\t",arr1[i]);</a:t>
            </a:r>
          </a:p>
          <a:p>
            <a:pPr>
              <a:buNone/>
            </a:pPr>
            <a:r>
              <a:rPr lang="en-IN" sz="1100" dirty="0"/>
              <a:t>    }</a:t>
            </a:r>
          </a:p>
          <a:p>
            <a:pPr>
              <a:buNone/>
            </a:pPr>
            <a:r>
              <a:rPr lang="en-IN" sz="1100" dirty="0"/>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514350" indent="-514350">
              <a:buFont typeface="+mj-lt"/>
              <a:buAutoNum type="arabicPeriod"/>
            </a:pPr>
            <a:r>
              <a:rPr lang="en-IN" b="1" dirty="0">
                <a:solidFill>
                  <a:srgbClr val="C00000"/>
                </a:solidFill>
              </a:rPr>
              <a:t>One-dimensional arrays</a:t>
            </a:r>
          </a:p>
          <a:p>
            <a:pPr marL="514350" indent="-514350">
              <a:buFont typeface="+mj-lt"/>
              <a:buAutoNum type="arabicPeriod"/>
            </a:pPr>
            <a:r>
              <a:rPr lang="en-IN" b="1" dirty="0">
                <a:solidFill>
                  <a:srgbClr val="C00000"/>
                </a:solidFill>
              </a:rPr>
              <a:t>Two-dimensional arrays(matrix)</a:t>
            </a:r>
          </a:p>
          <a:p>
            <a:pPr marL="514350" indent="-514350">
              <a:buFont typeface="+mj-lt"/>
              <a:buAutoNum type="arabicPeriod"/>
            </a:pPr>
            <a:r>
              <a:rPr lang="en-IN" dirty="0"/>
              <a:t>Multidimensional arrays</a:t>
            </a:r>
          </a:p>
          <a:p>
            <a:pPr marL="514350" indent="-514350">
              <a:buNone/>
            </a:pPr>
            <a:endParaRPr lang="en-IN" dirty="0"/>
          </a:p>
        </p:txBody>
      </p:sp>
      <p:sp>
        <p:nvSpPr>
          <p:cNvPr id="4" name="Rectangle 3"/>
          <p:cNvSpPr/>
          <p:nvPr/>
        </p:nvSpPr>
        <p:spPr>
          <a:xfrm>
            <a:off x="685800" y="533400"/>
            <a:ext cx="7010400" cy="68580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400" dirty="0">
                <a:solidFill>
                  <a:srgbClr val="C00000"/>
                </a:solidFill>
              </a:rPr>
              <a:t>Types of Array :</a:t>
            </a:r>
          </a:p>
        </p:txBody>
      </p:sp>
      <p:sp>
        <p:nvSpPr>
          <p:cNvPr id="5" name="TextBox 4"/>
          <p:cNvSpPr txBox="1"/>
          <p:nvPr/>
        </p:nvSpPr>
        <p:spPr>
          <a:xfrm>
            <a:off x="304800" y="4038600"/>
            <a:ext cx="8458200" cy="646331"/>
          </a:xfrm>
          <a:prstGeom prst="rect">
            <a:avLst/>
          </a:prstGeom>
          <a:solidFill>
            <a:schemeClr val="bg1">
              <a:lumMod val="75000"/>
            </a:schemeClr>
          </a:solidFill>
        </p:spPr>
        <p:txBody>
          <a:bodyPr wrap="square" rtlCol="0">
            <a:spAutoFit/>
          </a:bodyPr>
          <a:lstStyle/>
          <a:p>
            <a:r>
              <a:rPr lang="en-IN" b="1" dirty="0"/>
              <a:t>The classification is based on </a:t>
            </a:r>
            <a:r>
              <a:rPr lang="en-IN" b="1" dirty="0">
                <a:solidFill>
                  <a:srgbClr val="C00000"/>
                </a:solidFill>
              </a:rPr>
              <a:t>number of subscript </a:t>
            </a:r>
            <a:r>
              <a:rPr lang="en-IN" b="1" dirty="0"/>
              <a:t>required to access the elements of an array.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229600" cy="5410200"/>
          </a:xfrm>
        </p:spPr>
        <p:txBody>
          <a:bodyPr/>
          <a:lstStyle/>
          <a:p>
            <a:r>
              <a:rPr lang="en-IN" sz="2000" dirty="0"/>
              <a:t>It is possible for arrays to have 2 or more dimension.</a:t>
            </a:r>
          </a:p>
          <a:p>
            <a:r>
              <a:rPr lang="en-IN" sz="2000" dirty="0"/>
              <a:t>Two dimensional array is called matrix</a:t>
            </a:r>
          </a:p>
          <a:p>
            <a:r>
              <a:rPr lang="en-IN" sz="2000" dirty="0"/>
              <a:t>A variable which represent the list of items using </a:t>
            </a:r>
            <a:r>
              <a:rPr lang="en-IN" sz="2000" b="1" dirty="0">
                <a:solidFill>
                  <a:srgbClr val="C00000"/>
                </a:solidFill>
              </a:rPr>
              <a:t>two index (subscript) </a:t>
            </a:r>
            <a:r>
              <a:rPr lang="en-IN" sz="2000" dirty="0"/>
              <a:t>is called two-dimensional array.</a:t>
            </a:r>
          </a:p>
          <a:p>
            <a:endParaRPr lang="en-IN" sz="2000" dirty="0"/>
          </a:p>
          <a:p>
            <a:endParaRPr lang="en-IN" sz="2000" dirty="0"/>
          </a:p>
          <a:p>
            <a:endParaRPr lang="en-IN" sz="2000" dirty="0"/>
          </a:p>
          <a:p>
            <a:endParaRPr lang="en-IN" sz="2000" dirty="0"/>
          </a:p>
          <a:p>
            <a:endParaRPr lang="en-IN" sz="2000" dirty="0"/>
          </a:p>
          <a:p>
            <a:endParaRPr lang="en-IN" sz="2000" dirty="0"/>
          </a:p>
          <a:p>
            <a:r>
              <a:rPr lang="en-IN" sz="2000" dirty="0"/>
              <a:t>In the above declaration m is declared as matrix having 2 rows and 3 columns.</a:t>
            </a:r>
          </a:p>
          <a:p>
            <a:r>
              <a:rPr lang="en-IN" sz="2000" dirty="0"/>
              <a:t> To specify size of the dimension is mandatory while declaring a matrix.</a:t>
            </a:r>
          </a:p>
        </p:txBody>
      </p:sp>
      <p:sp>
        <p:nvSpPr>
          <p:cNvPr id="4" name="Title 3"/>
          <p:cNvSpPr>
            <a:spLocks noGrp="1"/>
          </p:cNvSpPr>
          <p:nvPr>
            <p:ph type="title"/>
          </p:nvPr>
        </p:nvSpPr>
        <p:spPr>
          <a:xfrm>
            <a:off x="457200" y="304800"/>
            <a:ext cx="8153400" cy="731838"/>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r>
              <a:rPr lang="en-IN" sz="4400" dirty="0">
                <a:solidFill>
                  <a:srgbClr val="C00000"/>
                </a:solidFill>
              </a:rPr>
              <a:t>Matrix:</a:t>
            </a:r>
          </a:p>
        </p:txBody>
      </p:sp>
      <p:sp>
        <p:nvSpPr>
          <p:cNvPr id="5" name="TextBox 4"/>
          <p:cNvSpPr txBox="1"/>
          <p:nvPr/>
        </p:nvSpPr>
        <p:spPr>
          <a:xfrm>
            <a:off x="533400" y="2971800"/>
            <a:ext cx="5867400" cy="1692771"/>
          </a:xfrm>
          <a:prstGeom prst="rect">
            <a:avLst/>
          </a:prstGeom>
          <a:solidFill>
            <a:schemeClr val="bg1">
              <a:lumMod val="85000"/>
            </a:schemeClr>
          </a:solidFill>
        </p:spPr>
        <p:txBody>
          <a:bodyPr wrap="square" rtlCol="0">
            <a:spAutoFit/>
          </a:bodyPr>
          <a:lstStyle/>
          <a:p>
            <a:r>
              <a:rPr lang="en-IN" sz="2400" b="1" dirty="0"/>
              <a:t>Declaration Syntax:</a:t>
            </a:r>
          </a:p>
          <a:p>
            <a:r>
              <a:rPr lang="en-IN" sz="2400" b="1" dirty="0" err="1"/>
              <a:t>datatype</a:t>
            </a:r>
            <a:r>
              <a:rPr lang="en-IN" sz="2400" b="1" dirty="0"/>
              <a:t>  </a:t>
            </a:r>
            <a:r>
              <a:rPr lang="en-IN" sz="2400" b="1" dirty="0" err="1"/>
              <a:t>arrayname</a:t>
            </a:r>
            <a:r>
              <a:rPr lang="en-IN" sz="2400" b="1" dirty="0"/>
              <a:t>[</a:t>
            </a:r>
            <a:r>
              <a:rPr lang="en-IN" sz="2400" b="1" dirty="0" err="1"/>
              <a:t>rowsize</a:t>
            </a:r>
            <a:r>
              <a:rPr lang="en-IN" sz="2400" b="1" dirty="0"/>
              <a:t>][</a:t>
            </a:r>
            <a:r>
              <a:rPr lang="en-IN" sz="2400" b="1" dirty="0" err="1"/>
              <a:t>colsize</a:t>
            </a:r>
            <a:r>
              <a:rPr lang="en-IN" sz="2400" b="1" dirty="0"/>
              <a:t>];</a:t>
            </a:r>
          </a:p>
          <a:p>
            <a:r>
              <a:rPr lang="en-IN" sz="2400" b="1" dirty="0"/>
              <a:t>Ex: </a:t>
            </a:r>
            <a:r>
              <a:rPr lang="en-IN" sz="2400" b="1" dirty="0" err="1"/>
              <a:t>int</a:t>
            </a:r>
            <a:r>
              <a:rPr lang="en-IN" sz="2400" b="1" dirty="0"/>
              <a:t> m[2][3];</a:t>
            </a:r>
          </a:p>
          <a:p>
            <a:endParaRPr lang="en-IN" sz="3200" b="1" dirty="0"/>
          </a:p>
        </p:txBody>
      </p:sp>
      <p:cxnSp>
        <p:nvCxnSpPr>
          <p:cNvPr id="6" name="Straight Connector 5"/>
          <p:cNvCxnSpPr/>
          <p:nvPr/>
        </p:nvCxnSpPr>
        <p:spPr>
          <a:xfrm rot="5400000">
            <a:off x="838994" y="4267200"/>
            <a:ext cx="457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1067594" y="4495800"/>
            <a:ext cx="609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676400" y="4267200"/>
            <a:ext cx="1143000" cy="381000"/>
          </a:xfrm>
          <a:prstGeom prst="rect">
            <a:avLst/>
          </a:prstGeom>
          <a:noFill/>
        </p:spPr>
        <p:txBody>
          <a:bodyPr wrap="square" rtlCol="0">
            <a:spAutoFit/>
          </a:bodyPr>
          <a:lstStyle/>
          <a:p>
            <a:r>
              <a:rPr lang="en-IN" dirty="0"/>
              <a:t>Data type</a:t>
            </a:r>
          </a:p>
        </p:txBody>
      </p:sp>
      <p:cxnSp>
        <p:nvCxnSpPr>
          <p:cNvPr id="9" name="Straight Connector 8"/>
          <p:cNvCxnSpPr/>
          <p:nvPr/>
        </p:nvCxnSpPr>
        <p:spPr>
          <a:xfrm rot="5400000">
            <a:off x="1372394" y="4114006"/>
            <a:ext cx="3048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676400" y="4114006"/>
            <a:ext cx="1295400" cy="369332"/>
          </a:xfrm>
          <a:prstGeom prst="rect">
            <a:avLst/>
          </a:prstGeom>
          <a:noFill/>
        </p:spPr>
        <p:txBody>
          <a:bodyPr wrap="square" rtlCol="0">
            <a:spAutoFit/>
          </a:bodyPr>
          <a:lstStyle/>
          <a:p>
            <a:r>
              <a:rPr lang="en-IN" dirty="0"/>
              <a:t>Array name</a:t>
            </a:r>
          </a:p>
        </p:txBody>
      </p:sp>
      <p:cxnSp>
        <p:nvCxnSpPr>
          <p:cNvPr id="11" name="Straight Arrow Connector 10"/>
          <p:cNvCxnSpPr/>
          <p:nvPr/>
        </p:nvCxnSpPr>
        <p:spPr>
          <a:xfrm>
            <a:off x="2590800" y="3962400"/>
            <a:ext cx="1105694"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3657600" y="3810000"/>
            <a:ext cx="1600200" cy="369332"/>
          </a:xfrm>
          <a:prstGeom prst="rect">
            <a:avLst/>
          </a:prstGeom>
          <a:noFill/>
        </p:spPr>
        <p:txBody>
          <a:bodyPr wrap="square" rtlCol="0">
            <a:spAutoFit/>
          </a:bodyPr>
          <a:lstStyle/>
          <a:p>
            <a:r>
              <a:rPr lang="en-IN" dirty="0"/>
              <a:t>Size of Column</a:t>
            </a:r>
          </a:p>
        </p:txBody>
      </p:sp>
      <p:cxnSp>
        <p:nvCxnSpPr>
          <p:cNvPr id="14" name="Straight Arrow Connector 13"/>
          <p:cNvCxnSpPr/>
          <p:nvPr/>
        </p:nvCxnSpPr>
        <p:spPr>
          <a:xfrm>
            <a:off x="1524000" y="4266406"/>
            <a:ext cx="228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1981200" y="4038600"/>
            <a:ext cx="1828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3810000" y="4114800"/>
            <a:ext cx="1371600" cy="369332"/>
          </a:xfrm>
          <a:prstGeom prst="rect">
            <a:avLst/>
          </a:prstGeom>
          <a:noFill/>
        </p:spPr>
        <p:txBody>
          <a:bodyPr wrap="square" rtlCol="0">
            <a:spAutoFit/>
          </a:bodyPr>
          <a:lstStyle/>
          <a:p>
            <a:r>
              <a:rPr lang="en-IN" dirty="0"/>
              <a:t>Size of Row</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059363"/>
          </a:xfrm>
        </p:spPr>
        <p:txBody>
          <a:bodyPr/>
          <a:lstStyle/>
          <a:p>
            <a:r>
              <a:rPr lang="en-IN" sz="2400" b="1" dirty="0">
                <a:solidFill>
                  <a:srgbClr val="C00000"/>
                </a:solidFill>
              </a:rPr>
              <a:t>Logical View or User’s view</a:t>
            </a:r>
          </a:p>
          <a:p>
            <a:endParaRPr lang="en-IN" b="1" dirty="0"/>
          </a:p>
          <a:p>
            <a:endParaRPr lang="en-IN" b="1" dirty="0"/>
          </a:p>
          <a:p>
            <a:endParaRPr lang="en-IN" sz="2400" b="1" dirty="0">
              <a:solidFill>
                <a:srgbClr val="FF0000"/>
              </a:solidFill>
            </a:endParaRPr>
          </a:p>
          <a:p>
            <a:r>
              <a:rPr lang="en-IN" sz="2400" b="1" dirty="0">
                <a:solidFill>
                  <a:srgbClr val="C00000"/>
                </a:solidFill>
              </a:rPr>
              <a:t>Memory Representation</a:t>
            </a:r>
          </a:p>
        </p:txBody>
      </p:sp>
      <p:graphicFrame>
        <p:nvGraphicFramePr>
          <p:cNvPr id="4" name="Table 3"/>
          <p:cNvGraphicFramePr>
            <a:graphicFrameLocks noGrp="1"/>
          </p:cNvGraphicFramePr>
          <p:nvPr/>
        </p:nvGraphicFramePr>
        <p:xfrm>
          <a:off x="1600200" y="2057399"/>
          <a:ext cx="6096000" cy="74168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pPr algn="ctr"/>
                      <a:r>
                        <a:rPr lang="en-IN" dirty="0">
                          <a:solidFill>
                            <a:schemeClr val="tx1"/>
                          </a:solidFill>
                        </a:rPr>
                        <a:t>m[0][0]</a:t>
                      </a:r>
                    </a:p>
                  </a:txBody>
                  <a:tcPr>
                    <a:solidFill>
                      <a:schemeClr val="bg1">
                        <a:lumMod val="85000"/>
                      </a:schemeClr>
                    </a:solidFill>
                  </a:tcPr>
                </a:tc>
                <a:tc>
                  <a:txBody>
                    <a:bodyPr/>
                    <a:lstStyle/>
                    <a:p>
                      <a:pPr algn="ctr"/>
                      <a:r>
                        <a:rPr lang="en-IN" dirty="0">
                          <a:solidFill>
                            <a:schemeClr val="tx1"/>
                          </a:solidFill>
                        </a:rPr>
                        <a:t>m[0][1]</a:t>
                      </a:r>
                    </a:p>
                  </a:txBody>
                  <a:tcPr>
                    <a:solidFill>
                      <a:schemeClr val="bg1">
                        <a:lumMod val="85000"/>
                      </a:schemeClr>
                    </a:solidFill>
                  </a:tcPr>
                </a:tc>
                <a:tc>
                  <a:txBody>
                    <a:bodyPr/>
                    <a:lstStyle/>
                    <a:p>
                      <a:pPr algn="ctr"/>
                      <a:r>
                        <a:rPr lang="en-IN" dirty="0">
                          <a:solidFill>
                            <a:schemeClr val="tx1"/>
                          </a:solidFill>
                        </a:rPr>
                        <a:t>m[0][2]</a:t>
                      </a:r>
                    </a:p>
                  </a:txBody>
                  <a:tcPr>
                    <a:solidFill>
                      <a:schemeClr val="bg1">
                        <a:lumMod val="85000"/>
                      </a:schemeClr>
                    </a:solidFill>
                  </a:tcPr>
                </a:tc>
                <a:extLst>
                  <a:ext uri="{0D108BD9-81ED-4DB2-BD59-A6C34878D82A}">
                    <a16:rowId xmlns:a16="http://schemas.microsoft.com/office/drawing/2014/main" val="10000"/>
                  </a:ext>
                </a:extLst>
              </a:tr>
              <a:tr h="370840">
                <a:tc>
                  <a:txBody>
                    <a:bodyPr/>
                    <a:lstStyle/>
                    <a:p>
                      <a:pPr algn="ctr"/>
                      <a:r>
                        <a:rPr lang="en-IN" b="1" dirty="0">
                          <a:solidFill>
                            <a:schemeClr val="tx1"/>
                          </a:solidFill>
                        </a:rPr>
                        <a:t>m[1][0]</a:t>
                      </a:r>
                    </a:p>
                  </a:txBody>
                  <a:tcPr>
                    <a:solidFill>
                      <a:schemeClr val="bg1">
                        <a:lumMod val="85000"/>
                      </a:schemeClr>
                    </a:solidFill>
                  </a:tcPr>
                </a:tc>
                <a:tc>
                  <a:txBody>
                    <a:bodyPr/>
                    <a:lstStyle/>
                    <a:p>
                      <a:pPr algn="ctr"/>
                      <a:r>
                        <a:rPr lang="en-IN" b="1" dirty="0">
                          <a:solidFill>
                            <a:schemeClr val="tx1"/>
                          </a:solidFill>
                        </a:rPr>
                        <a:t>m[1][1]</a:t>
                      </a:r>
                    </a:p>
                  </a:txBody>
                  <a:tcPr>
                    <a:solidFill>
                      <a:schemeClr val="bg1">
                        <a:lumMod val="85000"/>
                      </a:schemeClr>
                    </a:solidFill>
                  </a:tcPr>
                </a:tc>
                <a:tc>
                  <a:txBody>
                    <a:bodyPr/>
                    <a:lstStyle/>
                    <a:p>
                      <a:pPr algn="ctr"/>
                      <a:r>
                        <a:rPr lang="en-IN" b="1" dirty="0">
                          <a:solidFill>
                            <a:schemeClr val="tx1"/>
                          </a:solidFill>
                        </a:rPr>
                        <a:t>m[1][2]</a:t>
                      </a:r>
                    </a:p>
                  </a:txBody>
                  <a:tcPr>
                    <a:solidFill>
                      <a:schemeClr val="bg1">
                        <a:lumMod val="85000"/>
                      </a:schemeClr>
                    </a:solidFill>
                  </a:tcPr>
                </a:tc>
                <a:extLst>
                  <a:ext uri="{0D108BD9-81ED-4DB2-BD59-A6C34878D82A}">
                    <a16:rowId xmlns:a16="http://schemas.microsoft.com/office/drawing/2014/main" val="10001"/>
                  </a:ext>
                </a:extLst>
              </a:tr>
            </a:tbl>
          </a:graphicData>
        </a:graphic>
      </p:graphicFrame>
      <p:cxnSp>
        <p:nvCxnSpPr>
          <p:cNvPr id="6" name="Straight Arrow Connector 5"/>
          <p:cNvCxnSpPr/>
          <p:nvPr/>
        </p:nvCxnSpPr>
        <p:spPr>
          <a:xfrm>
            <a:off x="1143000" y="2285999"/>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533400" y="2133599"/>
            <a:ext cx="685800" cy="276999"/>
          </a:xfrm>
          <a:prstGeom prst="rect">
            <a:avLst/>
          </a:prstGeom>
          <a:noFill/>
        </p:spPr>
        <p:txBody>
          <a:bodyPr wrap="square" rtlCol="0">
            <a:spAutoFit/>
          </a:bodyPr>
          <a:lstStyle/>
          <a:p>
            <a:r>
              <a:rPr lang="en-IN" sz="1200" dirty="0"/>
              <a:t>Row1</a:t>
            </a:r>
          </a:p>
        </p:txBody>
      </p:sp>
      <p:cxnSp>
        <p:nvCxnSpPr>
          <p:cNvPr id="9" name="Straight Arrow Connector 8"/>
          <p:cNvCxnSpPr/>
          <p:nvPr/>
        </p:nvCxnSpPr>
        <p:spPr>
          <a:xfrm>
            <a:off x="1143000" y="2618600"/>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33400" y="2466200"/>
            <a:ext cx="685800" cy="276999"/>
          </a:xfrm>
          <a:prstGeom prst="rect">
            <a:avLst/>
          </a:prstGeom>
          <a:noFill/>
        </p:spPr>
        <p:txBody>
          <a:bodyPr wrap="square" rtlCol="0">
            <a:spAutoFit/>
          </a:bodyPr>
          <a:lstStyle/>
          <a:p>
            <a:r>
              <a:rPr lang="en-IN" sz="1200" dirty="0"/>
              <a:t>Row 2</a:t>
            </a:r>
          </a:p>
        </p:txBody>
      </p:sp>
      <p:sp>
        <p:nvSpPr>
          <p:cNvPr id="11" name="TextBox 10"/>
          <p:cNvSpPr txBox="1"/>
          <p:nvPr/>
        </p:nvSpPr>
        <p:spPr>
          <a:xfrm>
            <a:off x="1905000" y="1600200"/>
            <a:ext cx="990600" cy="369332"/>
          </a:xfrm>
          <a:prstGeom prst="rect">
            <a:avLst/>
          </a:prstGeom>
          <a:noFill/>
        </p:spPr>
        <p:txBody>
          <a:bodyPr wrap="square" rtlCol="0">
            <a:spAutoFit/>
          </a:bodyPr>
          <a:lstStyle/>
          <a:p>
            <a:endParaRPr lang="en-IN" dirty="0"/>
          </a:p>
        </p:txBody>
      </p:sp>
      <p:sp>
        <p:nvSpPr>
          <p:cNvPr id="12" name="TextBox 11"/>
          <p:cNvSpPr txBox="1"/>
          <p:nvPr/>
        </p:nvSpPr>
        <p:spPr>
          <a:xfrm>
            <a:off x="2362200" y="1524000"/>
            <a:ext cx="533400" cy="276999"/>
          </a:xfrm>
          <a:prstGeom prst="rect">
            <a:avLst/>
          </a:prstGeom>
          <a:noFill/>
        </p:spPr>
        <p:txBody>
          <a:bodyPr wrap="square" rtlCol="0">
            <a:spAutoFit/>
          </a:bodyPr>
          <a:lstStyle/>
          <a:p>
            <a:r>
              <a:rPr lang="en-IN" sz="1200" dirty="0"/>
              <a:t>Col 1</a:t>
            </a:r>
          </a:p>
        </p:txBody>
      </p:sp>
      <p:cxnSp>
        <p:nvCxnSpPr>
          <p:cNvPr id="14" name="Straight Arrow Connector 13"/>
          <p:cNvCxnSpPr/>
          <p:nvPr/>
        </p:nvCxnSpPr>
        <p:spPr>
          <a:xfrm rot="5400000">
            <a:off x="2476500" y="1943099"/>
            <a:ext cx="228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4419600" y="1600199"/>
            <a:ext cx="685800" cy="276999"/>
          </a:xfrm>
          <a:prstGeom prst="rect">
            <a:avLst/>
          </a:prstGeom>
          <a:noFill/>
        </p:spPr>
        <p:txBody>
          <a:bodyPr wrap="square" rtlCol="0">
            <a:spAutoFit/>
          </a:bodyPr>
          <a:lstStyle/>
          <a:p>
            <a:r>
              <a:rPr lang="en-IN" sz="1200" dirty="0"/>
              <a:t>Col 2</a:t>
            </a:r>
          </a:p>
        </p:txBody>
      </p:sp>
      <p:cxnSp>
        <p:nvCxnSpPr>
          <p:cNvPr id="23" name="Straight Arrow Connector 22"/>
          <p:cNvCxnSpPr/>
          <p:nvPr/>
        </p:nvCxnSpPr>
        <p:spPr>
          <a:xfrm rot="5400000">
            <a:off x="4533900" y="1915298"/>
            <a:ext cx="228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6477000" y="1551800"/>
            <a:ext cx="685800" cy="276999"/>
          </a:xfrm>
          <a:prstGeom prst="rect">
            <a:avLst/>
          </a:prstGeom>
          <a:noFill/>
        </p:spPr>
        <p:txBody>
          <a:bodyPr wrap="square" rtlCol="0">
            <a:spAutoFit/>
          </a:bodyPr>
          <a:lstStyle/>
          <a:p>
            <a:r>
              <a:rPr lang="en-IN" sz="1200" dirty="0"/>
              <a:t>Col 3</a:t>
            </a:r>
          </a:p>
        </p:txBody>
      </p:sp>
      <p:cxnSp>
        <p:nvCxnSpPr>
          <p:cNvPr id="25" name="Straight Arrow Connector 24"/>
          <p:cNvCxnSpPr/>
          <p:nvPr/>
        </p:nvCxnSpPr>
        <p:spPr>
          <a:xfrm rot="5400000">
            <a:off x="6515100" y="1942305"/>
            <a:ext cx="228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6" name="Table 25"/>
          <p:cNvGraphicFramePr>
            <a:graphicFrameLocks noGrp="1"/>
          </p:cNvGraphicFramePr>
          <p:nvPr/>
        </p:nvGraphicFramePr>
        <p:xfrm>
          <a:off x="1447800" y="3886200"/>
          <a:ext cx="6096000" cy="37084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70840">
                <a:tc>
                  <a:txBody>
                    <a:bodyPr/>
                    <a:lstStyle/>
                    <a:p>
                      <a:r>
                        <a:rPr lang="en-IN" dirty="0">
                          <a:solidFill>
                            <a:srgbClr val="FF0000"/>
                          </a:solidFill>
                        </a:rPr>
                        <a:t>m[0][0]</a:t>
                      </a:r>
                    </a:p>
                  </a:txBody>
                  <a:tcP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solidFill>
                            <a:srgbClr val="FF0000"/>
                          </a:solidFill>
                        </a:rPr>
                        <a:t>m[0][1]</a:t>
                      </a:r>
                    </a:p>
                  </a:txBody>
                  <a:tcP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solidFill>
                            <a:srgbClr val="FF0000"/>
                          </a:solidFill>
                        </a:rPr>
                        <a:t>m[0][2]</a:t>
                      </a:r>
                    </a:p>
                  </a:txBody>
                  <a:tcP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solidFill>
                            <a:srgbClr val="7030A0"/>
                          </a:solidFill>
                        </a:rPr>
                        <a:t>m[1][0]</a:t>
                      </a:r>
                    </a:p>
                  </a:txBody>
                  <a:tcP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solidFill>
                            <a:srgbClr val="7030A0"/>
                          </a:solidFill>
                        </a:rPr>
                        <a:t>m[1][1]</a:t>
                      </a:r>
                    </a:p>
                  </a:txBody>
                  <a:tcP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solidFill>
                            <a:srgbClr val="7030A0"/>
                          </a:solidFill>
                        </a:rPr>
                        <a:t>m[1][2]</a:t>
                      </a:r>
                    </a:p>
                  </a:txBody>
                  <a:tcPr>
                    <a:solidFill>
                      <a:schemeClr val="bg1">
                        <a:lumMod val="85000"/>
                      </a:schemeClr>
                    </a:solidFill>
                  </a:tcPr>
                </a:tc>
                <a:extLst>
                  <a:ext uri="{0D108BD9-81ED-4DB2-BD59-A6C34878D82A}">
                    <a16:rowId xmlns:a16="http://schemas.microsoft.com/office/drawing/2014/main" val="10000"/>
                  </a:ext>
                </a:extLst>
              </a:tr>
            </a:tbl>
          </a:graphicData>
        </a:graphic>
      </p:graphicFrame>
      <p:cxnSp>
        <p:nvCxnSpPr>
          <p:cNvPr id="28" name="Straight Arrow Connector 27"/>
          <p:cNvCxnSpPr/>
          <p:nvPr/>
        </p:nvCxnSpPr>
        <p:spPr>
          <a:xfrm>
            <a:off x="1524000" y="4951412"/>
            <a:ext cx="2971800" cy="1588"/>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4572000" y="4951412"/>
            <a:ext cx="2971800" cy="1588"/>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438400" y="4572000"/>
            <a:ext cx="990600" cy="369332"/>
          </a:xfrm>
          <a:prstGeom prst="rect">
            <a:avLst/>
          </a:prstGeom>
          <a:noFill/>
        </p:spPr>
        <p:txBody>
          <a:bodyPr wrap="square" rtlCol="0">
            <a:spAutoFit/>
          </a:bodyPr>
          <a:lstStyle/>
          <a:p>
            <a:r>
              <a:rPr lang="en-IN" dirty="0"/>
              <a:t>1</a:t>
            </a:r>
            <a:r>
              <a:rPr lang="en-IN" baseline="30000" dirty="0"/>
              <a:t>st</a:t>
            </a:r>
            <a:r>
              <a:rPr lang="en-IN" dirty="0"/>
              <a:t>  Row</a:t>
            </a:r>
          </a:p>
        </p:txBody>
      </p:sp>
      <p:sp>
        <p:nvSpPr>
          <p:cNvPr id="31" name="TextBox 30"/>
          <p:cNvSpPr txBox="1"/>
          <p:nvPr/>
        </p:nvSpPr>
        <p:spPr>
          <a:xfrm>
            <a:off x="5486400" y="4495800"/>
            <a:ext cx="1219200" cy="369332"/>
          </a:xfrm>
          <a:prstGeom prst="rect">
            <a:avLst/>
          </a:prstGeom>
          <a:noFill/>
        </p:spPr>
        <p:txBody>
          <a:bodyPr wrap="square" rtlCol="0">
            <a:spAutoFit/>
          </a:bodyPr>
          <a:lstStyle/>
          <a:p>
            <a:r>
              <a:rPr lang="en-IN" dirty="0"/>
              <a:t>2</a:t>
            </a:r>
            <a:r>
              <a:rPr lang="en-IN" baseline="30000" dirty="0"/>
              <a:t>nd</a:t>
            </a:r>
            <a:r>
              <a:rPr lang="en-IN" dirty="0"/>
              <a:t>   Row</a:t>
            </a:r>
          </a:p>
        </p:txBody>
      </p:sp>
      <p:sp>
        <p:nvSpPr>
          <p:cNvPr id="32" name="TextBox 31"/>
          <p:cNvSpPr txBox="1"/>
          <p:nvPr/>
        </p:nvSpPr>
        <p:spPr>
          <a:xfrm>
            <a:off x="1219200" y="4267200"/>
            <a:ext cx="685800" cy="369332"/>
          </a:xfrm>
          <a:prstGeom prst="rect">
            <a:avLst/>
          </a:prstGeom>
          <a:noFill/>
        </p:spPr>
        <p:txBody>
          <a:bodyPr wrap="square" rtlCol="0">
            <a:spAutoFit/>
          </a:bodyPr>
          <a:lstStyle/>
          <a:p>
            <a:r>
              <a:rPr lang="en-IN" dirty="0"/>
              <a:t>1000</a:t>
            </a:r>
          </a:p>
        </p:txBody>
      </p:sp>
      <p:sp>
        <p:nvSpPr>
          <p:cNvPr id="33" name="TextBox 32"/>
          <p:cNvSpPr txBox="1"/>
          <p:nvPr/>
        </p:nvSpPr>
        <p:spPr>
          <a:xfrm>
            <a:off x="2133600" y="4267200"/>
            <a:ext cx="685800" cy="369332"/>
          </a:xfrm>
          <a:prstGeom prst="rect">
            <a:avLst/>
          </a:prstGeom>
          <a:noFill/>
        </p:spPr>
        <p:txBody>
          <a:bodyPr wrap="square" rtlCol="0">
            <a:spAutoFit/>
          </a:bodyPr>
          <a:lstStyle/>
          <a:p>
            <a:r>
              <a:rPr lang="en-IN" dirty="0"/>
              <a:t>1004</a:t>
            </a:r>
          </a:p>
        </p:txBody>
      </p:sp>
      <p:sp>
        <p:nvSpPr>
          <p:cNvPr id="34" name="TextBox 33"/>
          <p:cNvSpPr txBox="1"/>
          <p:nvPr/>
        </p:nvSpPr>
        <p:spPr>
          <a:xfrm>
            <a:off x="3276600" y="4267200"/>
            <a:ext cx="685800" cy="369332"/>
          </a:xfrm>
          <a:prstGeom prst="rect">
            <a:avLst/>
          </a:prstGeom>
          <a:noFill/>
        </p:spPr>
        <p:txBody>
          <a:bodyPr wrap="square" rtlCol="0">
            <a:spAutoFit/>
          </a:bodyPr>
          <a:lstStyle/>
          <a:p>
            <a:r>
              <a:rPr lang="en-IN" dirty="0"/>
              <a:t>1008</a:t>
            </a:r>
          </a:p>
        </p:txBody>
      </p:sp>
      <p:sp>
        <p:nvSpPr>
          <p:cNvPr id="35" name="TextBox 34"/>
          <p:cNvSpPr txBox="1"/>
          <p:nvPr/>
        </p:nvSpPr>
        <p:spPr>
          <a:xfrm>
            <a:off x="4343400" y="4267200"/>
            <a:ext cx="685800" cy="369332"/>
          </a:xfrm>
          <a:prstGeom prst="rect">
            <a:avLst/>
          </a:prstGeom>
          <a:noFill/>
        </p:spPr>
        <p:txBody>
          <a:bodyPr wrap="square" rtlCol="0">
            <a:spAutoFit/>
          </a:bodyPr>
          <a:lstStyle/>
          <a:p>
            <a:r>
              <a:rPr lang="en-IN" dirty="0"/>
              <a:t>1012</a:t>
            </a:r>
          </a:p>
        </p:txBody>
      </p:sp>
      <p:sp>
        <p:nvSpPr>
          <p:cNvPr id="36" name="TextBox 35"/>
          <p:cNvSpPr txBox="1"/>
          <p:nvPr/>
        </p:nvSpPr>
        <p:spPr>
          <a:xfrm>
            <a:off x="5257800" y="4267200"/>
            <a:ext cx="685800" cy="369332"/>
          </a:xfrm>
          <a:prstGeom prst="rect">
            <a:avLst/>
          </a:prstGeom>
          <a:noFill/>
        </p:spPr>
        <p:txBody>
          <a:bodyPr wrap="square" rtlCol="0">
            <a:spAutoFit/>
          </a:bodyPr>
          <a:lstStyle/>
          <a:p>
            <a:r>
              <a:rPr lang="en-IN" dirty="0"/>
              <a:t>1016</a:t>
            </a:r>
          </a:p>
        </p:txBody>
      </p:sp>
      <p:sp>
        <p:nvSpPr>
          <p:cNvPr id="37" name="TextBox 36"/>
          <p:cNvSpPr txBox="1"/>
          <p:nvPr/>
        </p:nvSpPr>
        <p:spPr>
          <a:xfrm>
            <a:off x="6248400" y="4267200"/>
            <a:ext cx="685800" cy="369332"/>
          </a:xfrm>
          <a:prstGeom prst="rect">
            <a:avLst/>
          </a:prstGeom>
          <a:noFill/>
        </p:spPr>
        <p:txBody>
          <a:bodyPr wrap="square" rtlCol="0">
            <a:spAutoFit/>
          </a:bodyPr>
          <a:lstStyle/>
          <a:p>
            <a:r>
              <a:rPr lang="en-IN" dirty="0"/>
              <a:t>1020</a:t>
            </a:r>
          </a:p>
        </p:txBody>
      </p:sp>
      <p:sp>
        <p:nvSpPr>
          <p:cNvPr id="38" name="TextBox 37"/>
          <p:cNvSpPr txBox="1"/>
          <p:nvPr/>
        </p:nvSpPr>
        <p:spPr>
          <a:xfrm>
            <a:off x="381000" y="5562600"/>
            <a:ext cx="8458200" cy="369332"/>
          </a:xfrm>
          <a:prstGeom prst="rect">
            <a:avLst/>
          </a:prstGeom>
          <a:noFill/>
        </p:spPr>
        <p:txBody>
          <a:bodyPr wrap="square" rtlCol="0">
            <a:spAutoFit/>
          </a:bodyPr>
          <a:lstStyle/>
          <a:p>
            <a:r>
              <a:rPr lang="en-IN" b="1" dirty="0">
                <a:solidFill>
                  <a:srgbClr val="C00000"/>
                </a:solidFill>
              </a:rPr>
              <a:t>Two dimensional arrays are stored in the memory in form of one dimensional arrays</a:t>
            </a:r>
            <a:r>
              <a:rPr lang="en-IN" dirty="0"/>
              <a:t>.</a:t>
            </a:r>
          </a:p>
        </p:txBody>
      </p:sp>
      <p:sp>
        <p:nvSpPr>
          <p:cNvPr id="39" name="Title 3"/>
          <p:cNvSpPr>
            <a:spLocks noGrp="1"/>
          </p:cNvSpPr>
          <p:nvPr>
            <p:ph type="title"/>
          </p:nvPr>
        </p:nvSpPr>
        <p:spPr>
          <a:xfrm>
            <a:off x="457200" y="274638"/>
            <a:ext cx="8229600" cy="563562"/>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r>
              <a:rPr lang="en-IN" sz="4400" dirty="0">
                <a:solidFill>
                  <a:srgbClr val="C00000"/>
                </a:solidFill>
              </a:rPr>
              <a:t>Matrix:</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endParaRPr lang="en-IN" dirty="0"/>
          </a:p>
        </p:txBody>
      </p:sp>
      <p:sp>
        <p:nvSpPr>
          <p:cNvPr id="3" name="Content Placeholder 2"/>
          <p:cNvSpPr>
            <a:spLocks noGrp="1"/>
          </p:cNvSpPr>
          <p:nvPr>
            <p:ph idx="1"/>
          </p:nvPr>
        </p:nvSpPr>
        <p:spPr>
          <a:xfrm>
            <a:off x="304800" y="1143000"/>
            <a:ext cx="8610600" cy="5562600"/>
          </a:xfrm>
        </p:spPr>
        <p:txBody>
          <a:bodyPr>
            <a:normAutofit/>
          </a:bodyPr>
          <a:lstStyle/>
          <a:p>
            <a:r>
              <a:rPr lang="en-IN" sz="2400" dirty="0"/>
              <a:t>To access a particular matrix element </a:t>
            </a:r>
            <a:r>
              <a:rPr lang="en-US" sz="2400" dirty="0"/>
              <a:t>by specifying the two </a:t>
            </a:r>
            <a:r>
              <a:rPr lang="en-IN" sz="2400" b="1" dirty="0">
                <a:solidFill>
                  <a:srgbClr val="FF0000"/>
                </a:solidFill>
              </a:rPr>
              <a:t>index</a:t>
            </a:r>
            <a:r>
              <a:rPr lang="en-US" sz="2400" dirty="0"/>
              <a:t> of the desired element within two </a:t>
            </a:r>
            <a:r>
              <a:rPr lang="en-US" sz="2400" b="1" dirty="0">
                <a:solidFill>
                  <a:srgbClr val="C00000"/>
                </a:solidFill>
              </a:rPr>
              <a:t>square [ ] brackets</a:t>
            </a:r>
            <a:r>
              <a:rPr lang="en-US" sz="2400" dirty="0"/>
              <a:t> after </a:t>
            </a:r>
            <a:r>
              <a:rPr lang="en-US" sz="2400" b="1" dirty="0">
                <a:solidFill>
                  <a:srgbClr val="C00000"/>
                </a:solidFill>
              </a:rPr>
              <a:t>the matrix name</a:t>
            </a:r>
            <a:r>
              <a:rPr lang="en-US" sz="2400" dirty="0"/>
              <a:t>. </a:t>
            </a:r>
          </a:p>
          <a:p>
            <a:pPr>
              <a:buNone/>
            </a:pPr>
            <a:r>
              <a:rPr lang="en-US" sz="2400" dirty="0"/>
              <a:t>		</a:t>
            </a:r>
          </a:p>
          <a:p>
            <a:pPr lvl="1"/>
            <a:r>
              <a:rPr lang="en-US" sz="2400" dirty="0"/>
              <a:t>The first index selects row and the 2</a:t>
            </a:r>
            <a:r>
              <a:rPr lang="en-US" sz="2400" baseline="30000" dirty="0"/>
              <a:t>nd</a:t>
            </a:r>
            <a:r>
              <a:rPr lang="en-US" sz="2400" dirty="0"/>
              <a:t> index select the column within that row.</a:t>
            </a:r>
          </a:p>
          <a:p>
            <a:pPr lvl="1"/>
            <a:r>
              <a:rPr lang="en-US" sz="2400" dirty="0"/>
              <a:t>EX: To access 3</a:t>
            </a:r>
            <a:r>
              <a:rPr lang="en-US" sz="2400" baseline="30000" dirty="0"/>
              <a:t>rd</a:t>
            </a:r>
            <a:r>
              <a:rPr lang="en-US" sz="2400" dirty="0"/>
              <a:t> column of 1</a:t>
            </a:r>
            <a:r>
              <a:rPr lang="en-US" sz="2400" baseline="30000" dirty="0"/>
              <a:t>st</a:t>
            </a:r>
            <a:r>
              <a:rPr lang="en-US" sz="2400" dirty="0"/>
              <a:t> row of matrix m</a:t>
            </a:r>
          </a:p>
          <a:p>
            <a:pPr lvl="2"/>
            <a:endParaRPr lang="en-IN" sz="2000" dirty="0"/>
          </a:p>
          <a:p>
            <a:endParaRPr lang="en-IN" dirty="0"/>
          </a:p>
        </p:txBody>
      </p:sp>
      <p:sp>
        <p:nvSpPr>
          <p:cNvPr id="6" name="TextBox 5"/>
          <p:cNvSpPr txBox="1"/>
          <p:nvPr/>
        </p:nvSpPr>
        <p:spPr>
          <a:xfrm>
            <a:off x="4572000" y="5334000"/>
            <a:ext cx="4343400" cy="369332"/>
          </a:xfrm>
          <a:prstGeom prst="rect">
            <a:avLst/>
          </a:prstGeom>
          <a:solidFill>
            <a:schemeClr val="bg1">
              <a:lumMod val="85000"/>
            </a:schemeClr>
          </a:solidFill>
        </p:spPr>
        <p:txBody>
          <a:bodyPr wrap="square" rtlCol="0">
            <a:spAutoFit/>
          </a:bodyPr>
          <a:lstStyle/>
          <a:p>
            <a:r>
              <a:rPr lang="en-IN" b="1" dirty="0">
                <a:solidFill>
                  <a:srgbClr val="C00000"/>
                </a:solidFill>
              </a:rPr>
              <a:t>Index of the each dimension starts from  0.</a:t>
            </a:r>
          </a:p>
        </p:txBody>
      </p:sp>
      <p:sp>
        <p:nvSpPr>
          <p:cNvPr id="7" name="TextBox 6"/>
          <p:cNvSpPr txBox="1"/>
          <p:nvPr/>
        </p:nvSpPr>
        <p:spPr>
          <a:xfrm>
            <a:off x="304800" y="5105400"/>
            <a:ext cx="4038600" cy="923330"/>
          </a:xfrm>
          <a:prstGeom prst="rect">
            <a:avLst/>
          </a:prstGeom>
          <a:solidFill>
            <a:schemeClr val="bg1">
              <a:lumMod val="85000"/>
            </a:schemeClr>
          </a:solidFill>
        </p:spPr>
        <p:txBody>
          <a:bodyPr wrap="square" rtlCol="0">
            <a:spAutoFit/>
          </a:bodyPr>
          <a:lstStyle/>
          <a:p>
            <a:r>
              <a:rPr lang="en-IN" b="1" dirty="0"/>
              <a:t>If n is the size of the dimension</a:t>
            </a:r>
          </a:p>
          <a:p>
            <a:r>
              <a:rPr lang="en-IN" b="1" dirty="0">
                <a:solidFill>
                  <a:srgbClr val="C00000"/>
                </a:solidFill>
              </a:rPr>
              <a:t>Lower index of the dimension: 0</a:t>
            </a:r>
          </a:p>
          <a:p>
            <a:r>
              <a:rPr lang="en-IN" b="1" dirty="0">
                <a:solidFill>
                  <a:srgbClr val="C00000"/>
                </a:solidFill>
              </a:rPr>
              <a:t>Upper index of the dimension: n-1</a:t>
            </a:r>
          </a:p>
        </p:txBody>
      </p:sp>
      <p:sp>
        <p:nvSpPr>
          <p:cNvPr id="18" name="Rectangle 17"/>
          <p:cNvSpPr/>
          <p:nvPr/>
        </p:nvSpPr>
        <p:spPr>
          <a:xfrm>
            <a:off x="457200" y="304800"/>
            <a:ext cx="8001000" cy="76200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solidFill>
                  <a:srgbClr val="FF0000"/>
                </a:solidFill>
              </a:rPr>
              <a:t>Accessing Two Dimensional Array Element</a:t>
            </a:r>
          </a:p>
        </p:txBody>
      </p:sp>
      <p:sp>
        <p:nvSpPr>
          <p:cNvPr id="16" name="TextBox 15"/>
          <p:cNvSpPr txBox="1"/>
          <p:nvPr/>
        </p:nvSpPr>
        <p:spPr>
          <a:xfrm>
            <a:off x="1371600" y="2286000"/>
            <a:ext cx="5334000" cy="461665"/>
          </a:xfrm>
          <a:prstGeom prst="rect">
            <a:avLst/>
          </a:prstGeom>
          <a:solidFill>
            <a:schemeClr val="bg1">
              <a:lumMod val="85000"/>
            </a:schemeClr>
          </a:solidFill>
        </p:spPr>
        <p:txBody>
          <a:bodyPr wrap="square" rtlCol="0">
            <a:spAutoFit/>
          </a:bodyPr>
          <a:lstStyle/>
          <a:p>
            <a:r>
              <a:rPr lang="en-IN" sz="2400" dirty="0" err="1"/>
              <a:t>matrixname</a:t>
            </a:r>
            <a:r>
              <a:rPr lang="en-IN" sz="2400" dirty="0"/>
              <a:t>[</a:t>
            </a:r>
            <a:r>
              <a:rPr lang="en-IN" sz="2400" dirty="0" err="1"/>
              <a:t>rowindex</a:t>
            </a:r>
            <a:r>
              <a:rPr lang="en-IN" sz="2400" dirty="0"/>
              <a:t>][</a:t>
            </a:r>
            <a:r>
              <a:rPr lang="en-IN" sz="2400" dirty="0" err="1"/>
              <a:t>columnindex</a:t>
            </a:r>
            <a:r>
              <a:rPr lang="en-IN" sz="2400" dirty="0"/>
              <a:t>]</a:t>
            </a:r>
          </a:p>
        </p:txBody>
      </p:sp>
      <p:sp>
        <p:nvSpPr>
          <p:cNvPr id="19" name="TextBox 18"/>
          <p:cNvSpPr txBox="1"/>
          <p:nvPr/>
        </p:nvSpPr>
        <p:spPr>
          <a:xfrm>
            <a:off x="2286000" y="4114800"/>
            <a:ext cx="1143000" cy="461665"/>
          </a:xfrm>
          <a:prstGeom prst="rect">
            <a:avLst/>
          </a:prstGeom>
          <a:solidFill>
            <a:schemeClr val="bg1">
              <a:lumMod val="85000"/>
            </a:schemeClr>
          </a:solidFill>
        </p:spPr>
        <p:txBody>
          <a:bodyPr wrap="square" rtlCol="0">
            <a:spAutoFit/>
          </a:bodyPr>
          <a:lstStyle/>
          <a:p>
            <a:r>
              <a:rPr lang="en-IN" sz="2400" b="1" dirty="0"/>
              <a:t>m[0][2]</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endParaRPr lang="en-IN" dirty="0"/>
          </a:p>
        </p:txBody>
      </p:sp>
      <p:sp>
        <p:nvSpPr>
          <p:cNvPr id="3" name="Content Placeholder 2"/>
          <p:cNvSpPr>
            <a:spLocks noGrp="1"/>
          </p:cNvSpPr>
          <p:nvPr>
            <p:ph idx="1"/>
          </p:nvPr>
        </p:nvSpPr>
        <p:spPr>
          <a:xfrm>
            <a:off x="457200" y="1143000"/>
            <a:ext cx="8458200" cy="5562600"/>
          </a:xfrm>
        </p:spPr>
        <p:txBody>
          <a:bodyPr>
            <a:normAutofit/>
          </a:bodyPr>
          <a:lstStyle/>
          <a:p>
            <a:r>
              <a:rPr lang="en-IN" sz="1400" dirty="0"/>
              <a:t>Like every variable the matrix can be initialized </a:t>
            </a:r>
          </a:p>
          <a:p>
            <a:pPr lvl="0"/>
            <a:r>
              <a:rPr lang="en-US" sz="1200" b="1" dirty="0"/>
              <a:t>Declaration and initialization can be done simultaneously</a:t>
            </a:r>
            <a:endParaRPr lang="en-IN" sz="1200" b="1" dirty="0"/>
          </a:p>
          <a:p>
            <a:pPr lvl="1"/>
            <a:r>
              <a:rPr lang="en-IN" sz="1200" dirty="0"/>
              <a:t>By the programmer(compile time)  </a:t>
            </a:r>
          </a:p>
          <a:p>
            <a:pPr lvl="2"/>
            <a:r>
              <a:rPr lang="en-US" sz="2000" dirty="0"/>
              <a:t>                                                                     </a:t>
            </a:r>
            <a:r>
              <a:rPr lang="en-US" sz="1000" dirty="0"/>
              <a:t>//</a:t>
            </a:r>
            <a:r>
              <a:rPr lang="en-US" sz="1000" b="1" dirty="0"/>
              <a:t>Here all the elements of the matrix is initialized</a:t>
            </a:r>
          </a:p>
          <a:p>
            <a:pPr lvl="2"/>
            <a:endParaRPr lang="en-US" sz="1000" b="1" dirty="0"/>
          </a:p>
          <a:p>
            <a:pPr lvl="2"/>
            <a:endParaRPr lang="en-US" sz="1000" b="1" dirty="0"/>
          </a:p>
          <a:p>
            <a:pPr lvl="2"/>
            <a:endParaRPr lang="en-US" sz="1000" b="1" dirty="0"/>
          </a:p>
          <a:p>
            <a:pPr lvl="2"/>
            <a:endParaRPr lang="en-US" sz="1000" b="1" dirty="0"/>
          </a:p>
          <a:p>
            <a:pPr lvl="2"/>
            <a:endParaRPr lang="en-US" sz="1000" b="1" dirty="0"/>
          </a:p>
          <a:p>
            <a:pPr lvl="2"/>
            <a:endParaRPr lang="en-US" sz="1000" b="1" dirty="0"/>
          </a:p>
          <a:p>
            <a:pPr lvl="2"/>
            <a:endParaRPr lang="en-US" sz="1200" dirty="0"/>
          </a:p>
          <a:p>
            <a:pPr lvl="2"/>
            <a:r>
              <a:rPr lang="en-US" sz="1200" dirty="0"/>
              <a:t>                                                                                                </a:t>
            </a:r>
            <a:endParaRPr lang="en-IN" sz="1200" dirty="0"/>
          </a:p>
          <a:p>
            <a:pPr lvl="2"/>
            <a:endParaRPr lang="en-US" sz="1200" b="1" dirty="0"/>
          </a:p>
          <a:p>
            <a:pPr lvl="2"/>
            <a:endParaRPr lang="en-US" sz="1200" b="1" dirty="0"/>
          </a:p>
          <a:p>
            <a:pPr lvl="2"/>
            <a:endParaRPr lang="en-IN" sz="1200" b="1" dirty="0"/>
          </a:p>
          <a:p>
            <a:pPr lvl="2"/>
            <a:endParaRPr lang="en-IN" sz="1200" b="1" dirty="0"/>
          </a:p>
          <a:p>
            <a:pPr lvl="2"/>
            <a:endParaRPr lang="en-IN" sz="1200" b="1" dirty="0"/>
          </a:p>
          <a:p>
            <a:pPr lvl="2"/>
            <a:r>
              <a:rPr lang="en-IN" sz="1200" b="1" dirty="0"/>
              <a:t>                                        </a:t>
            </a:r>
          </a:p>
          <a:p>
            <a:pPr lvl="2"/>
            <a:endParaRPr lang="en-IN" sz="1200" b="1" dirty="0"/>
          </a:p>
          <a:p>
            <a:pPr lvl="2"/>
            <a:endParaRPr lang="en-IN" sz="1200" b="1" dirty="0"/>
          </a:p>
          <a:p>
            <a:pPr lvl="2"/>
            <a:endParaRPr lang="en-IN" sz="1200" b="1" dirty="0"/>
          </a:p>
          <a:p>
            <a:pPr lvl="2">
              <a:buNone/>
            </a:pPr>
            <a:endParaRPr lang="en-IN" sz="1200" dirty="0"/>
          </a:p>
          <a:p>
            <a:pPr>
              <a:buNone/>
            </a:pPr>
            <a:endParaRPr lang="en-IN" dirty="0"/>
          </a:p>
        </p:txBody>
      </p:sp>
      <p:sp>
        <p:nvSpPr>
          <p:cNvPr id="8" name="TextBox 7"/>
          <p:cNvSpPr txBox="1"/>
          <p:nvPr/>
        </p:nvSpPr>
        <p:spPr>
          <a:xfrm>
            <a:off x="1600200" y="1905000"/>
            <a:ext cx="3733800" cy="369332"/>
          </a:xfrm>
          <a:prstGeom prst="rect">
            <a:avLst/>
          </a:prstGeom>
          <a:solidFill>
            <a:schemeClr val="bg1">
              <a:lumMod val="85000"/>
            </a:schemeClr>
          </a:solidFill>
        </p:spPr>
        <p:txBody>
          <a:bodyPr wrap="square" rtlCol="0">
            <a:spAutoFit/>
          </a:bodyPr>
          <a:lstStyle/>
          <a:p>
            <a:r>
              <a:rPr lang="en-US" dirty="0" err="1"/>
              <a:t>int</a:t>
            </a:r>
            <a:r>
              <a:rPr lang="en-US" dirty="0"/>
              <a:t> m[2][3] = {{10,20,30},{40,50,60}};</a:t>
            </a:r>
            <a:endParaRPr lang="en-IN" dirty="0"/>
          </a:p>
        </p:txBody>
      </p:sp>
      <p:sp>
        <p:nvSpPr>
          <p:cNvPr id="18" name="Rectangle 17"/>
          <p:cNvSpPr/>
          <p:nvPr/>
        </p:nvSpPr>
        <p:spPr>
          <a:xfrm>
            <a:off x="381000" y="304800"/>
            <a:ext cx="8153400" cy="76200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000" dirty="0">
                <a:solidFill>
                  <a:srgbClr val="FF0000"/>
                </a:solidFill>
              </a:rPr>
              <a:t>Initializing Two Dimensional Array</a:t>
            </a:r>
          </a:p>
        </p:txBody>
      </p:sp>
      <p:graphicFrame>
        <p:nvGraphicFramePr>
          <p:cNvPr id="16" name="Table 15"/>
          <p:cNvGraphicFramePr>
            <a:graphicFrameLocks noGrp="1"/>
          </p:cNvGraphicFramePr>
          <p:nvPr/>
        </p:nvGraphicFramePr>
        <p:xfrm>
          <a:off x="1600200" y="2819400"/>
          <a:ext cx="6096000" cy="37084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70840">
                <a:tc>
                  <a:txBody>
                    <a:bodyPr/>
                    <a:lstStyle/>
                    <a:p>
                      <a:pPr algn="ctr"/>
                      <a:r>
                        <a:rPr lang="en-IN" dirty="0">
                          <a:solidFill>
                            <a:srgbClr val="FF0000"/>
                          </a:solidFill>
                        </a:rPr>
                        <a:t>10</a:t>
                      </a:r>
                    </a:p>
                  </a:txBody>
                  <a:tcPr>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solidFill>
                            <a:srgbClr val="FF0000"/>
                          </a:solidFill>
                        </a:rPr>
                        <a:t>20</a:t>
                      </a:r>
                    </a:p>
                  </a:txBody>
                  <a:tcPr>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solidFill>
                            <a:srgbClr val="FF0000"/>
                          </a:solidFill>
                        </a:rPr>
                        <a:t>30</a:t>
                      </a:r>
                    </a:p>
                  </a:txBody>
                  <a:tcPr>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solidFill>
                            <a:srgbClr val="7030A0"/>
                          </a:solidFill>
                        </a:rPr>
                        <a:t>40</a:t>
                      </a:r>
                    </a:p>
                  </a:txBody>
                  <a:tcPr>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solidFill>
                            <a:srgbClr val="7030A0"/>
                          </a:solidFill>
                        </a:rPr>
                        <a:t>50</a:t>
                      </a:r>
                    </a:p>
                  </a:txBody>
                  <a:tcPr>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solidFill>
                            <a:srgbClr val="7030A0"/>
                          </a:solidFill>
                        </a:rPr>
                        <a:t>60</a:t>
                      </a:r>
                    </a:p>
                  </a:txBody>
                  <a:tcPr>
                    <a:solidFill>
                      <a:schemeClr val="bg1">
                        <a:lumMod val="85000"/>
                      </a:schemeClr>
                    </a:solidFill>
                  </a:tcPr>
                </a:tc>
                <a:extLst>
                  <a:ext uri="{0D108BD9-81ED-4DB2-BD59-A6C34878D82A}">
                    <a16:rowId xmlns:a16="http://schemas.microsoft.com/office/drawing/2014/main" val="10000"/>
                  </a:ext>
                </a:extLst>
              </a:tr>
            </a:tbl>
          </a:graphicData>
        </a:graphic>
      </p:graphicFrame>
      <p:sp>
        <p:nvSpPr>
          <p:cNvPr id="19" name="TextBox 18"/>
          <p:cNvSpPr txBox="1"/>
          <p:nvPr/>
        </p:nvSpPr>
        <p:spPr>
          <a:xfrm>
            <a:off x="1828800" y="2438400"/>
            <a:ext cx="685800" cy="553998"/>
          </a:xfrm>
          <a:prstGeom prst="rect">
            <a:avLst/>
          </a:prstGeom>
          <a:noFill/>
        </p:spPr>
        <p:txBody>
          <a:bodyPr wrap="square" rtlCol="0">
            <a:spAutoFit/>
          </a:bodyPr>
          <a:lstStyle/>
          <a:p>
            <a:r>
              <a:rPr lang="en-IN" sz="1200" dirty="0"/>
              <a:t>m[0][0]</a:t>
            </a:r>
          </a:p>
          <a:p>
            <a:endParaRPr lang="en-IN" dirty="0"/>
          </a:p>
        </p:txBody>
      </p:sp>
      <p:sp>
        <p:nvSpPr>
          <p:cNvPr id="20" name="TextBox 19"/>
          <p:cNvSpPr txBox="1"/>
          <p:nvPr/>
        </p:nvSpPr>
        <p:spPr>
          <a:xfrm>
            <a:off x="2743200" y="2438400"/>
            <a:ext cx="685800" cy="553998"/>
          </a:xfrm>
          <a:prstGeom prst="rect">
            <a:avLst/>
          </a:prstGeom>
          <a:noFill/>
        </p:spPr>
        <p:txBody>
          <a:bodyPr wrap="square" rtlCol="0">
            <a:spAutoFit/>
          </a:bodyPr>
          <a:lstStyle/>
          <a:p>
            <a:r>
              <a:rPr lang="en-IN" sz="1200" dirty="0"/>
              <a:t>m[0][1]</a:t>
            </a:r>
          </a:p>
          <a:p>
            <a:endParaRPr lang="en-IN" dirty="0"/>
          </a:p>
        </p:txBody>
      </p:sp>
      <p:sp>
        <p:nvSpPr>
          <p:cNvPr id="21" name="TextBox 20"/>
          <p:cNvSpPr txBox="1"/>
          <p:nvPr/>
        </p:nvSpPr>
        <p:spPr>
          <a:xfrm>
            <a:off x="3733800" y="2438400"/>
            <a:ext cx="685800" cy="553998"/>
          </a:xfrm>
          <a:prstGeom prst="rect">
            <a:avLst/>
          </a:prstGeom>
          <a:noFill/>
        </p:spPr>
        <p:txBody>
          <a:bodyPr wrap="square" rtlCol="0">
            <a:spAutoFit/>
          </a:bodyPr>
          <a:lstStyle/>
          <a:p>
            <a:r>
              <a:rPr lang="en-IN" sz="1200" dirty="0"/>
              <a:t>m[0][2]</a:t>
            </a:r>
          </a:p>
          <a:p>
            <a:endParaRPr lang="en-IN" dirty="0"/>
          </a:p>
        </p:txBody>
      </p:sp>
      <p:sp>
        <p:nvSpPr>
          <p:cNvPr id="22" name="TextBox 21"/>
          <p:cNvSpPr txBox="1"/>
          <p:nvPr/>
        </p:nvSpPr>
        <p:spPr>
          <a:xfrm>
            <a:off x="4800600" y="2438400"/>
            <a:ext cx="685800" cy="553998"/>
          </a:xfrm>
          <a:prstGeom prst="rect">
            <a:avLst/>
          </a:prstGeom>
          <a:noFill/>
        </p:spPr>
        <p:txBody>
          <a:bodyPr wrap="square" rtlCol="0">
            <a:spAutoFit/>
          </a:bodyPr>
          <a:lstStyle/>
          <a:p>
            <a:r>
              <a:rPr lang="en-IN" sz="1200" dirty="0"/>
              <a:t>m[1][0]</a:t>
            </a:r>
          </a:p>
          <a:p>
            <a:endParaRPr lang="en-IN" dirty="0"/>
          </a:p>
        </p:txBody>
      </p:sp>
      <p:sp>
        <p:nvSpPr>
          <p:cNvPr id="23" name="TextBox 22"/>
          <p:cNvSpPr txBox="1"/>
          <p:nvPr/>
        </p:nvSpPr>
        <p:spPr>
          <a:xfrm>
            <a:off x="5867400" y="2514600"/>
            <a:ext cx="685800" cy="553998"/>
          </a:xfrm>
          <a:prstGeom prst="rect">
            <a:avLst/>
          </a:prstGeom>
          <a:noFill/>
        </p:spPr>
        <p:txBody>
          <a:bodyPr wrap="square" rtlCol="0">
            <a:spAutoFit/>
          </a:bodyPr>
          <a:lstStyle/>
          <a:p>
            <a:r>
              <a:rPr lang="en-IN" sz="1200" dirty="0"/>
              <a:t>m[1][1]</a:t>
            </a:r>
          </a:p>
          <a:p>
            <a:endParaRPr lang="en-IN" dirty="0"/>
          </a:p>
        </p:txBody>
      </p:sp>
      <p:sp>
        <p:nvSpPr>
          <p:cNvPr id="24" name="TextBox 23"/>
          <p:cNvSpPr txBox="1"/>
          <p:nvPr/>
        </p:nvSpPr>
        <p:spPr>
          <a:xfrm>
            <a:off x="6858000" y="2494002"/>
            <a:ext cx="685800" cy="553998"/>
          </a:xfrm>
          <a:prstGeom prst="rect">
            <a:avLst/>
          </a:prstGeom>
          <a:noFill/>
        </p:spPr>
        <p:txBody>
          <a:bodyPr wrap="square" rtlCol="0">
            <a:spAutoFit/>
          </a:bodyPr>
          <a:lstStyle/>
          <a:p>
            <a:r>
              <a:rPr lang="en-IN" sz="1200" dirty="0"/>
              <a:t>m[1][2]</a:t>
            </a:r>
          </a:p>
          <a:p>
            <a:endParaRPr lang="en-IN" dirty="0"/>
          </a:p>
        </p:txBody>
      </p:sp>
      <p:sp>
        <p:nvSpPr>
          <p:cNvPr id="25" name="TextBox 24"/>
          <p:cNvSpPr txBox="1"/>
          <p:nvPr/>
        </p:nvSpPr>
        <p:spPr>
          <a:xfrm>
            <a:off x="1676400" y="3505200"/>
            <a:ext cx="2819400" cy="307777"/>
          </a:xfrm>
          <a:prstGeom prst="rect">
            <a:avLst/>
          </a:prstGeom>
          <a:solidFill>
            <a:schemeClr val="bg1">
              <a:lumMod val="85000"/>
            </a:schemeClr>
          </a:solidFill>
        </p:spPr>
        <p:txBody>
          <a:bodyPr wrap="square" rtlCol="0">
            <a:spAutoFit/>
          </a:bodyPr>
          <a:lstStyle/>
          <a:p>
            <a:r>
              <a:rPr lang="en-US" sz="1400" dirty="0" err="1"/>
              <a:t>int</a:t>
            </a:r>
            <a:r>
              <a:rPr lang="en-US" sz="1400" dirty="0"/>
              <a:t> b[3][4] = {{1,2,3},{4,5,6},{7,8,9}};</a:t>
            </a:r>
            <a:endParaRPr lang="en-IN" sz="1400" dirty="0"/>
          </a:p>
        </p:txBody>
      </p:sp>
      <p:graphicFrame>
        <p:nvGraphicFramePr>
          <p:cNvPr id="39" name="Table 38"/>
          <p:cNvGraphicFramePr>
            <a:graphicFrameLocks noGrp="1"/>
          </p:cNvGraphicFramePr>
          <p:nvPr/>
        </p:nvGraphicFramePr>
        <p:xfrm>
          <a:off x="1752600" y="4267200"/>
          <a:ext cx="6096000" cy="36576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gridCol w="508000">
                  <a:extLst>
                    <a:ext uri="{9D8B030D-6E8A-4147-A177-3AD203B41FA5}">
                      <a16:colId xmlns:a16="http://schemas.microsoft.com/office/drawing/2014/main" val="20005"/>
                    </a:ext>
                  </a:extLst>
                </a:gridCol>
                <a:gridCol w="508000">
                  <a:extLst>
                    <a:ext uri="{9D8B030D-6E8A-4147-A177-3AD203B41FA5}">
                      <a16:colId xmlns:a16="http://schemas.microsoft.com/office/drawing/2014/main" val="20006"/>
                    </a:ext>
                  </a:extLst>
                </a:gridCol>
                <a:gridCol w="508000">
                  <a:extLst>
                    <a:ext uri="{9D8B030D-6E8A-4147-A177-3AD203B41FA5}">
                      <a16:colId xmlns:a16="http://schemas.microsoft.com/office/drawing/2014/main" val="20007"/>
                    </a:ext>
                  </a:extLst>
                </a:gridCol>
                <a:gridCol w="508000">
                  <a:extLst>
                    <a:ext uri="{9D8B030D-6E8A-4147-A177-3AD203B41FA5}">
                      <a16:colId xmlns:a16="http://schemas.microsoft.com/office/drawing/2014/main" val="20008"/>
                    </a:ext>
                  </a:extLst>
                </a:gridCol>
                <a:gridCol w="508000">
                  <a:extLst>
                    <a:ext uri="{9D8B030D-6E8A-4147-A177-3AD203B41FA5}">
                      <a16:colId xmlns:a16="http://schemas.microsoft.com/office/drawing/2014/main" val="20009"/>
                    </a:ext>
                  </a:extLst>
                </a:gridCol>
                <a:gridCol w="508000">
                  <a:extLst>
                    <a:ext uri="{9D8B030D-6E8A-4147-A177-3AD203B41FA5}">
                      <a16:colId xmlns:a16="http://schemas.microsoft.com/office/drawing/2014/main" val="20010"/>
                    </a:ext>
                  </a:extLst>
                </a:gridCol>
                <a:gridCol w="508000">
                  <a:extLst>
                    <a:ext uri="{9D8B030D-6E8A-4147-A177-3AD203B41FA5}">
                      <a16:colId xmlns:a16="http://schemas.microsoft.com/office/drawing/2014/main" val="20011"/>
                    </a:ext>
                  </a:extLst>
                </a:gridCol>
              </a:tblGrid>
              <a:tr h="304800">
                <a:tc>
                  <a:txBody>
                    <a:bodyPr/>
                    <a:lstStyle/>
                    <a:p>
                      <a:pPr algn="ctr"/>
                      <a:r>
                        <a:rPr lang="en-IN" dirty="0">
                          <a:solidFill>
                            <a:srgbClr val="FF0000"/>
                          </a:solidFill>
                        </a:rPr>
                        <a:t>1</a:t>
                      </a:r>
                    </a:p>
                  </a:txBody>
                  <a:tcPr>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solidFill>
                            <a:srgbClr val="FF0000"/>
                          </a:solidFill>
                        </a:rPr>
                        <a:t>2</a:t>
                      </a:r>
                    </a:p>
                  </a:txBody>
                  <a:tcPr>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solidFill>
                            <a:srgbClr val="FF0000"/>
                          </a:solidFill>
                        </a:rPr>
                        <a:t>3</a:t>
                      </a:r>
                    </a:p>
                  </a:txBody>
                  <a:tcPr>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solidFill>
                            <a:srgbClr val="FF0000"/>
                          </a:solidFill>
                        </a:rPr>
                        <a:t>0</a:t>
                      </a:r>
                    </a:p>
                  </a:txBody>
                  <a:tcPr>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solidFill>
                            <a:srgbClr val="7030A0"/>
                          </a:solidFill>
                        </a:rPr>
                        <a:t>4</a:t>
                      </a:r>
                    </a:p>
                  </a:txBody>
                  <a:tcPr>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solidFill>
                            <a:srgbClr val="7030A0"/>
                          </a:solidFill>
                        </a:rPr>
                        <a:t>5</a:t>
                      </a:r>
                    </a:p>
                  </a:txBody>
                  <a:tcPr>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solidFill>
                            <a:srgbClr val="7030A0"/>
                          </a:solidFill>
                        </a:rPr>
                        <a:t>6</a:t>
                      </a:r>
                    </a:p>
                  </a:txBody>
                  <a:tcPr>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solidFill>
                            <a:srgbClr val="7030A0"/>
                          </a:solidFill>
                        </a:rPr>
                        <a:t>0</a:t>
                      </a:r>
                    </a:p>
                  </a:txBody>
                  <a:tcPr>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solidFill>
                            <a:srgbClr val="00B050"/>
                          </a:solidFill>
                        </a:rPr>
                        <a:t>7</a:t>
                      </a:r>
                    </a:p>
                  </a:txBody>
                  <a:tcPr>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solidFill>
                            <a:srgbClr val="00B050"/>
                          </a:solidFill>
                        </a:rPr>
                        <a:t>8</a:t>
                      </a:r>
                    </a:p>
                  </a:txBody>
                  <a:tcPr>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solidFill>
                            <a:srgbClr val="00B050"/>
                          </a:solidFill>
                        </a:rPr>
                        <a:t>9</a:t>
                      </a:r>
                    </a:p>
                  </a:txBody>
                  <a:tcPr>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800" b="1" kern="1200" dirty="0">
                          <a:solidFill>
                            <a:srgbClr val="00B050"/>
                          </a:solidFill>
                          <a:latin typeface="+mn-lt"/>
                          <a:ea typeface="+mn-ea"/>
                          <a:cs typeface="+mn-cs"/>
                        </a:rPr>
                        <a:t>0</a:t>
                      </a:r>
                    </a:p>
                  </a:txBody>
                  <a:tcPr>
                    <a:solidFill>
                      <a:schemeClr val="bg1">
                        <a:lumMod val="85000"/>
                      </a:schemeClr>
                    </a:solidFill>
                  </a:tcPr>
                </a:tc>
                <a:extLst>
                  <a:ext uri="{0D108BD9-81ED-4DB2-BD59-A6C34878D82A}">
                    <a16:rowId xmlns:a16="http://schemas.microsoft.com/office/drawing/2014/main" val="10000"/>
                  </a:ext>
                </a:extLst>
              </a:tr>
            </a:tbl>
          </a:graphicData>
        </a:graphic>
      </p:graphicFrame>
      <p:sp>
        <p:nvSpPr>
          <p:cNvPr id="40" name="TextBox 39"/>
          <p:cNvSpPr txBox="1"/>
          <p:nvPr/>
        </p:nvSpPr>
        <p:spPr>
          <a:xfrm>
            <a:off x="1676400" y="3962400"/>
            <a:ext cx="685800" cy="523220"/>
          </a:xfrm>
          <a:prstGeom prst="rect">
            <a:avLst/>
          </a:prstGeom>
          <a:noFill/>
        </p:spPr>
        <p:txBody>
          <a:bodyPr wrap="square" rtlCol="0">
            <a:spAutoFit/>
          </a:bodyPr>
          <a:lstStyle/>
          <a:p>
            <a:r>
              <a:rPr lang="en-IN" sz="1000" dirty="0"/>
              <a:t>b[0][0]</a:t>
            </a:r>
          </a:p>
          <a:p>
            <a:endParaRPr lang="en-IN" dirty="0"/>
          </a:p>
        </p:txBody>
      </p:sp>
      <p:sp>
        <p:nvSpPr>
          <p:cNvPr id="41" name="TextBox 40"/>
          <p:cNvSpPr txBox="1"/>
          <p:nvPr/>
        </p:nvSpPr>
        <p:spPr>
          <a:xfrm>
            <a:off x="2209800" y="3962400"/>
            <a:ext cx="685800" cy="523220"/>
          </a:xfrm>
          <a:prstGeom prst="rect">
            <a:avLst/>
          </a:prstGeom>
          <a:noFill/>
        </p:spPr>
        <p:txBody>
          <a:bodyPr wrap="square" rtlCol="0">
            <a:spAutoFit/>
          </a:bodyPr>
          <a:lstStyle/>
          <a:p>
            <a:r>
              <a:rPr lang="en-IN" sz="1000" dirty="0"/>
              <a:t>b[0][1]</a:t>
            </a:r>
          </a:p>
          <a:p>
            <a:endParaRPr lang="en-IN" dirty="0"/>
          </a:p>
        </p:txBody>
      </p:sp>
      <p:sp>
        <p:nvSpPr>
          <p:cNvPr id="46" name="TextBox 45"/>
          <p:cNvSpPr txBox="1"/>
          <p:nvPr/>
        </p:nvSpPr>
        <p:spPr>
          <a:xfrm>
            <a:off x="2743200" y="3962400"/>
            <a:ext cx="685800" cy="523220"/>
          </a:xfrm>
          <a:prstGeom prst="rect">
            <a:avLst/>
          </a:prstGeom>
          <a:noFill/>
        </p:spPr>
        <p:txBody>
          <a:bodyPr wrap="square" rtlCol="0">
            <a:spAutoFit/>
          </a:bodyPr>
          <a:lstStyle/>
          <a:p>
            <a:r>
              <a:rPr lang="en-IN" sz="1000" dirty="0"/>
              <a:t>b[0][2]</a:t>
            </a:r>
          </a:p>
          <a:p>
            <a:endParaRPr lang="en-IN" dirty="0"/>
          </a:p>
        </p:txBody>
      </p:sp>
      <p:sp>
        <p:nvSpPr>
          <p:cNvPr id="47" name="TextBox 46"/>
          <p:cNvSpPr txBox="1"/>
          <p:nvPr/>
        </p:nvSpPr>
        <p:spPr>
          <a:xfrm>
            <a:off x="3200400" y="3962400"/>
            <a:ext cx="685800" cy="523220"/>
          </a:xfrm>
          <a:prstGeom prst="rect">
            <a:avLst/>
          </a:prstGeom>
          <a:noFill/>
        </p:spPr>
        <p:txBody>
          <a:bodyPr wrap="square" rtlCol="0">
            <a:spAutoFit/>
          </a:bodyPr>
          <a:lstStyle/>
          <a:p>
            <a:r>
              <a:rPr lang="en-IN" sz="1000" dirty="0"/>
              <a:t>b[0][3]</a:t>
            </a:r>
          </a:p>
          <a:p>
            <a:endParaRPr lang="en-IN" dirty="0"/>
          </a:p>
        </p:txBody>
      </p:sp>
      <p:sp>
        <p:nvSpPr>
          <p:cNvPr id="48" name="TextBox 47"/>
          <p:cNvSpPr txBox="1"/>
          <p:nvPr/>
        </p:nvSpPr>
        <p:spPr>
          <a:xfrm>
            <a:off x="3733800" y="3962400"/>
            <a:ext cx="685800" cy="523220"/>
          </a:xfrm>
          <a:prstGeom prst="rect">
            <a:avLst/>
          </a:prstGeom>
          <a:noFill/>
        </p:spPr>
        <p:txBody>
          <a:bodyPr wrap="square" rtlCol="0">
            <a:spAutoFit/>
          </a:bodyPr>
          <a:lstStyle/>
          <a:p>
            <a:r>
              <a:rPr lang="en-IN" sz="1000" dirty="0"/>
              <a:t>b[1][0]</a:t>
            </a:r>
          </a:p>
          <a:p>
            <a:endParaRPr lang="en-IN" dirty="0"/>
          </a:p>
        </p:txBody>
      </p:sp>
      <p:sp>
        <p:nvSpPr>
          <p:cNvPr id="49" name="TextBox 48"/>
          <p:cNvSpPr txBox="1"/>
          <p:nvPr/>
        </p:nvSpPr>
        <p:spPr>
          <a:xfrm>
            <a:off x="4267200" y="3962400"/>
            <a:ext cx="685800" cy="523220"/>
          </a:xfrm>
          <a:prstGeom prst="rect">
            <a:avLst/>
          </a:prstGeom>
          <a:noFill/>
        </p:spPr>
        <p:txBody>
          <a:bodyPr wrap="square" rtlCol="0">
            <a:spAutoFit/>
          </a:bodyPr>
          <a:lstStyle/>
          <a:p>
            <a:r>
              <a:rPr lang="en-IN" sz="1000" dirty="0"/>
              <a:t>b[1][1]</a:t>
            </a:r>
          </a:p>
          <a:p>
            <a:endParaRPr lang="en-IN" dirty="0"/>
          </a:p>
        </p:txBody>
      </p:sp>
      <p:sp>
        <p:nvSpPr>
          <p:cNvPr id="50" name="TextBox 49"/>
          <p:cNvSpPr txBox="1"/>
          <p:nvPr/>
        </p:nvSpPr>
        <p:spPr>
          <a:xfrm>
            <a:off x="4800600" y="3962400"/>
            <a:ext cx="685800" cy="523220"/>
          </a:xfrm>
          <a:prstGeom prst="rect">
            <a:avLst/>
          </a:prstGeom>
          <a:noFill/>
        </p:spPr>
        <p:txBody>
          <a:bodyPr wrap="square" rtlCol="0">
            <a:spAutoFit/>
          </a:bodyPr>
          <a:lstStyle/>
          <a:p>
            <a:r>
              <a:rPr lang="en-IN" sz="1000" dirty="0"/>
              <a:t>b[1][2]</a:t>
            </a:r>
          </a:p>
          <a:p>
            <a:endParaRPr lang="en-IN" dirty="0"/>
          </a:p>
        </p:txBody>
      </p:sp>
      <p:sp>
        <p:nvSpPr>
          <p:cNvPr id="51" name="TextBox 50"/>
          <p:cNvSpPr txBox="1"/>
          <p:nvPr/>
        </p:nvSpPr>
        <p:spPr>
          <a:xfrm>
            <a:off x="5334000" y="3962400"/>
            <a:ext cx="685800" cy="523220"/>
          </a:xfrm>
          <a:prstGeom prst="rect">
            <a:avLst/>
          </a:prstGeom>
          <a:noFill/>
        </p:spPr>
        <p:txBody>
          <a:bodyPr wrap="square" rtlCol="0">
            <a:spAutoFit/>
          </a:bodyPr>
          <a:lstStyle/>
          <a:p>
            <a:r>
              <a:rPr lang="en-IN" sz="1000" dirty="0"/>
              <a:t>b[1][3]</a:t>
            </a:r>
          </a:p>
          <a:p>
            <a:endParaRPr lang="en-IN" dirty="0"/>
          </a:p>
        </p:txBody>
      </p:sp>
      <p:sp>
        <p:nvSpPr>
          <p:cNvPr id="52" name="TextBox 51"/>
          <p:cNvSpPr txBox="1"/>
          <p:nvPr/>
        </p:nvSpPr>
        <p:spPr>
          <a:xfrm>
            <a:off x="5791200" y="3962400"/>
            <a:ext cx="685800" cy="523220"/>
          </a:xfrm>
          <a:prstGeom prst="rect">
            <a:avLst/>
          </a:prstGeom>
          <a:noFill/>
        </p:spPr>
        <p:txBody>
          <a:bodyPr wrap="square" rtlCol="0">
            <a:spAutoFit/>
          </a:bodyPr>
          <a:lstStyle/>
          <a:p>
            <a:r>
              <a:rPr lang="en-IN" sz="1000" dirty="0"/>
              <a:t>b[2][0]</a:t>
            </a:r>
          </a:p>
          <a:p>
            <a:endParaRPr lang="en-IN" dirty="0"/>
          </a:p>
        </p:txBody>
      </p:sp>
      <p:sp>
        <p:nvSpPr>
          <p:cNvPr id="53" name="TextBox 52"/>
          <p:cNvSpPr txBox="1"/>
          <p:nvPr/>
        </p:nvSpPr>
        <p:spPr>
          <a:xfrm>
            <a:off x="6324600" y="3962400"/>
            <a:ext cx="685800" cy="523220"/>
          </a:xfrm>
          <a:prstGeom prst="rect">
            <a:avLst/>
          </a:prstGeom>
          <a:noFill/>
        </p:spPr>
        <p:txBody>
          <a:bodyPr wrap="square" rtlCol="0">
            <a:spAutoFit/>
          </a:bodyPr>
          <a:lstStyle/>
          <a:p>
            <a:r>
              <a:rPr lang="en-IN" sz="1000" dirty="0"/>
              <a:t>b[2][1]</a:t>
            </a:r>
          </a:p>
          <a:p>
            <a:endParaRPr lang="en-IN" dirty="0"/>
          </a:p>
        </p:txBody>
      </p:sp>
      <p:sp>
        <p:nvSpPr>
          <p:cNvPr id="54" name="TextBox 53"/>
          <p:cNvSpPr txBox="1"/>
          <p:nvPr/>
        </p:nvSpPr>
        <p:spPr>
          <a:xfrm>
            <a:off x="6858000" y="3962400"/>
            <a:ext cx="685800" cy="523220"/>
          </a:xfrm>
          <a:prstGeom prst="rect">
            <a:avLst/>
          </a:prstGeom>
          <a:noFill/>
        </p:spPr>
        <p:txBody>
          <a:bodyPr wrap="square" rtlCol="0">
            <a:spAutoFit/>
          </a:bodyPr>
          <a:lstStyle/>
          <a:p>
            <a:r>
              <a:rPr lang="en-IN" sz="1000" dirty="0"/>
              <a:t>b[2[2]</a:t>
            </a:r>
          </a:p>
          <a:p>
            <a:endParaRPr lang="en-IN" dirty="0"/>
          </a:p>
        </p:txBody>
      </p:sp>
      <p:sp>
        <p:nvSpPr>
          <p:cNvPr id="55" name="TextBox 54"/>
          <p:cNvSpPr txBox="1"/>
          <p:nvPr/>
        </p:nvSpPr>
        <p:spPr>
          <a:xfrm>
            <a:off x="7315200" y="3962400"/>
            <a:ext cx="685800" cy="523220"/>
          </a:xfrm>
          <a:prstGeom prst="rect">
            <a:avLst/>
          </a:prstGeom>
          <a:noFill/>
        </p:spPr>
        <p:txBody>
          <a:bodyPr wrap="square" rtlCol="0">
            <a:spAutoFit/>
          </a:bodyPr>
          <a:lstStyle/>
          <a:p>
            <a:r>
              <a:rPr lang="en-IN" sz="1000" dirty="0"/>
              <a:t>b[3][3]</a:t>
            </a:r>
          </a:p>
          <a:p>
            <a:endParaRPr lang="en-IN" dirty="0"/>
          </a:p>
        </p:txBody>
      </p:sp>
      <p:sp>
        <p:nvSpPr>
          <p:cNvPr id="56" name="TextBox 55"/>
          <p:cNvSpPr txBox="1"/>
          <p:nvPr/>
        </p:nvSpPr>
        <p:spPr>
          <a:xfrm>
            <a:off x="1752600" y="4815840"/>
            <a:ext cx="2819400" cy="307777"/>
          </a:xfrm>
          <a:prstGeom prst="rect">
            <a:avLst/>
          </a:prstGeom>
          <a:solidFill>
            <a:schemeClr val="bg1">
              <a:lumMod val="85000"/>
            </a:schemeClr>
          </a:solidFill>
        </p:spPr>
        <p:txBody>
          <a:bodyPr wrap="square" rtlCol="0">
            <a:spAutoFit/>
          </a:bodyPr>
          <a:lstStyle/>
          <a:p>
            <a:r>
              <a:rPr lang="en-US" sz="1400" dirty="0" err="1"/>
              <a:t>int</a:t>
            </a:r>
            <a:r>
              <a:rPr lang="en-US" sz="1400" dirty="0"/>
              <a:t>  x[3][4] = {1,2,3,4,5,6,7,8.9};</a:t>
            </a:r>
            <a:endParaRPr lang="en-IN" sz="1400" dirty="0"/>
          </a:p>
        </p:txBody>
      </p:sp>
      <p:graphicFrame>
        <p:nvGraphicFramePr>
          <p:cNvPr id="57" name="Table 56"/>
          <p:cNvGraphicFramePr>
            <a:graphicFrameLocks noGrp="1"/>
          </p:cNvGraphicFramePr>
          <p:nvPr/>
        </p:nvGraphicFramePr>
        <p:xfrm>
          <a:off x="1676400" y="5577840"/>
          <a:ext cx="6096000" cy="36576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gridCol w="508000">
                  <a:extLst>
                    <a:ext uri="{9D8B030D-6E8A-4147-A177-3AD203B41FA5}">
                      <a16:colId xmlns:a16="http://schemas.microsoft.com/office/drawing/2014/main" val="20005"/>
                    </a:ext>
                  </a:extLst>
                </a:gridCol>
                <a:gridCol w="508000">
                  <a:extLst>
                    <a:ext uri="{9D8B030D-6E8A-4147-A177-3AD203B41FA5}">
                      <a16:colId xmlns:a16="http://schemas.microsoft.com/office/drawing/2014/main" val="20006"/>
                    </a:ext>
                  </a:extLst>
                </a:gridCol>
                <a:gridCol w="508000">
                  <a:extLst>
                    <a:ext uri="{9D8B030D-6E8A-4147-A177-3AD203B41FA5}">
                      <a16:colId xmlns:a16="http://schemas.microsoft.com/office/drawing/2014/main" val="20007"/>
                    </a:ext>
                  </a:extLst>
                </a:gridCol>
                <a:gridCol w="508000">
                  <a:extLst>
                    <a:ext uri="{9D8B030D-6E8A-4147-A177-3AD203B41FA5}">
                      <a16:colId xmlns:a16="http://schemas.microsoft.com/office/drawing/2014/main" val="20008"/>
                    </a:ext>
                  </a:extLst>
                </a:gridCol>
                <a:gridCol w="508000">
                  <a:extLst>
                    <a:ext uri="{9D8B030D-6E8A-4147-A177-3AD203B41FA5}">
                      <a16:colId xmlns:a16="http://schemas.microsoft.com/office/drawing/2014/main" val="20009"/>
                    </a:ext>
                  </a:extLst>
                </a:gridCol>
                <a:gridCol w="508000">
                  <a:extLst>
                    <a:ext uri="{9D8B030D-6E8A-4147-A177-3AD203B41FA5}">
                      <a16:colId xmlns:a16="http://schemas.microsoft.com/office/drawing/2014/main" val="20010"/>
                    </a:ext>
                  </a:extLst>
                </a:gridCol>
                <a:gridCol w="508000">
                  <a:extLst>
                    <a:ext uri="{9D8B030D-6E8A-4147-A177-3AD203B41FA5}">
                      <a16:colId xmlns:a16="http://schemas.microsoft.com/office/drawing/2014/main" val="20011"/>
                    </a:ext>
                  </a:extLst>
                </a:gridCol>
              </a:tblGrid>
              <a:tr h="304800">
                <a:tc>
                  <a:txBody>
                    <a:bodyPr/>
                    <a:lstStyle/>
                    <a:p>
                      <a:pPr algn="ctr"/>
                      <a:r>
                        <a:rPr lang="en-IN" dirty="0">
                          <a:solidFill>
                            <a:srgbClr val="FF0000"/>
                          </a:solidFill>
                        </a:rPr>
                        <a:t>1</a:t>
                      </a:r>
                    </a:p>
                  </a:txBody>
                  <a:tcPr>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solidFill>
                            <a:srgbClr val="FF0000"/>
                          </a:solidFill>
                        </a:rPr>
                        <a:t>2</a:t>
                      </a:r>
                    </a:p>
                  </a:txBody>
                  <a:tcPr>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solidFill>
                            <a:srgbClr val="FF0000"/>
                          </a:solidFill>
                        </a:rPr>
                        <a:t>3</a:t>
                      </a:r>
                    </a:p>
                  </a:txBody>
                  <a:tcPr>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solidFill>
                            <a:srgbClr val="FF0000"/>
                          </a:solidFill>
                        </a:rPr>
                        <a:t>4</a:t>
                      </a:r>
                    </a:p>
                  </a:txBody>
                  <a:tcPr>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solidFill>
                            <a:srgbClr val="7030A0"/>
                          </a:solidFill>
                        </a:rPr>
                        <a:t>5</a:t>
                      </a:r>
                    </a:p>
                  </a:txBody>
                  <a:tcPr>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solidFill>
                            <a:srgbClr val="7030A0"/>
                          </a:solidFill>
                        </a:rPr>
                        <a:t>6</a:t>
                      </a:r>
                    </a:p>
                  </a:txBody>
                  <a:tcPr>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solidFill>
                            <a:srgbClr val="7030A0"/>
                          </a:solidFill>
                        </a:rPr>
                        <a:t>7</a:t>
                      </a:r>
                    </a:p>
                  </a:txBody>
                  <a:tcPr>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solidFill>
                            <a:srgbClr val="7030A0"/>
                          </a:solidFill>
                        </a:rPr>
                        <a:t>8</a:t>
                      </a:r>
                    </a:p>
                  </a:txBody>
                  <a:tcPr>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solidFill>
                            <a:srgbClr val="00B050"/>
                          </a:solidFill>
                        </a:rPr>
                        <a:t>9</a:t>
                      </a:r>
                    </a:p>
                  </a:txBody>
                  <a:tcPr>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solidFill>
                            <a:srgbClr val="00B050"/>
                          </a:solidFill>
                        </a:rPr>
                        <a:t>0</a:t>
                      </a:r>
                    </a:p>
                  </a:txBody>
                  <a:tcPr>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solidFill>
                            <a:srgbClr val="00B050"/>
                          </a:solidFill>
                        </a:rPr>
                        <a:t>0</a:t>
                      </a:r>
                    </a:p>
                  </a:txBody>
                  <a:tcPr>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800" b="1" kern="1200" dirty="0">
                          <a:solidFill>
                            <a:srgbClr val="00B050"/>
                          </a:solidFill>
                          <a:latin typeface="+mn-lt"/>
                          <a:ea typeface="+mn-ea"/>
                          <a:cs typeface="+mn-cs"/>
                        </a:rPr>
                        <a:t>0</a:t>
                      </a:r>
                    </a:p>
                  </a:txBody>
                  <a:tcPr>
                    <a:solidFill>
                      <a:schemeClr val="bg1">
                        <a:lumMod val="85000"/>
                      </a:schemeClr>
                    </a:solidFill>
                  </a:tcPr>
                </a:tc>
                <a:extLst>
                  <a:ext uri="{0D108BD9-81ED-4DB2-BD59-A6C34878D82A}">
                    <a16:rowId xmlns:a16="http://schemas.microsoft.com/office/drawing/2014/main" val="10000"/>
                  </a:ext>
                </a:extLst>
              </a:tr>
            </a:tbl>
          </a:graphicData>
        </a:graphic>
      </p:graphicFrame>
      <p:sp>
        <p:nvSpPr>
          <p:cNvPr id="58" name="TextBox 57"/>
          <p:cNvSpPr txBox="1"/>
          <p:nvPr/>
        </p:nvSpPr>
        <p:spPr>
          <a:xfrm>
            <a:off x="1600200" y="5273040"/>
            <a:ext cx="685800" cy="523220"/>
          </a:xfrm>
          <a:prstGeom prst="rect">
            <a:avLst/>
          </a:prstGeom>
          <a:noFill/>
        </p:spPr>
        <p:txBody>
          <a:bodyPr wrap="square" rtlCol="0">
            <a:spAutoFit/>
          </a:bodyPr>
          <a:lstStyle/>
          <a:p>
            <a:r>
              <a:rPr lang="en-IN" sz="1000" dirty="0"/>
              <a:t>x[0][0]</a:t>
            </a:r>
          </a:p>
          <a:p>
            <a:endParaRPr lang="en-IN" dirty="0"/>
          </a:p>
        </p:txBody>
      </p:sp>
      <p:sp>
        <p:nvSpPr>
          <p:cNvPr id="59" name="TextBox 58"/>
          <p:cNvSpPr txBox="1"/>
          <p:nvPr/>
        </p:nvSpPr>
        <p:spPr>
          <a:xfrm>
            <a:off x="2133600" y="5273040"/>
            <a:ext cx="685800" cy="523220"/>
          </a:xfrm>
          <a:prstGeom prst="rect">
            <a:avLst/>
          </a:prstGeom>
          <a:noFill/>
        </p:spPr>
        <p:txBody>
          <a:bodyPr wrap="square" rtlCol="0">
            <a:spAutoFit/>
          </a:bodyPr>
          <a:lstStyle/>
          <a:p>
            <a:r>
              <a:rPr lang="en-IN" sz="1000" dirty="0"/>
              <a:t>x[0][1]</a:t>
            </a:r>
          </a:p>
          <a:p>
            <a:endParaRPr lang="en-IN" dirty="0"/>
          </a:p>
        </p:txBody>
      </p:sp>
      <p:sp>
        <p:nvSpPr>
          <p:cNvPr id="60" name="TextBox 59"/>
          <p:cNvSpPr txBox="1"/>
          <p:nvPr/>
        </p:nvSpPr>
        <p:spPr>
          <a:xfrm>
            <a:off x="2667000" y="5273040"/>
            <a:ext cx="685800" cy="523220"/>
          </a:xfrm>
          <a:prstGeom prst="rect">
            <a:avLst/>
          </a:prstGeom>
          <a:noFill/>
        </p:spPr>
        <p:txBody>
          <a:bodyPr wrap="square" rtlCol="0">
            <a:spAutoFit/>
          </a:bodyPr>
          <a:lstStyle/>
          <a:p>
            <a:r>
              <a:rPr lang="en-IN" sz="1000" dirty="0"/>
              <a:t>x[0][2]</a:t>
            </a:r>
          </a:p>
          <a:p>
            <a:endParaRPr lang="en-IN" dirty="0"/>
          </a:p>
        </p:txBody>
      </p:sp>
      <p:sp>
        <p:nvSpPr>
          <p:cNvPr id="61" name="TextBox 60"/>
          <p:cNvSpPr txBox="1"/>
          <p:nvPr/>
        </p:nvSpPr>
        <p:spPr>
          <a:xfrm>
            <a:off x="3124200" y="5273040"/>
            <a:ext cx="685800" cy="523220"/>
          </a:xfrm>
          <a:prstGeom prst="rect">
            <a:avLst/>
          </a:prstGeom>
          <a:noFill/>
        </p:spPr>
        <p:txBody>
          <a:bodyPr wrap="square" rtlCol="0">
            <a:spAutoFit/>
          </a:bodyPr>
          <a:lstStyle/>
          <a:p>
            <a:r>
              <a:rPr lang="en-IN" sz="1000" dirty="0"/>
              <a:t>x[0][3]</a:t>
            </a:r>
          </a:p>
          <a:p>
            <a:endParaRPr lang="en-IN" dirty="0"/>
          </a:p>
        </p:txBody>
      </p:sp>
      <p:sp>
        <p:nvSpPr>
          <p:cNvPr id="62" name="TextBox 61"/>
          <p:cNvSpPr txBox="1"/>
          <p:nvPr/>
        </p:nvSpPr>
        <p:spPr>
          <a:xfrm>
            <a:off x="3657600" y="5273040"/>
            <a:ext cx="685800" cy="523220"/>
          </a:xfrm>
          <a:prstGeom prst="rect">
            <a:avLst/>
          </a:prstGeom>
          <a:noFill/>
        </p:spPr>
        <p:txBody>
          <a:bodyPr wrap="square" rtlCol="0">
            <a:spAutoFit/>
          </a:bodyPr>
          <a:lstStyle/>
          <a:p>
            <a:r>
              <a:rPr lang="en-IN" sz="1000" dirty="0"/>
              <a:t>x[1][0]</a:t>
            </a:r>
          </a:p>
          <a:p>
            <a:endParaRPr lang="en-IN" dirty="0"/>
          </a:p>
        </p:txBody>
      </p:sp>
      <p:sp>
        <p:nvSpPr>
          <p:cNvPr id="63" name="TextBox 62"/>
          <p:cNvSpPr txBox="1"/>
          <p:nvPr/>
        </p:nvSpPr>
        <p:spPr>
          <a:xfrm>
            <a:off x="4191000" y="5273040"/>
            <a:ext cx="685800" cy="523220"/>
          </a:xfrm>
          <a:prstGeom prst="rect">
            <a:avLst/>
          </a:prstGeom>
          <a:noFill/>
        </p:spPr>
        <p:txBody>
          <a:bodyPr wrap="square" rtlCol="0">
            <a:spAutoFit/>
          </a:bodyPr>
          <a:lstStyle/>
          <a:p>
            <a:r>
              <a:rPr lang="en-IN" sz="1000" dirty="0"/>
              <a:t>x[1][1]</a:t>
            </a:r>
          </a:p>
          <a:p>
            <a:endParaRPr lang="en-IN" dirty="0"/>
          </a:p>
        </p:txBody>
      </p:sp>
      <p:sp>
        <p:nvSpPr>
          <p:cNvPr id="64" name="TextBox 63"/>
          <p:cNvSpPr txBox="1"/>
          <p:nvPr/>
        </p:nvSpPr>
        <p:spPr>
          <a:xfrm>
            <a:off x="4724400" y="5273040"/>
            <a:ext cx="685800" cy="523220"/>
          </a:xfrm>
          <a:prstGeom prst="rect">
            <a:avLst/>
          </a:prstGeom>
          <a:noFill/>
        </p:spPr>
        <p:txBody>
          <a:bodyPr wrap="square" rtlCol="0">
            <a:spAutoFit/>
          </a:bodyPr>
          <a:lstStyle/>
          <a:p>
            <a:r>
              <a:rPr lang="en-IN" sz="1000" dirty="0"/>
              <a:t>x[1][2]</a:t>
            </a:r>
          </a:p>
          <a:p>
            <a:endParaRPr lang="en-IN" dirty="0"/>
          </a:p>
        </p:txBody>
      </p:sp>
      <p:sp>
        <p:nvSpPr>
          <p:cNvPr id="65" name="TextBox 64"/>
          <p:cNvSpPr txBox="1"/>
          <p:nvPr/>
        </p:nvSpPr>
        <p:spPr>
          <a:xfrm>
            <a:off x="5257800" y="5273040"/>
            <a:ext cx="685800" cy="523220"/>
          </a:xfrm>
          <a:prstGeom prst="rect">
            <a:avLst/>
          </a:prstGeom>
          <a:noFill/>
        </p:spPr>
        <p:txBody>
          <a:bodyPr wrap="square" rtlCol="0">
            <a:spAutoFit/>
          </a:bodyPr>
          <a:lstStyle/>
          <a:p>
            <a:r>
              <a:rPr lang="en-IN" sz="1000" dirty="0"/>
              <a:t>x[1][3]</a:t>
            </a:r>
          </a:p>
          <a:p>
            <a:endParaRPr lang="en-IN" dirty="0"/>
          </a:p>
        </p:txBody>
      </p:sp>
      <p:sp>
        <p:nvSpPr>
          <p:cNvPr id="66" name="TextBox 65"/>
          <p:cNvSpPr txBox="1"/>
          <p:nvPr/>
        </p:nvSpPr>
        <p:spPr>
          <a:xfrm>
            <a:off x="5715000" y="5273040"/>
            <a:ext cx="685800" cy="523220"/>
          </a:xfrm>
          <a:prstGeom prst="rect">
            <a:avLst/>
          </a:prstGeom>
          <a:noFill/>
        </p:spPr>
        <p:txBody>
          <a:bodyPr wrap="square" rtlCol="0">
            <a:spAutoFit/>
          </a:bodyPr>
          <a:lstStyle/>
          <a:p>
            <a:r>
              <a:rPr lang="en-IN" sz="1000" dirty="0"/>
              <a:t>x[2][0]</a:t>
            </a:r>
          </a:p>
          <a:p>
            <a:endParaRPr lang="en-IN" dirty="0"/>
          </a:p>
        </p:txBody>
      </p:sp>
      <p:sp>
        <p:nvSpPr>
          <p:cNvPr id="67" name="TextBox 66"/>
          <p:cNvSpPr txBox="1"/>
          <p:nvPr/>
        </p:nvSpPr>
        <p:spPr>
          <a:xfrm>
            <a:off x="6248400" y="5273040"/>
            <a:ext cx="685800" cy="523220"/>
          </a:xfrm>
          <a:prstGeom prst="rect">
            <a:avLst/>
          </a:prstGeom>
          <a:noFill/>
        </p:spPr>
        <p:txBody>
          <a:bodyPr wrap="square" rtlCol="0">
            <a:spAutoFit/>
          </a:bodyPr>
          <a:lstStyle/>
          <a:p>
            <a:r>
              <a:rPr lang="en-IN" sz="1000" dirty="0"/>
              <a:t>x[2][1]</a:t>
            </a:r>
          </a:p>
          <a:p>
            <a:endParaRPr lang="en-IN" dirty="0"/>
          </a:p>
        </p:txBody>
      </p:sp>
      <p:sp>
        <p:nvSpPr>
          <p:cNvPr id="68" name="TextBox 67"/>
          <p:cNvSpPr txBox="1"/>
          <p:nvPr/>
        </p:nvSpPr>
        <p:spPr>
          <a:xfrm>
            <a:off x="6781800" y="5273040"/>
            <a:ext cx="685800" cy="523220"/>
          </a:xfrm>
          <a:prstGeom prst="rect">
            <a:avLst/>
          </a:prstGeom>
          <a:noFill/>
        </p:spPr>
        <p:txBody>
          <a:bodyPr wrap="square" rtlCol="0">
            <a:spAutoFit/>
          </a:bodyPr>
          <a:lstStyle/>
          <a:p>
            <a:r>
              <a:rPr lang="en-IN" sz="1000" dirty="0"/>
              <a:t>x[2[2]</a:t>
            </a:r>
          </a:p>
          <a:p>
            <a:endParaRPr lang="en-IN" dirty="0"/>
          </a:p>
        </p:txBody>
      </p:sp>
      <p:sp>
        <p:nvSpPr>
          <p:cNvPr id="69" name="TextBox 68"/>
          <p:cNvSpPr txBox="1"/>
          <p:nvPr/>
        </p:nvSpPr>
        <p:spPr>
          <a:xfrm>
            <a:off x="7239000" y="5273040"/>
            <a:ext cx="685800" cy="523220"/>
          </a:xfrm>
          <a:prstGeom prst="rect">
            <a:avLst/>
          </a:prstGeom>
          <a:noFill/>
        </p:spPr>
        <p:txBody>
          <a:bodyPr wrap="square" rtlCol="0">
            <a:spAutoFit/>
          </a:bodyPr>
          <a:lstStyle/>
          <a:p>
            <a:r>
              <a:rPr lang="en-IN" sz="1000" dirty="0"/>
              <a:t>x[3][3]</a:t>
            </a:r>
          </a:p>
          <a:p>
            <a:endParaRPr lang="en-IN"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endParaRPr lang="en-IN" dirty="0"/>
          </a:p>
        </p:txBody>
      </p:sp>
      <p:sp>
        <p:nvSpPr>
          <p:cNvPr id="3" name="Content Placeholder 2"/>
          <p:cNvSpPr>
            <a:spLocks noGrp="1"/>
          </p:cNvSpPr>
          <p:nvPr>
            <p:ph idx="1"/>
          </p:nvPr>
        </p:nvSpPr>
        <p:spPr>
          <a:xfrm>
            <a:off x="0" y="1143000"/>
            <a:ext cx="8915400" cy="5562600"/>
          </a:xfrm>
        </p:spPr>
        <p:txBody>
          <a:bodyPr>
            <a:normAutofit/>
          </a:bodyPr>
          <a:lstStyle/>
          <a:p>
            <a:r>
              <a:rPr lang="en-IN" sz="2400" dirty="0"/>
              <a:t>By the programmer(compile time)  </a:t>
            </a:r>
          </a:p>
          <a:p>
            <a:pPr lvl="2"/>
            <a:r>
              <a:rPr lang="en-US" sz="2000" dirty="0"/>
              <a:t>                                                                     </a:t>
            </a:r>
            <a:r>
              <a:rPr lang="en-US" sz="1200" dirty="0"/>
              <a:t>// The compiler deduce size of row</a:t>
            </a:r>
            <a:endParaRPr lang="en-US" sz="1200" b="1" dirty="0"/>
          </a:p>
          <a:p>
            <a:pPr lvl="2"/>
            <a:endParaRPr lang="en-US" sz="1000" b="1" dirty="0"/>
          </a:p>
          <a:p>
            <a:pPr lvl="2"/>
            <a:endParaRPr lang="en-US" sz="1000" b="1" dirty="0"/>
          </a:p>
          <a:p>
            <a:pPr lvl="2"/>
            <a:endParaRPr lang="en-US" sz="1000" b="1" dirty="0"/>
          </a:p>
          <a:p>
            <a:pPr lvl="2"/>
            <a:endParaRPr lang="en-US" sz="1000" b="1" dirty="0"/>
          </a:p>
          <a:p>
            <a:pPr lvl="2"/>
            <a:endParaRPr lang="en-US" sz="1000" b="1" dirty="0"/>
          </a:p>
          <a:p>
            <a:pPr lvl="2">
              <a:buNone/>
            </a:pPr>
            <a:r>
              <a:rPr lang="en-US" sz="1200" dirty="0"/>
              <a:t>                                    </a:t>
            </a:r>
            <a:r>
              <a:rPr lang="en-IN" sz="1200" b="1" dirty="0"/>
              <a:t>                                 		</a:t>
            </a:r>
            <a:endParaRPr lang="en-IN" sz="1200" dirty="0"/>
          </a:p>
          <a:p>
            <a:endParaRPr lang="en-IN" sz="2400" dirty="0"/>
          </a:p>
          <a:p>
            <a:r>
              <a:rPr lang="en-IN" sz="2400" dirty="0"/>
              <a:t>Initialization of matrix By the user(Run time)</a:t>
            </a:r>
          </a:p>
          <a:p>
            <a:pPr lvl="1"/>
            <a:r>
              <a:rPr lang="en-IN" sz="2000" dirty="0"/>
              <a:t>Through </a:t>
            </a:r>
            <a:r>
              <a:rPr lang="en-IN" sz="2000" dirty="0" err="1"/>
              <a:t>scanf</a:t>
            </a:r>
            <a:r>
              <a:rPr lang="en-IN" sz="2000" dirty="0"/>
              <a:t>() statement</a:t>
            </a:r>
          </a:p>
          <a:p>
            <a:pPr>
              <a:buNone/>
            </a:pPr>
            <a:endParaRPr lang="en-IN" dirty="0"/>
          </a:p>
        </p:txBody>
      </p:sp>
      <p:sp>
        <p:nvSpPr>
          <p:cNvPr id="8" name="TextBox 7"/>
          <p:cNvSpPr txBox="1"/>
          <p:nvPr/>
        </p:nvSpPr>
        <p:spPr>
          <a:xfrm>
            <a:off x="1295400" y="1600200"/>
            <a:ext cx="3733800" cy="369332"/>
          </a:xfrm>
          <a:prstGeom prst="rect">
            <a:avLst/>
          </a:prstGeom>
          <a:solidFill>
            <a:schemeClr val="bg1">
              <a:lumMod val="85000"/>
            </a:schemeClr>
          </a:solidFill>
        </p:spPr>
        <p:txBody>
          <a:bodyPr wrap="square" rtlCol="0">
            <a:spAutoFit/>
          </a:bodyPr>
          <a:lstStyle/>
          <a:p>
            <a:r>
              <a:rPr lang="en-US" dirty="0" err="1"/>
              <a:t>int</a:t>
            </a:r>
            <a:r>
              <a:rPr lang="en-US" dirty="0"/>
              <a:t> y[][3] = {{10,20,30},{40,50,60}};</a:t>
            </a:r>
            <a:endParaRPr lang="en-IN" dirty="0"/>
          </a:p>
        </p:txBody>
      </p:sp>
      <p:sp>
        <p:nvSpPr>
          <p:cNvPr id="18" name="Rectangle 17"/>
          <p:cNvSpPr/>
          <p:nvPr/>
        </p:nvSpPr>
        <p:spPr>
          <a:xfrm>
            <a:off x="381000" y="304800"/>
            <a:ext cx="8153400" cy="76200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000" dirty="0">
                <a:solidFill>
                  <a:srgbClr val="FF0000"/>
                </a:solidFill>
              </a:rPr>
              <a:t>Initializing Two Dimensional Array</a:t>
            </a:r>
          </a:p>
        </p:txBody>
      </p:sp>
      <p:graphicFrame>
        <p:nvGraphicFramePr>
          <p:cNvPr id="16" name="Table 15"/>
          <p:cNvGraphicFramePr>
            <a:graphicFrameLocks noGrp="1"/>
          </p:cNvGraphicFramePr>
          <p:nvPr/>
        </p:nvGraphicFramePr>
        <p:xfrm>
          <a:off x="1600200" y="2438400"/>
          <a:ext cx="6096000" cy="37084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70840">
                <a:tc>
                  <a:txBody>
                    <a:bodyPr/>
                    <a:lstStyle/>
                    <a:p>
                      <a:pPr algn="ctr"/>
                      <a:r>
                        <a:rPr lang="en-IN" dirty="0">
                          <a:solidFill>
                            <a:srgbClr val="FF0000"/>
                          </a:solidFill>
                        </a:rPr>
                        <a:t>10</a:t>
                      </a:r>
                    </a:p>
                  </a:txBody>
                  <a:tcPr>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solidFill>
                            <a:srgbClr val="FF0000"/>
                          </a:solidFill>
                        </a:rPr>
                        <a:t>20</a:t>
                      </a:r>
                    </a:p>
                  </a:txBody>
                  <a:tcPr>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solidFill>
                            <a:srgbClr val="FF0000"/>
                          </a:solidFill>
                        </a:rPr>
                        <a:t>30</a:t>
                      </a:r>
                    </a:p>
                  </a:txBody>
                  <a:tcPr>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solidFill>
                            <a:srgbClr val="7030A0"/>
                          </a:solidFill>
                        </a:rPr>
                        <a:t>40</a:t>
                      </a:r>
                    </a:p>
                  </a:txBody>
                  <a:tcPr>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solidFill>
                            <a:srgbClr val="7030A0"/>
                          </a:solidFill>
                        </a:rPr>
                        <a:t>50</a:t>
                      </a:r>
                    </a:p>
                  </a:txBody>
                  <a:tcPr>
                    <a:solidFill>
                      <a:schemeClr val="bg1">
                        <a:lumMod val="8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solidFill>
                            <a:srgbClr val="7030A0"/>
                          </a:solidFill>
                        </a:rPr>
                        <a:t>50</a:t>
                      </a:r>
                    </a:p>
                  </a:txBody>
                  <a:tcPr>
                    <a:solidFill>
                      <a:schemeClr val="bg1">
                        <a:lumMod val="85000"/>
                      </a:schemeClr>
                    </a:solidFill>
                  </a:tcPr>
                </a:tc>
                <a:extLst>
                  <a:ext uri="{0D108BD9-81ED-4DB2-BD59-A6C34878D82A}">
                    <a16:rowId xmlns:a16="http://schemas.microsoft.com/office/drawing/2014/main" val="10000"/>
                  </a:ext>
                </a:extLst>
              </a:tr>
            </a:tbl>
          </a:graphicData>
        </a:graphic>
      </p:graphicFrame>
      <p:sp>
        <p:nvSpPr>
          <p:cNvPr id="19" name="TextBox 18"/>
          <p:cNvSpPr txBox="1"/>
          <p:nvPr/>
        </p:nvSpPr>
        <p:spPr>
          <a:xfrm>
            <a:off x="1828800" y="2057400"/>
            <a:ext cx="685800" cy="553998"/>
          </a:xfrm>
          <a:prstGeom prst="rect">
            <a:avLst/>
          </a:prstGeom>
          <a:noFill/>
        </p:spPr>
        <p:txBody>
          <a:bodyPr wrap="square" rtlCol="0">
            <a:spAutoFit/>
          </a:bodyPr>
          <a:lstStyle/>
          <a:p>
            <a:r>
              <a:rPr lang="en-IN" sz="1200" dirty="0"/>
              <a:t>y[0][0]</a:t>
            </a:r>
          </a:p>
          <a:p>
            <a:endParaRPr lang="en-IN" dirty="0"/>
          </a:p>
        </p:txBody>
      </p:sp>
      <p:sp>
        <p:nvSpPr>
          <p:cNvPr id="20" name="TextBox 19"/>
          <p:cNvSpPr txBox="1"/>
          <p:nvPr/>
        </p:nvSpPr>
        <p:spPr>
          <a:xfrm>
            <a:off x="2743200" y="2057400"/>
            <a:ext cx="685800" cy="553998"/>
          </a:xfrm>
          <a:prstGeom prst="rect">
            <a:avLst/>
          </a:prstGeom>
          <a:noFill/>
        </p:spPr>
        <p:txBody>
          <a:bodyPr wrap="square" rtlCol="0">
            <a:spAutoFit/>
          </a:bodyPr>
          <a:lstStyle/>
          <a:p>
            <a:r>
              <a:rPr lang="en-IN" sz="1200" dirty="0"/>
              <a:t>y[0][1]</a:t>
            </a:r>
          </a:p>
          <a:p>
            <a:endParaRPr lang="en-IN" dirty="0"/>
          </a:p>
        </p:txBody>
      </p:sp>
      <p:sp>
        <p:nvSpPr>
          <p:cNvPr id="21" name="TextBox 20"/>
          <p:cNvSpPr txBox="1"/>
          <p:nvPr/>
        </p:nvSpPr>
        <p:spPr>
          <a:xfrm>
            <a:off x="3733800" y="2057400"/>
            <a:ext cx="685800" cy="553998"/>
          </a:xfrm>
          <a:prstGeom prst="rect">
            <a:avLst/>
          </a:prstGeom>
          <a:noFill/>
        </p:spPr>
        <p:txBody>
          <a:bodyPr wrap="square" rtlCol="0">
            <a:spAutoFit/>
          </a:bodyPr>
          <a:lstStyle/>
          <a:p>
            <a:r>
              <a:rPr lang="en-IN" sz="1200" dirty="0"/>
              <a:t>y[0][2]</a:t>
            </a:r>
          </a:p>
          <a:p>
            <a:endParaRPr lang="en-IN" dirty="0"/>
          </a:p>
        </p:txBody>
      </p:sp>
      <p:sp>
        <p:nvSpPr>
          <p:cNvPr id="22" name="TextBox 21"/>
          <p:cNvSpPr txBox="1"/>
          <p:nvPr/>
        </p:nvSpPr>
        <p:spPr>
          <a:xfrm>
            <a:off x="4800600" y="2057400"/>
            <a:ext cx="685800" cy="553998"/>
          </a:xfrm>
          <a:prstGeom prst="rect">
            <a:avLst/>
          </a:prstGeom>
          <a:noFill/>
        </p:spPr>
        <p:txBody>
          <a:bodyPr wrap="square" rtlCol="0">
            <a:spAutoFit/>
          </a:bodyPr>
          <a:lstStyle/>
          <a:p>
            <a:r>
              <a:rPr lang="en-IN" sz="1200" dirty="0"/>
              <a:t>y[1][0]</a:t>
            </a:r>
          </a:p>
          <a:p>
            <a:endParaRPr lang="en-IN" dirty="0"/>
          </a:p>
        </p:txBody>
      </p:sp>
      <p:sp>
        <p:nvSpPr>
          <p:cNvPr id="23" name="TextBox 22"/>
          <p:cNvSpPr txBox="1"/>
          <p:nvPr/>
        </p:nvSpPr>
        <p:spPr>
          <a:xfrm>
            <a:off x="5867400" y="2133600"/>
            <a:ext cx="685800" cy="553998"/>
          </a:xfrm>
          <a:prstGeom prst="rect">
            <a:avLst/>
          </a:prstGeom>
          <a:noFill/>
        </p:spPr>
        <p:txBody>
          <a:bodyPr wrap="square" rtlCol="0">
            <a:spAutoFit/>
          </a:bodyPr>
          <a:lstStyle/>
          <a:p>
            <a:r>
              <a:rPr lang="en-IN" sz="1200" dirty="0"/>
              <a:t>y[1][1]</a:t>
            </a:r>
          </a:p>
          <a:p>
            <a:endParaRPr lang="en-IN" dirty="0"/>
          </a:p>
        </p:txBody>
      </p:sp>
      <p:sp>
        <p:nvSpPr>
          <p:cNvPr id="24" name="TextBox 23"/>
          <p:cNvSpPr txBox="1"/>
          <p:nvPr/>
        </p:nvSpPr>
        <p:spPr>
          <a:xfrm>
            <a:off x="6858000" y="2113002"/>
            <a:ext cx="685800" cy="553998"/>
          </a:xfrm>
          <a:prstGeom prst="rect">
            <a:avLst/>
          </a:prstGeom>
          <a:noFill/>
        </p:spPr>
        <p:txBody>
          <a:bodyPr wrap="square" rtlCol="0">
            <a:spAutoFit/>
          </a:bodyPr>
          <a:lstStyle/>
          <a:p>
            <a:r>
              <a:rPr lang="en-IN" sz="1200" dirty="0"/>
              <a:t>y[1][2]</a:t>
            </a:r>
          </a:p>
          <a:p>
            <a:endParaRPr lang="en-IN" dirty="0"/>
          </a:p>
        </p:txBody>
      </p:sp>
      <p:graphicFrame>
        <p:nvGraphicFramePr>
          <p:cNvPr id="15" name="Table 14"/>
          <p:cNvGraphicFramePr>
            <a:graphicFrameLocks noGrp="1"/>
          </p:cNvGraphicFramePr>
          <p:nvPr/>
        </p:nvGraphicFramePr>
        <p:xfrm>
          <a:off x="1219200" y="5029200"/>
          <a:ext cx="3505200" cy="1478280"/>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20000"/>
                    </a:ext>
                  </a:extLst>
                </a:gridCol>
                <a:gridCol w="876300">
                  <a:extLst>
                    <a:ext uri="{9D8B030D-6E8A-4147-A177-3AD203B41FA5}">
                      <a16:colId xmlns:a16="http://schemas.microsoft.com/office/drawing/2014/main" val="20001"/>
                    </a:ext>
                  </a:extLst>
                </a:gridCol>
                <a:gridCol w="876300">
                  <a:extLst>
                    <a:ext uri="{9D8B030D-6E8A-4147-A177-3AD203B41FA5}">
                      <a16:colId xmlns:a16="http://schemas.microsoft.com/office/drawing/2014/main" val="20002"/>
                    </a:ext>
                  </a:extLst>
                </a:gridCol>
                <a:gridCol w="876300">
                  <a:extLst>
                    <a:ext uri="{9D8B030D-6E8A-4147-A177-3AD203B41FA5}">
                      <a16:colId xmlns:a16="http://schemas.microsoft.com/office/drawing/2014/main" val="20003"/>
                    </a:ext>
                  </a:extLst>
                </a:gridCol>
              </a:tblGrid>
              <a:tr h="0">
                <a:tc>
                  <a:txBody>
                    <a:bodyPr/>
                    <a:lstStyle/>
                    <a:p>
                      <a:endParaRPr lang="en-IN" dirty="0"/>
                    </a:p>
                  </a:txBody>
                  <a:tcPr>
                    <a:solidFill>
                      <a:schemeClr val="bg1">
                        <a:lumMod val="85000"/>
                      </a:schemeClr>
                    </a:solidFill>
                  </a:tcPr>
                </a:tc>
                <a:tc>
                  <a:txBody>
                    <a:bodyPr/>
                    <a:lstStyle/>
                    <a:p>
                      <a:endParaRPr lang="en-IN" dirty="0"/>
                    </a:p>
                  </a:txBody>
                  <a:tcPr>
                    <a:solidFill>
                      <a:schemeClr val="bg1">
                        <a:lumMod val="85000"/>
                      </a:schemeClr>
                    </a:solidFill>
                  </a:tcPr>
                </a:tc>
                <a:tc>
                  <a:txBody>
                    <a:bodyPr/>
                    <a:lstStyle/>
                    <a:p>
                      <a:endParaRPr lang="en-IN" dirty="0"/>
                    </a:p>
                  </a:txBody>
                  <a:tcPr>
                    <a:solidFill>
                      <a:schemeClr val="bg1">
                        <a:lumMod val="85000"/>
                      </a:schemeClr>
                    </a:solidFill>
                  </a:tcPr>
                </a:tc>
                <a:tc>
                  <a:txBody>
                    <a:bodyPr/>
                    <a:lstStyle/>
                    <a:p>
                      <a:endParaRPr lang="en-IN"/>
                    </a:p>
                  </a:txBody>
                  <a:tcPr>
                    <a:solidFill>
                      <a:schemeClr val="bg1">
                        <a:lumMod val="85000"/>
                      </a:schemeClr>
                    </a:solidFill>
                  </a:tcPr>
                </a:tc>
                <a:extLst>
                  <a:ext uri="{0D108BD9-81ED-4DB2-BD59-A6C34878D82A}">
                    <a16:rowId xmlns:a16="http://schemas.microsoft.com/office/drawing/2014/main" val="10000"/>
                  </a:ext>
                </a:extLst>
              </a:tr>
              <a:tr h="370840">
                <a:tc>
                  <a:txBody>
                    <a:bodyPr/>
                    <a:lstStyle/>
                    <a:p>
                      <a:endParaRPr lang="en-IN" dirty="0"/>
                    </a:p>
                  </a:txBody>
                  <a:tcPr>
                    <a:solidFill>
                      <a:schemeClr val="bg1">
                        <a:lumMod val="85000"/>
                      </a:schemeClr>
                    </a:solidFill>
                  </a:tcPr>
                </a:tc>
                <a:tc>
                  <a:txBody>
                    <a:bodyPr/>
                    <a:lstStyle/>
                    <a:p>
                      <a:endParaRPr lang="en-IN" dirty="0"/>
                    </a:p>
                  </a:txBody>
                  <a:tcPr>
                    <a:solidFill>
                      <a:schemeClr val="bg1">
                        <a:lumMod val="85000"/>
                      </a:schemeClr>
                    </a:solidFill>
                  </a:tcPr>
                </a:tc>
                <a:tc>
                  <a:txBody>
                    <a:bodyPr/>
                    <a:lstStyle/>
                    <a:p>
                      <a:endParaRPr lang="en-IN" dirty="0"/>
                    </a:p>
                  </a:txBody>
                  <a:tcPr>
                    <a:solidFill>
                      <a:schemeClr val="bg1">
                        <a:lumMod val="85000"/>
                      </a:schemeClr>
                    </a:solidFill>
                  </a:tcPr>
                </a:tc>
                <a:tc>
                  <a:txBody>
                    <a:bodyPr/>
                    <a:lstStyle/>
                    <a:p>
                      <a:endParaRPr lang="en-IN"/>
                    </a:p>
                  </a:txBody>
                  <a:tcPr>
                    <a:solidFill>
                      <a:schemeClr val="bg1">
                        <a:lumMod val="85000"/>
                      </a:schemeClr>
                    </a:solidFill>
                  </a:tcPr>
                </a:tc>
                <a:extLst>
                  <a:ext uri="{0D108BD9-81ED-4DB2-BD59-A6C34878D82A}">
                    <a16:rowId xmlns:a16="http://schemas.microsoft.com/office/drawing/2014/main" val="10001"/>
                  </a:ext>
                </a:extLst>
              </a:tr>
              <a:tr h="370840">
                <a:tc>
                  <a:txBody>
                    <a:bodyPr/>
                    <a:lstStyle/>
                    <a:p>
                      <a:endParaRPr lang="en-IN"/>
                    </a:p>
                  </a:txBody>
                  <a:tcPr>
                    <a:solidFill>
                      <a:schemeClr val="bg1">
                        <a:lumMod val="85000"/>
                      </a:schemeClr>
                    </a:solidFill>
                  </a:tcPr>
                </a:tc>
                <a:tc>
                  <a:txBody>
                    <a:bodyPr/>
                    <a:lstStyle/>
                    <a:p>
                      <a:endParaRPr lang="en-IN" dirty="0"/>
                    </a:p>
                  </a:txBody>
                  <a:tcPr>
                    <a:solidFill>
                      <a:schemeClr val="bg1">
                        <a:lumMod val="85000"/>
                      </a:schemeClr>
                    </a:solidFill>
                  </a:tcPr>
                </a:tc>
                <a:tc>
                  <a:txBody>
                    <a:bodyPr/>
                    <a:lstStyle/>
                    <a:p>
                      <a:endParaRPr lang="en-IN" dirty="0"/>
                    </a:p>
                  </a:txBody>
                  <a:tcPr>
                    <a:solidFill>
                      <a:schemeClr val="bg1">
                        <a:lumMod val="85000"/>
                      </a:schemeClr>
                    </a:solidFill>
                  </a:tcPr>
                </a:tc>
                <a:tc>
                  <a:txBody>
                    <a:bodyPr/>
                    <a:lstStyle/>
                    <a:p>
                      <a:endParaRPr lang="en-IN" dirty="0"/>
                    </a:p>
                  </a:txBody>
                  <a:tcPr>
                    <a:solidFill>
                      <a:schemeClr val="bg1">
                        <a:lumMod val="85000"/>
                      </a:schemeClr>
                    </a:solidFill>
                  </a:tcPr>
                </a:tc>
                <a:extLst>
                  <a:ext uri="{0D108BD9-81ED-4DB2-BD59-A6C34878D82A}">
                    <a16:rowId xmlns:a16="http://schemas.microsoft.com/office/drawing/2014/main" val="10002"/>
                  </a:ext>
                </a:extLst>
              </a:tr>
              <a:tr h="370840">
                <a:tc>
                  <a:txBody>
                    <a:bodyPr/>
                    <a:lstStyle/>
                    <a:p>
                      <a:endParaRPr lang="en-IN"/>
                    </a:p>
                  </a:txBody>
                  <a:tcPr>
                    <a:solidFill>
                      <a:schemeClr val="bg1">
                        <a:lumMod val="85000"/>
                      </a:schemeClr>
                    </a:solidFill>
                  </a:tcPr>
                </a:tc>
                <a:tc>
                  <a:txBody>
                    <a:bodyPr/>
                    <a:lstStyle/>
                    <a:p>
                      <a:endParaRPr lang="en-IN" dirty="0"/>
                    </a:p>
                  </a:txBody>
                  <a:tcPr>
                    <a:solidFill>
                      <a:schemeClr val="bg1">
                        <a:lumMod val="85000"/>
                      </a:schemeClr>
                    </a:solidFill>
                  </a:tcPr>
                </a:tc>
                <a:tc>
                  <a:txBody>
                    <a:bodyPr/>
                    <a:lstStyle/>
                    <a:p>
                      <a:endParaRPr lang="en-IN" dirty="0"/>
                    </a:p>
                  </a:txBody>
                  <a:tcPr>
                    <a:solidFill>
                      <a:schemeClr val="bg1">
                        <a:lumMod val="85000"/>
                      </a:schemeClr>
                    </a:solidFill>
                  </a:tcPr>
                </a:tc>
                <a:tc>
                  <a:txBody>
                    <a:bodyPr/>
                    <a:lstStyle/>
                    <a:p>
                      <a:endParaRPr lang="en-IN" dirty="0"/>
                    </a:p>
                  </a:txBody>
                  <a:tcPr>
                    <a:solidFill>
                      <a:schemeClr val="bg1">
                        <a:lumMod val="85000"/>
                      </a:schemeClr>
                    </a:solidFill>
                  </a:tcPr>
                </a:tc>
                <a:extLst>
                  <a:ext uri="{0D108BD9-81ED-4DB2-BD59-A6C34878D82A}">
                    <a16:rowId xmlns:a16="http://schemas.microsoft.com/office/drawing/2014/main" val="10003"/>
                  </a:ext>
                </a:extLst>
              </a:tr>
            </a:tbl>
          </a:graphicData>
        </a:graphic>
      </p:graphicFrame>
      <p:sp>
        <p:nvSpPr>
          <p:cNvPr id="26" name="TextBox 25"/>
          <p:cNvSpPr txBox="1"/>
          <p:nvPr/>
        </p:nvSpPr>
        <p:spPr>
          <a:xfrm>
            <a:off x="457200" y="3048000"/>
            <a:ext cx="914400" cy="369332"/>
          </a:xfrm>
          <a:prstGeom prst="rect">
            <a:avLst/>
          </a:prstGeom>
          <a:noFill/>
        </p:spPr>
        <p:txBody>
          <a:bodyPr wrap="square" rtlCol="0">
            <a:spAutoFit/>
          </a:bodyPr>
          <a:lstStyle/>
          <a:p>
            <a:r>
              <a:rPr lang="en-IN" dirty="0">
                <a:solidFill>
                  <a:srgbClr val="C00000"/>
                </a:solidFill>
              </a:rPr>
              <a:t>Note:</a:t>
            </a:r>
          </a:p>
        </p:txBody>
      </p:sp>
      <p:sp>
        <p:nvSpPr>
          <p:cNvPr id="27" name="Rectangle 26"/>
          <p:cNvSpPr/>
          <p:nvPr/>
        </p:nvSpPr>
        <p:spPr>
          <a:xfrm>
            <a:off x="6400800" y="2971800"/>
            <a:ext cx="2362200" cy="6096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dirty="0">
              <a:solidFill>
                <a:schemeClr val="tx1"/>
              </a:solidFill>
            </a:endParaRPr>
          </a:p>
          <a:p>
            <a:pPr algn="ctr"/>
            <a:r>
              <a:rPr lang="en-IN" sz="1200" dirty="0" err="1">
                <a:solidFill>
                  <a:schemeClr val="tx1"/>
                </a:solidFill>
              </a:rPr>
              <a:t>int</a:t>
            </a:r>
            <a:r>
              <a:rPr lang="en-IN" sz="1200" dirty="0">
                <a:solidFill>
                  <a:schemeClr val="tx1"/>
                </a:solidFill>
              </a:rPr>
              <a:t> b[2][3];</a:t>
            </a:r>
          </a:p>
          <a:p>
            <a:pPr algn="ctr"/>
            <a:r>
              <a:rPr lang="en-IN" sz="1200" b="1" dirty="0">
                <a:solidFill>
                  <a:srgbClr val="FF0000"/>
                </a:solidFill>
              </a:rPr>
              <a:t>b = { 10, 20, 30 40, 50};</a:t>
            </a:r>
          </a:p>
          <a:p>
            <a:pPr algn="ctr"/>
            <a:endParaRPr lang="en-IN" dirty="0">
              <a:solidFill>
                <a:schemeClr val="tx1"/>
              </a:solidFill>
            </a:endParaRPr>
          </a:p>
        </p:txBody>
      </p:sp>
      <p:cxnSp>
        <p:nvCxnSpPr>
          <p:cNvPr id="28" name="Straight Connector 27"/>
          <p:cNvCxnSpPr/>
          <p:nvPr/>
        </p:nvCxnSpPr>
        <p:spPr>
          <a:xfrm>
            <a:off x="6705600" y="3352800"/>
            <a:ext cx="16764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1752600" y="4419600"/>
            <a:ext cx="1447800" cy="369332"/>
          </a:xfrm>
          <a:prstGeom prst="rect">
            <a:avLst/>
          </a:prstGeom>
          <a:solidFill>
            <a:schemeClr val="bg1">
              <a:lumMod val="85000"/>
            </a:schemeClr>
          </a:solidFill>
        </p:spPr>
        <p:txBody>
          <a:bodyPr wrap="square" rtlCol="0">
            <a:spAutoFit/>
          </a:bodyPr>
          <a:lstStyle/>
          <a:p>
            <a:r>
              <a:rPr lang="en-IN" dirty="0" err="1"/>
              <a:t>int</a:t>
            </a:r>
            <a:r>
              <a:rPr lang="en-IN" dirty="0"/>
              <a:t> x[4][4];</a:t>
            </a:r>
          </a:p>
        </p:txBody>
      </p:sp>
      <p:cxnSp>
        <p:nvCxnSpPr>
          <p:cNvPr id="36" name="Straight Arrow Connector 35"/>
          <p:cNvCxnSpPr/>
          <p:nvPr/>
        </p:nvCxnSpPr>
        <p:spPr>
          <a:xfrm>
            <a:off x="762000" y="5257800"/>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304800" y="5105400"/>
            <a:ext cx="685800" cy="276999"/>
          </a:xfrm>
          <a:prstGeom prst="rect">
            <a:avLst/>
          </a:prstGeom>
          <a:noFill/>
        </p:spPr>
        <p:txBody>
          <a:bodyPr wrap="square" rtlCol="0">
            <a:spAutoFit/>
          </a:bodyPr>
          <a:lstStyle/>
          <a:p>
            <a:r>
              <a:rPr lang="en-IN" sz="1200" dirty="0"/>
              <a:t>x[0]</a:t>
            </a:r>
          </a:p>
        </p:txBody>
      </p:sp>
      <p:cxnSp>
        <p:nvCxnSpPr>
          <p:cNvPr id="38" name="Straight Arrow Connector 37"/>
          <p:cNvCxnSpPr/>
          <p:nvPr/>
        </p:nvCxnSpPr>
        <p:spPr>
          <a:xfrm>
            <a:off x="762000" y="5590401"/>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304800" y="5438001"/>
            <a:ext cx="685800" cy="276999"/>
          </a:xfrm>
          <a:prstGeom prst="rect">
            <a:avLst/>
          </a:prstGeom>
          <a:noFill/>
        </p:spPr>
        <p:txBody>
          <a:bodyPr wrap="square" rtlCol="0">
            <a:spAutoFit/>
          </a:bodyPr>
          <a:lstStyle/>
          <a:p>
            <a:r>
              <a:rPr lang="en-IN" sz="1200" dirty="0"/>
              <a:t>x[1]</a:t>
            </a:r>
          </a:p>
        </p:txBody>
      </p:sp>
      <p:cxnSp>
        <p:nvCxnSpPr>
          <p:cNvPr id="40" name="Straight Arrow Connector 39"/>
          <p:cNvCxnSpPr/>
          <p:nvPr/>
        </p:nvCxnSpPr>
        <p:spPr>
          <a:xfrm>
            <a:off x="762000" y="5895201"/>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304800" y="5742801"/>
            <a:ext cx="685800" cy="276999"/>
          </a:xfrm>
          <a:prstGeom prst="rect">
            <a:avLst/>
          </a:prstGeom>
          <a:noFill/>
        </p:spPr>
        <p:txBody>
          <a:bodyPr wrap="square" rtlCol="0">
            <a:spAutoFit/>
          </a:bodyPr>
          <a:lstStyle/>
          <a:p>
            <a:r>
              <a:rPr lang="en-IN" sz="1200" dirty="0"/>
              <a:t>x[2]</a:t>
            </a:r>
          </a:p>
        </p:txBody>
      </p:sp>
      <p:cxnSp>
        <p:nvCxnSpPr>
          <p:cNvPr id="42" name="Straight Arrow Connector 41"/>
          <p:cNvCxnSpPr/>
          <p:nvPr/>
        </p:nvCxnSpPr>
        <p:spPr>
          <a:xfrm>
            <a:off x="762000" y="6276201"/>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304800" y="6123801"/>
            <a:ext cx="685800" cy="276999"/>
          </a:xfrm>
          <a:prstGeom prst="rect">
            <a:avLst/>
          </a:prstGeom>
          <a:noFill/>
        </p:spPr>
        <p:txBody>
          <a:bodyPr wrap="square" rtlCol="0">
            <a:spAutoFit/>
          </a:bodyPr>
          <a:lstStyle/>
          <a:p>
            <a:r>
              <a:rPr lang="en-IN" sz="1200" dirty="0"/>
              <a:t>x[3]</a:t>
            </a:r>
          </a:p>
        </p:txBody>
      </p:sp>
      <p:sp>
        <p:nvSpPr>
          <p:cNvPr id="44" name="TextBox 43"/>
          <p:cNvSpPr txBox="1"/>
          <p:nvPr/>
        </p:nvSpPr>
        <p:spPr>
          <a:xfrm>
            <a:off x="0" y="4724400"/>
            <a:ext cx="1600200" cy="276999"/>
          </a:xfrm>
          <a:prstGeom prst="rect">
            <a:avLst/>
          </a:prstGeom>
          <a:noFill/>
        </p:spPr>
        <p:txBody>
          <a:bodyPr wrap="square" rtlCol="0">
            <a:spAutoFit/>
          </a:bodyPr>
          <a:lstStyle/>
          <a:p>
            <a:r>
              <a:rPr lang="en-IN" sz="1200" b="1" dirty="0">
                <a:solidFill>
                  <a:srgbClr val="FF0000"/>
                </a:solidFill>
              </a:rPr>
              <a:t>Name of 1D array</a:t>
            </a:r>
          </a:p>
        </p:txBody>
      </p:sp>
      <p:sp>
        <p:nvSpPr>
          <p:cNvPr id="29" name="Rectangle 28"/>
          <p:cNvSpPr/>
          <p:nvPr/>
        </p:nvSpPr>
        <p:spPr>
          <a:xfrm>
            <a:off x="4191000" y="2895600"/>
            <a:ext cx="2057400" cy="6096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dirty="0">
              <a:solidFill>
                <a:schemeClr val="tx1"/>
              </a:solidFill>
            </a:endParaRPr>
          </a:p>
          <a:p>
            <a:pPr algn="ctr"/>
            <a:r>
              <a:rPr lang="en-IN" sz="1200" dirty="0" err="1">
                <a:solidFill>
                  <a:srgbClr val="FF0000"/>
                </a:solidFill>
              </a:rPr>
              <a:t>int</a:t>
            </a:r>
            <a:r>
              <a:rPr lang="en-IN" sz="1200" dirty="0">
                <a:solidFill>
                  <a:srgbClr val="FF0000"/>
                </a:solidFill>
              </a:rPr>
              <a:t> b[][3]</a:t>
            </a:r>
            <a:r>
              <a:rPr lang="en-IN" sz="1200" b="1" dirty="0">
                <a:solidFill>
                  <a:srgbClr val="FF0000"/>
                </a:solidFill>
              </a:rPr>
              <a:t>= { 10, 20, 30 40, 50};</a:t>
            </a:r>
          </a:p>
          <a:p>
            <a:pPr algn="ctr"/>
            <a:endParaRPr lang="en-IN" dirty="0">
              <a:solidFill>
                <a:schemeClr val="tx1"/>
              </a:solidFill>
            </a:endParaRPr>
          </a:p>
        </p:txBody>
      </p:sp>
      <p:cxnSp>
        <p:nvCxnSpPr>
          <p:cNvPr id="31" name="Straight Connector 30"/>
          <p:cNvCxnSpPr/>
          <p:nvPr/>
        </p:nvCxnSpPr>
        <p:spPr>
          <a:xfrm>
            <a:off x="4343400" y="3200400"/>
            <a:ext cx="1905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5105400" y="4267200"/>
            <a:ext cx="3810000" cy="523220"/>
          </a:xfrm>
          <a:prstGeom prst="rect">
            <a:avLst/>
          </a:prstGeom>
          <a:solidFill>
            <a:schemeClr val="bg1">
              <a:lumMod val="85000"/>
            </a:schemeClr>
          </a:solidFill>
          <a:ln>
            <a:solidFill>
              <a:schemeClr val="accent1"/>
            </a:solidFill>
          </a:ln>
        </p:spPr>
        <p:txBody>
          <a:bodyPr wrap="square" rtlCol="0">
            <a:spAutoFit/>
          </a:bodyPr>
          <a:lstStyle/>
          <a:p>
            <a:r>
              <a:rPr lang="en-IN" sz="1400" b="1" dirty="0"/>
              <a:t>Size of the second dimension is mandatory in the initialization statement of </a:t>
            </a:r>
            <a:r>
              <a:rPr lang="en-IN" sz="1400" b="1"/>
              <a:t>the matrix. </a:t>
            </a:r>
            <a:endParaRPr lang="en-IN" sz="1400" b="1" dirty="0"/>
          </a:p>
        </p:txBody>
      </p:sp>
      <p:sp>
        <p:nvSpPr>
          <p:cNvPr id="48" name="Rectangle 47"/>
          <p:cNvSpPr/>
          <p:nvPr/>
        </p:nvSpPr>
        <p:spPr>
          <a:xfrm>
            <a:off x="1600200" y="2971800"/>
            <a:ext cx="2057400" cy="6096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dirty="0">
              <a:solidFill>
                <a:schemeClr val="tx1"/>
              </a:solidFill>
            </a:endParaRPr>
          </a:p>
          <a:p>
            <a:pPr algn="ctr"/>
            <a:r>
              <a:rPr lang="en-IN" sz="1200" dirty="0" err="1">
                <a:solidFill>
                  <a:srgbClr val="FF0000"/>
                </a:solidFill>
              </a:rPr>
              <a:t>int</a:t>
            </a:r>
            <a:r>
              <a:rPr lang="en-IN" sz="1200" dirty="0">
                <a:solidFill>
                  <a:srgbClr val="FF0000"/>
                </a:solidFill>
              </a:rPr>
              <a:t> b[][]</a:t>
            </a:r>
            <a:r>
              <a:rPr lang="en-IN" sz="1200" b="1" dirty="0">
                <a:solidFill>
                  <a:srgbClr val="FF0000"/>
                </a:solidFill>
              </a:rPr>
              <a:t>= { 10, 20, 30 40, 50};</a:t>
            </a:r>
          </a:p>
          <a:p>
            <a:pPr algn="ctr"/>
            <a:endParaRPr lang="en-IN" dirty="0">
              <a:solidFill>
                <a:schemeClr val="tx1"/>
              </a:solidFill>
            </a:endParaRPr>
          </a:p>
        </p:txBody>
      </p:sp>
      <p:cxnSp>
        <p:nvCxnSpPr>
          <p:cNvPr id="50" name="Straight Connector 49"/>
          <p:cNvCxnSpPr/>
          <p:nvPr/>
        </p:nvCxnSpPr>
        <p:spPr>
          <a:xfrm>
            <a:off x="1752600" y="3276600"/>
            <a:ext cx="17526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6019800" y="3821668"/>
            <a:ext cx="914400" cy="369332"/>
          </a:xfrm>
          <a:prstGeom prst="rect">
            <a:avLst/>
          </a:prstGeom>
          <a:noFill/>
        </p:spPr>
        <p:txBody>
          <a:bodyPr wrap="square" rtlCol="0">
            <a:spAutoFit/>
          </a:bodyPr>
          <a:lstStyle/>
          <a:p>
            <a:r>
              <a:rPr lang="en-IN" dirty="0">
                <a:solidFill>
                  <a:srgbClr val="C00000"/>
                </a:solidFill>
              </a:rPr>
              <a:t>Note: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IN" dirty="0"/>
              <a:t>Example</a:t>
            </a:r>
          </a:p>
        </p:txBody>
      </p:sp>
      <p:sp>
        <p:nvSpPr>
          <p:cNvPr id="3" name="Content Placeholder 2"/>
          <p:cNvSpPr>
            <a:spLocks noGrp="1"/>
          </p:cNvSpPr>
          <p:nvPr>
            <p:ph idx="1"/>
          </p:nvPr>
        </p:nvSpPr>
        <p:spPr>
          <a:xfrm>
            <a:off x="457200" y="990600"/>
            <a:ext cx="8229600" cy="5135563"/>
          </a:xfrm>
        </p:spPr>
        <p:txBody>
          <a:bodyPr/>
          <a:lstStyle/>
          <a:p>
            <a:r>
              <a:rPr lang="en-IN" dirty="0"/>
              <a:t>Write a program to take input  for 3 X 4 matrix and display matrix in proper format.</a:t>
            </a:r>
          </a:p>
        </p:txBody>
      </p:sp>
      <p:sp>
        <p:nvSpPr>
          <p:cNvPr id="4" name="TextBox 3"/>
          <p:cNvSpPr txBox="1"/>
          <p:nvPr/>
        </p:nvSpPr>
        <p:spPr>
          <a:xfrm>
            <a:off x="381000" y="2333685"/>
            <a:ext cx="3962400" cy="1815882"/>
          </a:xfrm>
          <a:prstGeom prst="rect">
            <a:avLst/>
          </a:prstGeom>
          <a:solidFill>
            <a:schemeClr val="bg1">
              <a:lumMod val="85000"/>
            </a:schemeClr>
          </a:solidFill>
        </p:spPr>
        <p:txBody>
          <a:bodyPr wrap="square" rtlCol="0">
            <a:spAutoFit/>
          </a:bodyPr>
          <a:lstStyle/>
          <a:p>
            <a:pPr marL="228600" indent="-228600"/>
            <a:r>
              <a:rPr lang="en-IN" sz="1600" dirty="0"/>
              <a:t>Enter the elements of the matrix</a:t>
            </a:r>
          </a:p>
          <a:p>
            <a:pPr marL="228600" indent="-228600"/>
            <a:r>
              <a:rPr lang="en-IN" sz="1600" dirty="0"/>
              <a:t> 60 70 90 95 82 75 87 94 65 76 86 96</a:t>
            </a:r>
          </a:p>
          <a:p>
            <a:pPr marL="228600" indent="-228600"/>
            <a:endParaRPr lang="en-IN" sz="1600" dirty="0"/>
          </a:p>
          <a:p>
            <a:pPr marL="228600" indent="-228600"/>
            <a:r>
              <a:rPr lang="en-IN" sz="1600" dirty="0"/>
              <a:t>The elements of the matrix are as follows:</a:t>
            </a:r>
          </a:p>
          <a:p>
            <a:pPr marL="228600" indent="-228600"/>
            <a:r>
              <a:rPr lang="en-IN" sz="1600" dirty="0"/>
              <a:t>Row1: 70	90	95	 82</a:t>
            </a:r>
          </a:p>
          <a:p>
            <a:pPr marL="228600" indent="-228600"/>
            <a:r>
              <a:rPr lang="en-IN" sz="1600" dirty="0"/>
              <a:t>Row2: 82	75	87	94</a:t>
            </a:r>
          </a:p>
          <a:p>
            <a:pPr marL="228600" indent="-228600"/>
            <a:r>
              <a:rPr lang="en-IN" sz="1600" dirty="0"/>
              <a:t>Row3:65	76	86	96</a:t>
            </a:r>
          </a:p>
        </p:txBody>
      </p:sp>
      <p:sp>
        <p:nvSpPr>
          <p:cNvPr id="5" name="TextBox 4"/>
          <p:cNvSpPr txBox="1"/>
          <p:nvPr/>
        </p:nvSpPr>
        <p:spPr>
          <a:xfrm>
            <a:off x="685800" y="1981200"/>
            <a:ext cx="990600" cy="369332"/>
          </a:xfrm>
          <a:prstGeom prst="rect">
            <a:avLst/>
          </a:prstGeom>
          <a:noFill/>
        </p:spPr>
        <p:txBody>
          <a:bodyPr wrap="square" rtlCol="0">
            <a:spAutoFit/>
          </a:bodyPr>
          <a:lstStyle/>
          <a:p>
            <a:r>
              <a:rPr lang="en-IN" b="1" dirty="0"/>
              <a:t>output</a:t>
            </a:r>
          </a:p>
        </p:txBody>
      </p:sp>
      <p:graphicFrame>
        <p:nvGraphicFramePr>
          <p:cNvPr id="6" name="Table 5"/>
          <p:cNvGraphicFramePr>
            <a:graphicFrameLocks noGrp="1"/>
          </p:cNvGraphicFramePr>
          <p:nvPr/>
        </p:nvGraphicFramePr>
        <p:xfrm>
          <a:off x="457200" y="4876800"/>
          <a:ext cx="3505200" cy="1107440"/>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20000"/>
                    </a:ext>
                  </a:extLst>
                </a:gridCol>
                <a:gridCol w="876300">
                  <a:extLst>
                    <a:ext uri="{9D8B030D-6E8A-4147-A177-3AD203B41FA5}">
                      <a16:colId xmlns:a16="http://schemas.microsoft.com/office/drawing/2014/main" val="20001"/>
                    </a:ext>
                  </a:extLst>
                </a:gridCol>
                <a:gridCol w="876300">
                  <a:extLst>
                    <a:ext uri="{9D8B030D-6E8A-4147-A177-3AD203B41FA5}">
                      <a16:colId xmlns:a16="http://schemas.microsoft.com/office/drawing/2014/main" val="20002"/>
                    </a:ext>
                  </a:extLst>
                </a:gridCol>
                <a:gridCol w="876300">
                  <a:extLst>
                    <a:ext uri="{9D8B030D-6E8A-4147-A177-3AD203B41FA5}">
                      <a16:colId xmlns:a16="http://schemas.microsoft.com/office/drawing/2014/main" val="20003"/>
                    </a:ext>
                  </a:extLst>
                </a:gridCol>
              </a:tblGrid>
              <a:tr h="0">
                <a:tc>
                  <a:txBody>
                    <a:bodyPr/>
                    <a:lstStyle/>
                    <a:p>
                      <a:pPr marL="0" algn="l" defTabSz="914400" rtl="0" eaLnBrk="1" latinLnBrk="0" hangingPunct="1"/>
                      <a:r>
                        <a:rPr lang="en-IN" sz="1800" kern="1200" dirty="0">
                          <a:solidFill>
                            <a:schemeClr val="dk1"/>
                          </a:solidFill>
                          <a:latin typeface="+mn-lt"/>
                          <a:ea typeface="+mn-ea"/>
                          <a:cs typeface="+mn-cs"/>
                        </a:rPr>
                        <a:t>60</a:t>
                      </a:r>
                    </a:p>
                  </a:txBody>
                  <a:tcPr>
                    <a:solidFill>
                      <a:schemeClr val="bg1">
                        <a:lumMod val="85000"/>
                      </a:schemeClr>
                    </a:solidFill>
                  </a:tcPr>
                </a:tc>
                <a:tc>
                  <a:txBody>
                    <a:bodyPr/>
                    <a:lstStyle/>
                    <a:p>
                      <a:pPr marL="0" algn="l" defTabSz="914400" rtl="0" eaLnBrk="1" latinLnBrk="0" hangingPunct="1"/>
                      <a:r>
                        <a:rPr lang="en-IN" sz="1800" kern="1200" dirty="0">
                          <a:solidFill>
                            <a:schemeClr val="dk1"/>
                          </a:solidFill>
                          <a:latin typeface="+mn-lt"/>
                          <a:ea typeface="+mn-ea"/>
                          <a:cs typeface="+mn-cs"/>
                        </a:rPr>
                        <a:t>70</a:t>
                      </a:r>
                    </a:p>
                  </a:txBody>
                  <a:tcPr>
                    <a:solidFill>
                      <a:schemeClr val="bg1">
                        <a:lumMod val="85000"/>
                      </a:schemeClr>
                    </a:solidFill>
                  </a:tcPr>
                </a:tc>
                <a:tc>
                  <a:txBody>
                    <a:bodyPr/>
                    <a:lstStyle/>
                    <a:p>
                      <a:pPr marL="0" algn="l" defTabSz="914400" rtl="0" eaLnBrk="1" latinLnBrk="0" hangingPunct="1"/>
                      <a:r>
                        <a:rPr lang="en-IN" sz="1800" kern="1200" dirty="0">
                          <a:solidFill>
                            <a:schemeClr val="dk1"/>
                          </a:solidFill>
                          <a:latin typeface="+mn-lt"/>
                          <a:ea typeface="+mn-ea"/>
                          <a:cs typeface="+mn-cs"/>
                        </a:rPr>
                        <a:t>90</a:t>
                      </a:r>
                    </a:p>
                  </a:txBody>
                  <a:tcPr>
                    <a:solidFill>
                      <a:schemeClr val="bg1">
                        <a:lumMod val="85000"/>
                      </a:schemeClr>
                    </a:solidFill>
                  </a:tcPr>
                </a:tc>
                <a:tc>
                  <a:txBody>
                    <a:bodyPr/>
                    <a:lstStyle/>
                    <a:p>
                      <a:pPr marL="0" algn="l" defTabSz="914400" rtl="0" eaLnBrk="1" latinLnBrk="0" hangingPunct="1"/>
                      <a:r>
                        <a:rPr lang="en-IN" sz="1800" kern="1200" dirty="0">
                          <a:solidFill>
                            <a:schemeClr val="dk1"/>
                          </a:solidFill>
                          <a:latin typeface="+mn-lt"/>
                          <a:ea typeface="+mn-ea"/>
                          <a:cs typeface="+mn-cs"/>
                        </a:rPr>
                        <a:t>95</a:t>
                      </a:r>
                    </a:p>
                  </a:txBody>
                  <a:tcPr>
                    <a:solidFill>
                      <a:schemeClr val="bg1">
                        <a:lumMod val="85000"/>
                      </a:schemeClr>
                    </a:solidFill>
                  </a:tcPr>
                </a:tc>
                <a:extLst>
                  <a:ext uri="{0D108BD9-81ED-4DB2-BD59-A6C34878D82A}">
                    <a16:rowId xmlns:a16="http://schemas.microsoft.com/office/drawing/2014/main" val="10000"/>
                  </a:ext>
                </a:extLst>
              </a:tr>
              <a:tr h="370840">
                <a:tc>
                  <a:txBody>
                    <a:bodyPr/>
                    <a:lstStyle/>
                    <a:p>
                      <a:r>
                        <a:rPr lang="en-IN" dirty="0"/>
                        <a:t>82</a:t>
                      </a:r>
                    </a:p>
                  </a:txBody>
                  <a:tcPr>
                    <a:solidFill>
                      <a:schemeClr val="bg1">
                        <a:lumMod val="85000"/>
                      </a:schemeClr>
                    </a:solidFill>
                  </a:tcPr>
                </a:tc>
                <a:tc>
                  <a:txBody>
                    <a:bodyPr/>
                    <a:lstStyle/>
                    <a:p>
                      <a:r>
                        <a:rPr lang="en-IN" dirty="0"/>
                        <a:t>75</a:t>
                      </a:r>
                    </a:p>
                  </a:txBody>
                  <a:tcPr>
                    <a:solidFill>
                      <a:schemeClr val="bg1">
                        <a:lumMod val="85000"/>
                      </a:schemeClr>
                    </a:solidFill>
                  </a:tcPr>
                </a:tc>
                <a:tc>
                  <a:txBody>
                    <a:bodyPr/>
                    <a:lstStyle/>
                    <a:p>
                      <a:r>
                        <a:rPr lang="en-IN" dirty="0"/>
                        <a:t>87</a:t>
                      </a:r>
                    </a:p>
                  </a:txBody>
                  <a:tcPr>
                    <a:solidFill>
                      <a:schemeClr val="bg1">
                        <a:lumMod val="85000"/>
                      </a:schemeClr>
                    </a:solidFill>
                  </a:tcPr>
                </a:tc>
                <a:tc>
                  <a:txBody>
                    <a:bodyPr/>
                    <a:lstStyle/>
                    <a:p>
                      <a:r>
                        <a:rPr lang="en-IN" dirty="0"/>
                        <a:t>94</a:t>
                      </a:r>
                    </a:p>
                  </a:txBody>
                  <a:tcPr>
                    <a:solidFill>
                      <a:schemeClr val="bg1">
                        <a:lumMod val="85000"/>
                      </a:schemeClr>
                    </a:solidFill>
                  </a:tcPr>
                </a:tc>
                <a:extLst>
                  <a:ext uri="{0D108BD9-81ED-4DB2-BD59-A6C34878D82A}">
                    <a16:rowId xmlns:a16="http://schemas.microsoft.com/office/drawing/2014/main" val="10001"/>
                  </a:ext>
                </a:extLst>
              </a:tr>
              <a:tr h="370840">
                <a:tc>
                  <a:txBody>
                    <a:bodyPr/>
                    <a:lstStyle/>
                    <a:p>
                      <a:r>
                        <a:rPr lang="en-IN" dirty="0"/>
                        <a:t>65</a:t>
                      </a:r>
                    </a:p>
                  </a:txBody>
                  <a:tcPr>
                    <a:solidFill>
                      <a:schemeClr val="bg1">
                        <a:lumMod val="85000"/>
                      </a:schemeClr>
                    </a:solidFill>
                  </a:tcPr>
                </a:tc>
                <a:tc>
                  <a:txBody>
                    <a:bodyPr/>
                    <a:lstStyle/>
                    <a:p>
                      <a:r>
                        <a:rPr lang="en-IN" dirty="0"/>
                        <a:t>76</a:t>
                      </a:r>
                    </a:p>
                  </a:txBody>
                  <a:tcPr>
                    <a:solidFill>
                      <a:schemeClr val="bg1">
                        <a:lumMod val="85000"/>
                      </a:schemeClr>
                    </a:solidFill>
                  </a:tcPr>
                </a:tc>
                <a:tc>
                  <a:txBody>
                    <a:bodyPr/>
                    <a:lstStyle/>
                    <a:p>
                      <a:r>
                        <a:rPr lang="en-IN" dirty="0"/>
                        <a:t>86</a:t>
                      </a:r>
                    </a:p>
                  </a:txBody>
                  <a:tcPr>
                    <a:solidFill>
                      <a:schemeClr val="bg1">
                        <a:lumMod val="85000"/>
                      </a:schemeClr>
                    </a:solidFill>
                  </a:tcPr>
                </a:tc>
                <a:tc>
                  <a:txBody>
                    <a:bodyPr/>
                    <a:lstStyle/>
                    <a:p>
                      <a:r>
                        <a:rPr lang="en-IN" dirty="0"/>
                        <a:t>96</a:t>
                      </a:r>
                    </a:p>
                  </a:txBody>
                  <a:tcPr>
                    <a:solidFill>
                      <a:schemeClr val="bg1">
                        <a:lumMod val="85000"/>
                      </a:schemeClr>
                    </a:solidFill>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graphicFrame>
        <p:nvGraphicFramePr>
          <p:cNvPr id="4" name="Table 3"/>
          <p:cNvGraphicFramePr>
            <a:graphicFrameLocks noGrp="1"/>
          </p:cNvGraphicFramePr>
          <p:nvPr/>
        </p:nvGraphicFramePr>
        <p:xfrm>
          <a:off x="838200" y="2438400"/>
          <a:ext cx="3124200" cy="1107440"/>
        </p:xfrm>
        <a:graphic>
          <a:graphicData uri="http://schemas.openxmlformats.org/drawingml/2006/table">
            <a:tbl>
              <a:tblPr firstRow="1" bandRow="1">
                <a:tableStyleId>{5C22544A-7EE6-4342-B048-85BDC9FD1C3A}</a:tableStyleId>
              </a:tblPr>
              <a:tblGrid>
                <a:gridCol w="781050">
                  <a:extLst>
                    <a:ext uri="{9D8B030D-6E8A-4147-A177-3AD203B41FA5}">
                      <a16:colId xmlns:a16="http://schemas.microsoft.com/office/drawing/2014/main" val="20000"/>
                    </a:ext>
                  </a:extLst>
                </a:gridCol>
                <a:gridCol w="781050">
                  <a:extLst>
                    <a:ext uri="{9D8B030D-6E8A-4147-A177-3AD203B41FA5}">
                      <a16:colId xmlns:a16="http://schemas.microsoft.com/office/drawing/2014/main" val="20001"/>
                    </a:ext>
                  </a:extLst>
                </a:gridCol>
                <a:gridCol w="781050">
                  <a:extLst>
                    <a:ext uri="{9D8B030D-6E8A-4147-A177-3AD203B41FA5}">
                      <a16:colId xmlns:a16="http://schemas.microsoft.com/office/drawing/2014/main" val="20002"/>
                    </a:ext>
                  </a:extLst>
                </a:gridCol>
                <a:gridCol w="781050">
                  <a:extLst>
                    <a:ext uri="{9D8B030D-6E8A-4147-A177-3AD203B41FA5}">
                      <a16:colId xmlns:a16="http://schemas.microsoft.com/office/drawing/2014/main" val="20003"/>
                    </a:ext>
                  </a:extLst>
                </a:gridCol>
              </a:tblGrid>
              <a:tr h="0">
                <a:tc>
                  <a:txBody>
                    <a:bodyPr/>
                    <a:lstStyle/>
                    <a:p>
                      <a:pPr marL="0" algn="l" defTabSz="914400" rtl="0" eaLnBrk="1" latinLnBrk="0" hangingPunct="1"/>
                      <a:r>
                        <a:rPr lang="en-IN" sz="1800" kern="1200" dirty="0">
                          <a:solidFill>
                            <a:schemeClr val="dk1"/>
                          </a:solidFill>
                          <a:latin typeface="+mn-lt"/>
                          <a:ea typeface="+mn-ea"/>
                          <a:cs typeface="+mn-cs"/>
                        </a:rPr>
                        <a:t>60</a:t>
                      </a:r>
                    </a:p>
                  </a:txBody>
                  <a:tcPr>
                    <a:solidFill>
                      <a:schemeClr val="bg1">
                        <a:lumMod val="85000"/>
                      </a:schemeClr>
                    </a:solidFill>
                  </a:tcPr>
                </a:tc>
                <a:tc>
                  <a:txBody>
                    <a:bodyPr/>
                    <a:lstStyle/>
                    <a:p>
                      <a:pPr marL="0" algn="l" defTabSz="914400" rtl="0" eaLnBrk="1" latinLnBrk="0" hangingPunct="1"/>
                      <a:r>
                        <a:rPr lang="en-IN" sz="1800" kern="1200" dirty="0">
                          <a:solidFill>
                            <a:schemeClr val="dk1"/>
                          </a:solidFill>
                          <a:latin typeface="+mn-lt"/>
                          <a:ea typeface="+mn-ea"/>
                          <a:cs typeface="+mn-cs"/>
                        </a:rPr>
                        <a:t>70</a:t>
                      </a:r>
                    </a:p>
                  </a:txBody>
                  <a:tcPr>
                    <a:solidFill>
                      <a:schemeClr val="bg1">
                        <a:lumMod val="85000"/>
                      </a:schemeClr>
                    </a:solidFill>
                  </a:tcPr>
                </a:tc>
                <a:tc>
                  <a:txBody>
                    <a:bodyPr/>
                    <a:lstStyle/>
                    <a:p>
                      <a:pPr marL="0" algn="l" defTabSz="914400" rtl="0" eaLnBrk="1" latinLnBrk="0" hangingPunct="1"/>
                      <a:r>
                        <a:rPr lang="en-IN" sz="1800" kern="1200" dirty="0">
                          <a:solidFill>
                            <a:schemeClr val="dk1"/>
                          </a:solidFill>
                          <a:latin typeface="+mn-lt"/>
                          <a:ea typeface="+mn-ea"/>
                          <a:cs typeface="+mn-cs"/>
                        </a:rPr>
                        <a:t>90</a:t>
                      </a:r>
                    </a:p>
                  </a:txBody>
                  <a:tcPr>
                    <a:solidFill>
                      <a:schemeClr val="bg1">
                        <a:lumMod val="85000"/>
                      </a:schemeClr>
                    </a:solidFill>
                  </a:tcPr>
                </a:tc>
                <a:tc>
                  <a:txBody>
                    <a:bodyPr/>
                    <a:lstStyle/>
                    <a:p>
                      <a:pPr marL="0" algn="l" defTabSz="914400" rtl="0" eaLnBrk="1" latinLnBrk="0" hangingPunct="1"/>
                      <a:r>
                        <a:rPr lang="en-IN" sz="1800" kern="1200" dirty="0">
                          <a:solidFill>
                            <a:schemeClr val="dk1"/>
                          </a:solidFill>
                          <a:latin typeface="+mn-lt"/>
                          <a:ea typeface="+mn-ea"/>
                          <a:cs typeface="+mn-cs"/>
                        </a:rPr>
                        <a:t>95</a:t>
                      </a:r>
                    </a:p>
                  </a:txBody>
                  <a:tcPr>
                    <a:solidFill>
                      <a:schemeClr val="bg1">
                        <a:lumMod val="85000"/>
                      </a:schemeClr>
                    </a:solidFill>
                  </a:tcPr>
                </a:tc>
                <a:extLst>
                  <a:ext uri="{0D108BD9-81ED-4DB2-BD59-A6C34878D82A}">
                    <a16:rowId xmlns:a16="http://schemas.microsoft.com/office/drawing/2014/main" val="10000"/>
                  </a:ext>
                </a:extLst>
              </a:tr>
              <a:tr h="370840">
                <a:tc>
                  <a:txBody>
                    <a:bodyPr/>
                    <a:lstStyle/>
                    <a:p>
                      <a:r>
                        <a:rPr lang="en-IN" b="1" dirty="0">
                          <a:solidFill>
                            <a:schemeClr val="accent2">
                              <a:lumMod val="75000"/>
                            </a:schemeClr>
                          </a:solidFill>
                        </a:rPr>
                        <a:t>82</a:t>
                      </a:r>
                    </a:p>
                  </a:txBody>
                  <a:tcPr>
                    <a:solidFill>
                      <a:schemeClr val="bg1">
                        <a:lumMod val="85000"/>
                      </a:schemeClr>
                    </a:solidFill>
                  </a:tcPr>
                </a:tc>
                <a:tc>
                  <a:txBody>
                    <a:bodyPr/>
                    <a:lstStyle/>
                    <a:p>
                      <a:r>
                        <a:rPr lang="en-IN" b="1" dirty="0">
                          <a:solidFill>
                            <a:schemeClr val="accent2">
                              <a:lumMod val="75000"/>
                            </a:schemeClr>
                          </a:solidFill>
                        </a:rPr>
                        <a:t>75</a:t>
                      </a:r>
                    </a:p>
                  </a:txBody>
                  <a:tcPr>
                    <a:solidFill>
                      <a:schemeClr val="bg1">
                        <a:lumMod val="85000"/>
                      </a:schemeClr>
                    </a:solidFill>
                  </a:tcPr>
                </a:tc>
                <a:tc>
                  <a:txBody>
                    <a:bodyPr/>
                    <a:lstStyle/>
                    <a:p>
                      <a:r>
                        <a:rPr lang="en-IN" b="1" dirty="0">
                          <a:solidFill>
                            <a:schemeClr val="accent2">
                              <a:lumMod val="75000"/>
                            </a:schemeClr>
                          </a:solidFill>
                        </a:rPr>
                        <a:t>87</a:t>
                      </a:r>
                    </a:p>
                  </a:txBody>
                  <a:tcPr>
                    <a:solidFill>
                      <a:schemeClr val="bg1">
                        <a:lumMod val="85000"/>
                      </a:schemeClr>
                    </a:solidFill>
                  </a:tcPr>
                </a:tc>
                <a:tc>
                  <a:txBody>
                    <a:bodyPr/>
                    <a:lstStyle/>
                    <a:p>
                      <a:r>
                        <a:rPr lang="en-IN" b="1" dirty="0">
                          <a:solidFill>
                            <a:schemeClr val="accent2">
                              <a:lumMod val="75000"/>
                            </a:schemeClr>
                          </a:solidFill>
                        </a:rPr>
                        <a:t>94</a:t>
                      </a:r>
                    </a:p>
                  </a:txBody>
                  <a:tcPr>
                    <a:solidFill>
                      <a:schemeClr val="bg1">
                        <a:lumMod val="85000"/>
                      </a:schemeClr>
                    </a:solidFill>
                  </a:tcPr>
                </a:tc>
                <a:extLst>
                  <a:ext uri="{0D108BD9-81ED-4DB2-BD59-A6C34878D82A}">
                    <a16:rowId xmlns:a16="http://schemas.microsoft.com/office/drawing/2014/main" val="10001"/>
                  </a:ext>
                </a:extLst>
              </a:tr>
              <a:tr h="370840">
                <a:tc>
                  <a:txBody>
                    <a:bodyPr/>
                    <a:lstStyle/>
                    <a:p>
                      <a:r>
                        <a:rPr lang="en-IN" dirty="0">
                          <a:solidFill>
                            <a:srgbClr val="00B0F0"/>
                          </a:solidFill>
                        </a:rPr>
                        <a:t>65</a:t>
                      </a:r>
                    </a:p>
                  </a:txBody>
                  <a:tcPr>
                    <a:solidFill>
                      <a:schemeClr val="bg1">
                        <a:lumMod val="85000"/>
                      </a:schemeClr>
                    </a:solidFill>
                  </a:tcPr>
                </a:tc>
                <a:tc>
                  <a:txBody>
                    <a:bodyPr/>
                    <a:lstStyle/>
                    <a:p>
                      <a:r>
                        <a:rPr lang="en-IN" dirty="0">
                          <a:solidFill>
                            <a:srgbClr val="00B0F0"/>
                          </a:solidFill>
                        </a:rPr>
                        <a:t>76</a:t>
                      </a:r>
                    </a:p>
                  </a:txBody>
                  <a:tcPr>
                    <a:solidFill>
                      <a:schemeClr val="bg1">
                        <a:lumMod val="85000"/>
                      </a:schemeClr>
                    </a:solidFill>
                  </a:tcPr>
                </a:tc>
                <a:tc>
                  <a:txBody>
                    <a:bodyPr/>
                    <a:lstStyle/>
                    <a:p>
                      <a:r>
                        <a:rPr lang="en-IN" dirty="0">
                          <a:solidFill>
                            <a:srgbClr val="00B0F0"/>
                          </a:solidFill>
                        </a:rPr>
                        <a:t>86</a:t>
                      </a:r>
                    </a:p>
                  </a:txBody>
                  <a:tcPr>
                    <a:solidFill>
                      <a:schemeClr val="bg1">
                        <a:lumMod val="85000"/>
                      </a:schemeClr>
                    </a:solidFill>
                  </a:tcPr>
                </a:tc>
                <a:tc>
                  <a:txBody>
                    <a:bodyPr/>
                    <a:lstStyle/>
                    <a:p>
                      <a:r>
                        <a:rPr lang="en-IN" dirty="0">
                          <a:solidFill>
                            <a:srgbClr val="00B0F0"/>
                          </a:solidFill>
                        </a:rPr>
                        <a:t>96</a:t>
                      </a:r>
                    </a:p>
                  </a:txBody>
                  <a:tcPr>
                    <a:solidFill>
                      <a:schemeClr val="bg1">
                        <a:lumMod val="85000"/>
                      </a:schemeClr>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867400"/>
          </a:xfrm>
        </p:spPr>
        <p:txBody>
          <a:bodyPr>
            <a:noAutofit/>
          </a:bodyPr>
          <a:lstStyle/>
          <a:p>
            <a:pPr>
              <a:buNone/>
            </a:pPr>
            <a:r>
              <a:rPr lang="en-US" sz="1600" dirty="0"/>
              <a:t>#include &lt;</a:t>
            </a:r>
            <a:r>
              <a:rPr lang="en-US" sz="1600" dirty="0" err="1"/>
              <a:t>stdio.h</a:t>
            </a:r>
            <a:r>
              <a:rPr lang="en-US" sz="1600" dirty="0"/>
              <a:t>&gt;</a:t>
            </a:r>
          </a:p>
          <a:p>
            <a:pPr>
              <a:buNone/>
            </a:pPr>
            <a:r>
              <a:rPr lang="en-US" sz="1600" dirty="0"/>
              <a:t>main()</a:t>
            </a:r>
          </a:p>
          <a:p>
            <a:pPr>
              <a:buNone/>
            </a:pPr>
            <a:r>
              <a:rPr lang="en-US" sz="1600" dirty="0"/>
              <a:t>{</a:t>
            </a:r>
          </a:p>
          <a:p>
            <a:pPr>
              <a:buNone/>
            </a:pPr>
            <a:r>
              <a:rPr lang="en-US" sz="1600" dirty="0"/>
              <a:t>		</a:t>
            </a:r>
            <a:r>
              <a:rPr lang="en-US" sz="1600" dirty="0" err="1"/>
              <a:t>int</a:t>
            </a:r>
            <a:r>
              <a:rPr lang="en-US" sz="1600" dirty="0"/>
              <a:t> i, j, a[3][4];</a:t>
            </a:r>
          </a:p>
          <a:p>
            <a:pPr>
              <a:buNone/>
            </a:pPr>
            <a:r>
              <a:rPr lang="en-US" sz="1600" dirty="0"/>
              <a:t>		</a:t>
            </a:r>
            <a:r>
              <a:rPr lang="en-US" sz="1600" dirty="0" err="1"/>
              <a:t>printf</a:t>
            </a:r>
            <a:r>
              <a:rPr lang="en-US" sz="1600" dirty="0"/>
              <a:t>("\n Enter the elements of the matrix:");</a:t>
            </a:r>
          </a:p>
          <a:p>
            <a:pPr>
              <a:buNone/>
            </a:pPr>
            <a:r>
              <a:rPr lang="en-US" sz="1600" dirty="0"/>
              <a:t>		//input</a:t>
            </a:r>
          </a:p>
          <a:p>
            <a:pPr>
              <a:buNone/>
            </a:pPr>
            <a:r>
              <a:rPr lang="en-US" sz="1600" dirty="0"/>
              <a:t>		for(i=0;i &lt;3; i++)</a:t>
            </a:r>
          </a:p>
          <a:p>
            <a:pPr>
              <a:buNone/>
            </a:pPr>
            <a:r>
              <a:rPr lang="en-US" sz="1600" dirty="0"/>
              <a:t>		{</a:t>
            </a:r>
          </a:p>
          <a:p>
            <a:pPr>
              <a:buNone/>
            </a:pPr>
            <a:r>
              <a:rPr lang="en-US" sz="1600" dirty="0"/>
              <a:t>			for(j=0;j&lt;4;j++)</a:t>
            </a:r>
          </a:p>
          <a:p>
            <a:pPr>
              <a:buNone/>
            </a:pPr>
            <a:r>
              <a:rPr lang="en-US" sz="1600" dirty="0"/>
              <a:t>			           </a:t>
            </a:r>
            <a:r>
              <a:rPr lang="en-US" sz="1600" dirty="0" err="1"/>
              <a:t>scanf</a:t>
            </a:r>
            <a:r>
              <a:rPr lang="en-US" sz="1600" dirty="0"/>
              <a:t>("%d", &amp;a[i][j]);</a:t>
            </a:r>
          </a:p>
          <a:p>
            <a:pPr>
              <a:buNone/>
            </a:pPr>
            <a:r>
              <a:rPr lang="en-US" sz="1600" dirty="0"/>
              <a:t>		}</a:t>
            </a:r>
          </a:p>
          <a:p>
            <a:pPr>
              <a:buNone/>
            </a:pPr>
            <a:r>
              <a:rPr lang="en-US" sz="1600" dirty="0"/>
              <a:t>		</a:t>
            </a:r>
            <a:r>
              <a:rPr lang="en-US" sz="1600" dirty="0" err="1"/>
              <a:t>printf</a:t>
            </a:r>
            <a:r>
              <a:rPr lang="en-US" sz="1600" dirty="0"/>
              <a:t>("\n The elements of the matrix format is as follows:\n");</a:t>
            </a:r>
          </a:p>
          <a:p>
            <a:pPr>
              <a:buNone/>
            </a:pPr>
            <a:r>
              <a:rPr lang="en-US" sz="1600" dirty="0"/>
              <a:t>		//output</a:t>
            </a:r>
          </a:p>
          <a:p>
            <a:pPr>
              <a:buNone/>
            </a:pPr>
            <a:r>
              <a:rPr lang="en-US" sz="1600" dirty="0"/>
              <a:t>		for(i=0;i &lt;3; i++)</a:t>
            </a:r>
          </a:p>
          <a:p>
            <a:pPr>
              <a:buNone/>
            </a:pPr>
            <a:r>
              <a:rPr lang="en-US" sz="1600" dirty="0"/>
              <a:t>		{</a:t>
            </a:r>
          </a:p>
          <a:p>
            <a:pPr>
              <a:buNone/>
            </a:pPr>
            <a:r>
              <a:rPr lang="en-US" sz="1600" dirty="0"/>
              <a:t>			for(j=0;j&lt;4;j++)</a:t>
            </a:r>
          </a:p>
          <a:p>
            <a:pPr>
              <a:buNone/>
            </a:pPr>
            <a:r>
              <a:rPr lang="en-US" sz="1600" dirty="0"/>
              <a:t>				</a:t>
            </a:r>
            <a:r>
              <a:rPr lang="en-US" sz="1600" dirty="0" err="1"/>
              <a:t>printf</a:t>
            </a:r>
            <a:r>
              <a:rPr lang="en-US" sz="1600" dirty="0"/>
              <a:t>("%d\t", a[i][j]);</a:t>
            </a:r>
          </a:p>
          <a:p>
            <a:pPr>
              <a:buNone/>
            </a:pPr>
            <a:r>
              <a:rPr lang="en-US" sz="1600" dirty="0"/>
              <a:t>			</a:t>
            </a:r>
            <a:r>
              <a:rPr lang="en-US" sz="1600" dirty="0" err="1"/>
              <a:t>printf</a:t>
            </a:r>
            <a:r>
              <a:rPr lang="en-US" sz="1600" dirty="0"/>
              <a:t>("\n");</a:t>
            </a:r>
          </a:p>
          <a:p>
            <a:pPr>
              <a:buNone/>
            </a:pPr>
            <a:r>
              <a:rPr lang="en-US" sz="1600" dirty="0"/>
              <a:t>        }</a:t>
            </a:r>
          </a:p>
          <a:p>
            <a:pPr>
              <a:buNone/>
            </a:pPr>
            <a:r>
              <a:rPr lang="en-US" sz="1600" dirty="0"/>
              <a:t>}</a:t>
            </a:r>
          </a:p>
          <a:p>
            <a:endParaRPr lang="en-IN" sz="1600" dirty="0"/>
          </a:p>
        </p:txBody>
      </p:sp>
      <p:sp>
        <p:nvSpPr>
          <p:cNvPr id="5" name="Title 4"/>
          <p:cNvSpPr>
            <a:spLocks noGrp="1"/>
          </p:cNvSpPr>
          <p:nvPr>
            <p:ph type="title"/>
          </p:nvPr>
        </p:nvSpPr>
        <p:spPr>
          <a:xfrm>
            <a:off x="457200" y="274638"/>
            <a:ext cx="8229600" cy="334962"/>
          </a:xfrm>
        </p:spPr>
        <p:txBody>
          <a:bodyPr>
            <a:normAutofit fontScale="90000"/>
          </a:bodyPr>
          <a:lstStyle/>
          <a:p>
            <a:endParaRPr lang="en-IN"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IN" dirty="0"/>
              <a:t>Example</a:t>
            </a:r>
          </a:p>
        </p:txBody>
      </p:sp>
      <p:sp>
        <p:nvSpPr>
          <p:cNvPr id="3" name="Content Placeholder 2"/>
          <p:cNvSpPr>
            <a:spLocks noGrp="1"/>
          </p:cNvSpPr>
          <p:nvPr>
            <p:ph idx="1"/>
          </p:nvPr>
        </p:nvSpPr>
        <p:spPr>
          <a:xfrm>
            <a:off x="228600" y="990600"/>
            <a:ext cx="8458200" cy="5486400"/>
          </a:xfrm>
        </p:spPr>
        <p:txBody>
          <a:bodyPr/>
          <a:lstStyle/>
          <a:p>
            <a:r>
              <a:rPr lang="en-IN" dirty="0"/>
              <a:t>Write a program to compute sum of forward diagonal element a matrix.</a:t>
            </a:r>
          </a:p>
        </p:txBody>
      </p:sp>
      <p:sp>
        <p:nvSpPr>
          <p:cNvPr id="4" name="TextBox 3"/>
          <p:cNvSpPr txBox="1"/>
          <p:nvPr/>
        </p:nvSpPr>
        <p:spPr>
          <a:xfrm>
            <a:off x="4800600" y="2057400"/>
            <a:ext cx="3962400" cy="2123658"/>
          </a:xfrm>
          <a:prstGeom prst="rect">
            <a:avLst/>
          </a:prstGeom>
          <a:solidFill>
            <a:schemeClr val="bg1">
              <a:lumMod val="85000"/>
            </a:schemeClr>
          </a:solidFill>
        </p:spPr>
        <p:txBody>
          <a:bodyPr wrap="square" rtlCol="0">
            <a:spAutoFit/>
          </a:bodyPr>
          <a:lstStyle/>
          <a:p>
            <a:pPr marL="228600" indent="-228600"/>
            <a:r>
              <a:rPr lang="en-IN" sz="1200" dirty="0"/>
              <a:t>Enter the no of rows of the matrix 4</a:t>
            </a:r>
          </a:p>
          <a:p>
            <a:pPr marL="228600" indent="-228600"/>
            <a:r>
              <a:rPr lang="en-IN" sz="1200" dirty="0"/>
              <a:t>Enter the no of column of the matrix 4</a:t>
            </a:r>
          </a:p>
          <a:p>
            <a:pPr marL="228600" indent="-228600"/>
            <a:r>
              <a:rPr lang="en-IN" sz="1200" dirty="0"/>
              <a:t>Enter the elements of the matrix</a:t>
            </a:r>
          </a:p>
          <a:p>
            <a:pPr marL="228600" indent="-228600"/>
            <a:r>
              <a:rPr lang="en-IN" sz="1200" dirty="0"/>
              <a:t> 60 70 90 95 82 75 87 94 65 76 86 96 100 101 102 103</a:t>
            </a:r>
          </a:p>
          <a:p>
            <a:pPr marL="228600" indent="-228600"/>
            <a:endParaRPr lang="en-IN" sz="1200" dirty="0"/>
          </a:p>
          <a:p>
            <a:pPr marL="228600" indent="-228600"/>
            <a:r>
              <a:rPr lang="en-IN" sz="1200" dirty="0"/>
              <a:t>The elements of the matrix are as follows:</a:t>
            </a:r>
          </a:p>
          <a:p>
            <a:pPr marL="342900" indent="-342900">
              <a:buAutoNum type="arabicPlain" startAt="60"/>
            </a:pPr>
            <a:r>
              <a:rPr lang="en-IN" sz="1200" dirty="0"/>
              <a:t>70	90	95	</a:t>
            </a:r>
          </a:p>
          <a:p>
            <a:pPr marL="342900" indent="-342900"/>
            <a:r>
              <a:rPr lang="en-IN" sz="1200" dirty="0"/>
              <a:t>82	75	87	94		</a:t>
            </a:r>
          </a:p>
          <a:p>
            <a:pPr marL="342900" indent="-342900">
              <a:buAutoNum type="arabicPlain" startAt="65"/>
            </a:pPr>
            <a:r>
              <a:rPr lang="en-IN" sz="1200" dirty="0"/>
              <a:t>76	86	96</a:t>
            </a:r>
          </a:p>
          <a:p>
            <a:pPr marL="342900" indent="-342900"/>
            <a:r>
              <a:rPr lang="en-IN" sz="1200" dirty="0"/>
              <a:t>100	101	102	103</a:t>
            </a:r>
          </a:p>
          <a:p>
            <a:pPr marL="342900" indent="-342900"/>
            <a:r>
              <a:rPr lang="en-IN" sz="1200" dirty="0"/>
              <a:t>The sum of diagonal element = 324</a:t>
            </a:r>
          </a:p>
        </p:txBody>
      </p:sp>
      <p:sp>
        <p:nvSpPr>
          <p:cNvPr id="5" name="TextBox 4"/>
          <p:cNvSpPr txBox="1"/>
          <p:nvPr/>
        </p:nvSpPr>
        <p:spPr>
          <a:xfrm>
            <a:off x="685800" y="1981200"/>
            <a:ext cx="990600" cy="369332"/>
          </a:xfrm>
          <a:prstGeom prst="rect">
            <a:avLst/>
          </a:prstGeom>
          <a:noFill/>
        </p:spPr>
        <p:txBody>
          <a:bodyPr wrap="square" rtlCol="0">
            <a:spAutoFit/>
          </a:bodyPr>
          <a:lstStyle/>
          <a:p>
            <a:r>
              <a:rPr lang="en-IN" b="1" dirty="0"/>
              <a:t>output</a:t>
            </a:r>
          </a:p>
        </p:txBody>
      </p:sp>
      <p:graphicFrame>
        <p:nvGraphicFramePr>
          <p:cNvPr id="6" name="Table 5"/>
          <p:cNvGraphicFramePr>
            <a:graphicFrameLocks noGrp="1"/>
          </p:cNvGraphicFramePr>
          <p:nvPr/>
        </p:nvGraphicFramePr>
        <p:xfrm>
          <a:off x="381000" y="4953000"/>
          <a:ext cx="3505200" cy="1478280"/>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20000"/>
                    </a:ext>
                  </a:extLst>
                </a:gridCol>
                <a:gridCol w="876300">
                  <a:extLst>
                    <a:ext uri="{9D8B030D-6E8A-4147-A177-3AD203B41FA5}">
                      <a16:colId xmlns:a16="http://schemas.microsoft.com/office/drawing/2014/main" val="20001"/>
                    </a:ext>
                  </a:extLst>
                </a:gridCol>
                <a:gridCol w="876300">
                  <a:extLst>
                    <a:ext uri="{9D8B030D-6E8A-4147-A177-3AD203B41FA5}">
                      <a16:colId xmlns:a16="http://schemas.microsoft.com/office/drawing/2014/main" val="20002"/>
                    </a:ext>
                  </a:extLst>
                </a:gridCol>
                <a:gridCol w="876300">
                  <a:extLst>
                    <a:ext uri="{9D8B030D-6E8A-4147-A177-3AD203B41FA5}">
                      <a16:colId xmlns:a16="http://schemas.microsoft.com/office/drawing/2014/main" val="20003"/>
                    </a:ext>
                  </a:extLst>
                </a:gridCol>
              </a:tblGrid>
              <a:tr h="0">
                <a:tc>
                  <a:txBody>
                    <a:bodyPr/>
                    <a:lstStyle/>
                    <a:p>
                      <a:r>
                        <a:rPr lang="en-IN" b="1" dirty="0">
                          <a:solidFill>
                            <a:schemeClr val="accent2">
                              <a:lumMod val="75000"/>
                            </a:schemeClr>
                          </a:solidFill>
                        </a:rPr>
                        <a:t>60</a:t>
                      </a:r>
                    </a:p>
                  </a:txBody>
                  <a:tcPr>
                    <a:solidFill>
                      <a:schemeClr val="bg1">
                        <a:lumMod val="85000"/>
                      </a:schemeClr>
                    </a:solidFill>
                  </a:tcPr>
                </a:tc>
                <a:tc>
                  <a:txBody>
                    <a:bodyPr/>
                    <a:lstStyle/>
                    <a:p>
                      <a:r>
                        <a:rPr lang="en-IN" b="0" dirty="0">
                          <a:solidFill>
                            <a:schemeClr val="tx1"/>
                          </a:solidFill>
                        </a:rPr>
                        <a:t>70</a:t>
                      </a:r>
                    </a:p>
                  </a:txBody>
                  <a:tcPr>
                    <a:solidFill>
                      <a:schemeClr val="bg1">
                        <a:lumMod val="85000"/>
                      </a:schemeClr>
                    </a:solidFill>
                  </a:tcPr>
                </a:tc>
                <a:tc>
                  <a:txBody>
                    <a:bodyPr/>
                    <a:lstStyle/>
                    <a:p>
                      <a:r>
                        <a:rPr lang="en-IN" b="0" dirty="0">
                          <a:solidFill>
                            <a:schemeClr val="tx1"/>
                          </a:solidFill>
                        </a:rPr>
                        <a:t>90</a:t>
                      </a:r>
                    </a:p>
                  </a:txBody>
                  <a:tcPr>
                    <a:solidFill>
                      <a:schemeClr val="bg1">
                        <a:lumMod val="85000"/>
                      </a:schemeClr>
                    </a:solidFill>
                  </a:tcPr>
                </a:tc>
                <a:tc>
                  <a:txBody>
                    <a:bodyPr/>
                    <a:lstStyle/>
                    <a:p>
                      <a:r>
                        <a:rPr lang="en-IN" b="0" dirty="0">
                          <a:solidFill>
                            <a:schemeClr val="tx1"/>
                          </a:solidFill>
                        </a:rPr>
                        <a:t>95</a:t>
                      </a:r>
                    </a:p>
                  </a:txBody>
                  <a:tcPr>
                    <a:solidFill>
                      <a:schemeClr val="bg1">
                        <a:lumMod val="85000"/>
                      </a:schemeClr>
                    </a:solidFill>
                  </a:tcPr>
                </a:tc>
                <a:extLst>
                  <a:ext uri="{0D108BD9-81ED-4DB2-BD59-A6C34878D82A}">
                    <a16:rowId xmlns:a16="http://schemas.microsoft.com/office/drawing/2014/main" val="10000"/>
                  </a:ext>
                </a:extLst>
              </a:tr>
              <a:tr h="370840">
                <a:tc>
                  <a:txBody>
                    <a:bodyPr/>
                    <a:lstStyle/>
                    <a:p>
                      <a:r>
                        <a:rPr lang="en-IN" b="0" dirty="0">
                          <a:solidFill>
                            <a:schemeClr val="tx1"/>
                          </a:solidFill>
                        </a:rPr>
                        <a:t>82</a:t>
                      </a:r>
                    </a:p>
                  </a:txBody>
                  <a:tcPr>
                    <a:solidFill>
                      <a:schemeClr val="bg1">
                        <a:lumMod val="85000"/>
                      </a:schemeClr>
                    </a:solidFill>
                  </a:tcPr>
                </a:tc>
                <a:tc>
                  <a:txBody>
                    <a:bodyPr/>
                    <a:lstStyle/>
                    <a:p>
                      <a:pPr marL="0" algn="l" defTabSz="914400" rtl="0" eaLnBrk="1" latinLnBrk="0" hangingPunct="1"/>
                      <a:r>
                        <a:rPr lang="en-IN" sz="1800" b="1" kern="1200" dirty="0">
                          <a:solidFill>
                            <a:schemeClr val="accent2">
                              <a:lumMod val="75000"/>
                            </a:schemeClr>
                          </a:solidFill>
                          <a:latin typeface="+mn-lt"/>
                          <a:ea typeface="+mn-ea"/>
                          <a:cs typeface="+mn-cs"/>
                        </a:rPr>
                        <a:t>75</a:t>
                      </a:r>
                    </a:p>
                  </a:txBody>
                  <a:tcPr>
                    <a:solidFill>
                      <a:schemeClr val="bg1">
                        <a:lumMod val="85000"/>
                      </a:schemeClr>
                    </a:solidFill>
                  </a:tcPr>
                </a:tc>
                <a:tc>
                  <a:txBody>
                    <a:bodyPr/>
                    <a:lstStyle/>
                    <a:p>
                      <a:r>
                        <a:rPr lang="en-IN" b="0" dirty="0">
                          <a:solidFill>
                            <a:schemeClr val="tx1"/>
                          </a:solidFill>
                        </a:rPr>
                        <a:t>87</a:t>
                      </a:r>
                    </a:p>
                  </a:txBody>
                  <a:tcPr>
                    <a:solidFill>
                      <a:schemeClr val="bg1">
                        <a:lumMod val="85000"/>
                      </a:schemeClr>
                    </a:solidFill>
                  </a:tcPr>
                </a:tc>
                <a:tc>
                  <a:txBody>
                    <a:bodyPr/>
                    <a:lstStyle/>
                    <a:p>
                      <a:r>
                        <a:rPr lang="en-IN" b="0" dirty="0">
                          <a:solidFill>
                            <a:schemeClr val="tx1"/>
                          </a:solidFill>
                        </a:rPr>
                        <a:t>94</a:t>
                      </a:r>
                    </a:p>
                  </a:txBody>
                  <a:tcPr>
                    <a:solidFill>
                      <a:schemeClr val="bg1">
                        <a:lumMod val="85000"/>
                      </a:schemeClr>
                    </a:solidFill>
                  </a:tcPr>
                </a:tc>
                <a:extLst>
                  <a:ext uri="{0D108BD9-81ED-4DB2-BD59-A6C34878D82A}">
                    <a16:rowId xmlns:a16="http://schemas.microsoft.com/office/drawing/2014/main" val="10001"/>
                  </a:ext>
                </a:extLst>
              </a:tr>
              <a:tr h="370840">
                <a:tc>
                  <a:txBody>
                    <a:bodyPr/>
                    <a:lstStyle/>
                    <a:p>
                      <a:r>
                        <a:rPr lang="en-IN" b="0" dirty="0">
                          <a:solidFill>
                            <a:schemeClr val="tx1"/>
                          </a:solidFill>
                        </a:rPr>
                        <a:t>65</a:t>
                      </a:r>
                    </a:p>
                  </a:txBody>
                  <a:tcPr>
                    <a:solidFill>
                      <a:schemeClr val="bg1">
                        <a:lumMod val="85000"/>
                      </a:schemeClr>
                    </a:solidFill>
                  </a:tcPr>
                </a:tc>
                <a:tc>
                  <a:txBody>
                    <a:bodyPr/>
                    <a:lstStyle/>
                    <a:p>
                      <a:r>
                        <a:rPr lang="en-IN" b="0" dirty="0">
                          <a:solidFill>
                            <a:schemeClr val="tx1"/>
                          </a:solidFill>
                        </a:rPr>
                        <a:t>76</a:t>
                      </a:r>
                    </a:p>
                  </a:txBody>
                  <a:tcPr>
                    <a:solidFill>
                      <a:schemeClr val="bg1">
                        <a:lumMod val="85000"/>
                      </a:schemeClr>
                    </a:solidFill>
                  </a:tcPr>
                </a:tc>
                <a:tc>
                  <a:txBody>
                    <a:bodyPr/>
                    <a:lstStyle/>
                    <a:p>
                      <a:pPr marL="0" algn="l" defTabSz="914400" rtl="0" eaLnBrk="1" latinLnBrk="0" hangingPunct="1"/>
                      <a:r>
                        <a:rPr lang="en-IN" sz="1800" b="1" kern="1200" dirty="0">
                          <a:solidFill>
                            <a:schemeClr val="accent2">
                              <a:lumMod val="75000"/>
                            </a:schemeClr>
                          </a:solidFill>
                          <a:latin typeface="+mn-lt"/>
                          <a:ea typeface="+mn-ea"/>
                          <a:cs typeface="+mn-cs"/>
                        </a:rPr>
                        <a:t>86</a:t>
                      </a:r>
                    </a:p>
                  </a:txBody>
                  <a:tcPr>
                    <a:solidFill>
                      <a:schemeClr val="bg1">
                        <a:lumMod val="85000"/>
                      </a:schemeClr>
                    </a:solidFill>
                  </a:tcPr>
                </a:tc>
                <a:tc>
                  <a:txBody>
                    <a:bodyPr/>
                    <a:lstStyle/>
                    <a:p>
                      <a:r>
                        <a:rPr lang="en-IN" b="0" dirty="0">
                          <a:solidFill>
                            <a:schemeClr val="tx1"/>
                          </a:solidFill>
                        </a:rPr>
                        <a:t>96</a:t>
                      </a:r>
                    </a:p>
                  </a:txBody>
                  <a:tcPr>
                    <a:solidFill>
                      <a:schemeClr val="bg1">
                        <a:lumMod val="85000"/>
                      </a:schemeClr>
                    </a:solidFill>
                  </a:tcPr>
                </a:tc>
                <a:extLst>
                  <a:ext uri="{0D108BD9-81ED-4DB2-BD59-A6C34878D82A}">
                    <a16:rowId xmlns:a16="http://schemas.microsoft.com/office/drawing/2014/main" val="10002"/>
                  </a:ext>
                </a:extLst>
              </a:tr>
              <a:tr h="370840">
                <a:tc>
                  <a:txBody>
                    <a:bodyPr/>
                    <a:lstStyle/>
                    <a:p>
                      <a:r>
                        <a:rPr lang="en-IN" b="0" dirty="0">
                          <a:solidFill>
                            <a:schemeClr val="tx1"/>
                          </a:solidFill>
                        </a:rPr>
                        <a:t>100</a:t>
                      </a:r>
                    </a:p>
                  </a:txBody>
                  <a:tcPr>
                    <a:solidFill>
                      <a:schemeClr val="bg1">
                        <a:lumMod val="85000"/>
                      </a:schemeClr>
                    </a:solidFill>
                  </a:tcPr>
                </a:tc>
                <a:tc>
                  <a:txBody>
                    <a:bodyPr/>
                    <a:lstStyle/>
                    <a:p>
                      <a:r>
                        <a:rPr lang="en-IN" b="0" dirty="0">
                          <a:solidFill>
                            <a:schemeClr val="tx1"/>
                          </a:solidFill>
                        </a:rPr>
                        <a:t>101</a:t>
                      </a:r>
                    </a:p>
                  </a:txBody>
                  <a:tcPr>
                    <a:solidFill>
                      <a:schemeClr val="bg1">
                        <a:lumMod val="85000"/>
                      </a:schemeClr>
                    </a:solidFill>
                  </a:tcPr>
                </a:tc>
                <a:tc>
                  <a:txBody>
                    <a:bodyPr/>
                    <a:lstStyle/>
                    <a:p>
                      <a:r>
                        <a:rPr lang="en-IN" b="0" dirty="0">
                          <a:solidFill>
                            <a:schemeClr val="tx1"/>
                          </a:solidFill>
                        </a:rPr>
                        <a:t>102</a:t>
                      </a:r>
                    </a:p>
                  </a:txBody>
                  <a:tcPr>
                    <a:solidFill>
                      <a:schemeClr val="bg1">
                        <a:lumMod val="85000"/>
                      </a:schemeClr>
                    </a:solidFill>
                  </a:tcPr>
                </a:tc>
                <a:tc>
                  <a:txBody>
                    <a:bodyPr/>
                    <a:lstStyle/>
                    <a:p>
                      <a:pPr marL="0" algn="l" defTabSz="914400" rtl="0" eaLnBrk="1" latinLnBrk="0" hangingPunct="1"/>
                      <a:r>
                        <a:rPr lang="en-IN" sz="1800" b="1" kern="1200" dirty="0">
                          <a:solidFill>
                            <a:schemeClr val="accent2">
                              <a:lumMod val="75000"/>
                            </a:schemeClr>
                          </a:solidFill>
                          <a:latin typeface="+mn-lt"/>
                          <a:ea typeface="+mn-ea"/>
                          <a:cs typeface="+mn-cs"/>
                        </a:rPr>
                        <a:t>103</a:t>
                      </a:r>
                    </a:p>
                  </a:txBody>
                  <a:tcPr>
                    <a:solidFill>
                      <a:schemeClr val="bg1">
                        <a:lumMod val="85000"/>
                      </a:schemeClr>
                    </a:solidFill>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8" name="TextBox 7"/>
          <p:cNvSpPr txBox="1"/>
          <p:nvPr/>
        </p:nvSpPr>
        <p:spPr>
          <a:xfrm>
            <a:off x="685800" y="1905000"/>
            <a:ext cx="609600" cy="369332"/>
          </a:xfrm>
          <a:prstGeom prst="rect">
            <a:avLst/>
          </a:prstGeom>
          <a:noFill/>
        </p:spPr>
        <p:txBody>
          <a:bodyPr wrap="square" rtlCol="0">
            <a:spAutoFit/>
          </a:bodyPr>
          <a:lstStyle/>
          <a:p>
            <a:r>
              <a:rPr lang="en-IN" dirty="0" err="1"/>
              <a:t>arr</a:t>
            </a:r>
            <a:endParaRPr lang="en-IN" dirty="0"/>
          </a:p>
        </p:txBody>
      </p:sp>
      <p:graphicFrame>
        <p:nvGraphicFramePr>
          <p:cNvPr id="7" name="Table 6"/>
          <p:cNvGraphicFramePr>
            <a:graphicFrameLocks noGrp="1"/>
          </p:cNvGraphicFramePr>
          <p:nvPr/>
        </p:nvGraphicFramePr>
        <p:xfrm>
          <a:off x="914400" y="2362200"/>
          <a:ext cx="3505200" cy="1478280"/>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20000"/>
                    </a:ext>
                  </a:extLst>
                </a:gridCol>
                <a:gridCol w="876300">
                  <a:extLst>
                    <a:ext uri="{9D8B030D-6E8A-4147-A177-3AD203B41FA5}">
                      <a16:colId xmlns:a16="http://schemas.microsoft.com/office/drawing/2014/main" val="20001"/>
                    </a:ext>
                  </a:extLst>
                </a:gridCol>
                <a:gridCol w="876300">
                  <a:extLst>
                    <a:ext uri="{9D8B030D-6E8A-4147-A177-3AD203B41FA5}">
                      <a16:colId xmlns:a16="http://schemas.microsoft.com/office/drawing/2014/main" val="20002"/>
                    </a:ext>
                  </a:extLst>
                </a:gridCol>
                <a:gridCol w="876300">
                  <a:extLst>
                    <a:ext uri="{9D8B030D-6E8A-4147-A177-3AD203B41FA5}">
                      <a16:colId xmlns:a16="http://schemas.microsoft.com/office/drawing/2014/main" val="20003"/>
                    </a:ext>
                  </a:extLst>
                </a:gridCol>
              </a:tblGrid>
              <a:tr h="0">
                <a:tc>
                  <a:txBody>
                    <a:bodyPr/>
                    <a:lstStyle/>
                    <a:p>
                      <a:r>
                        <a:rPr lang="en-IN" b="1" dirty="0">
                          <a:solidFill>
                            <a:schemeClr val="accent2">
                              <a:lumMod val="75000"/>
                            </a:schemeClr>
                          </a:solidFill>
                        </a:rPr>
                        <a:t>60</a:t>
                      </a:r>
                    </a:p>
                  </a:txBody>
                  <a:tcPr>
                    <a:solidFill>
                      <a:schemeClr val="bg1">
                        <a:lumMod val="85000"/>
                      </a:schemeClr>
                    </a:solidFill>
                  </a:tcPr>
                </a:tc>
                <a:tc>
                  <a:txBody>
                    <a:bodyPr/>
                    <a:lstStyle/>
                    <a:p>
                      <a:r>
                        <a:rPr lang="en-IN" b="0" dirty="0">
                          <a:solidFill>
                            <a:schemeClr val="tx1"/>
                          </a:solidFill>
                        </a:rPr>
                        <a:t>70</a:t>
                      </a:r>
                    </a:p>
                  </a:txBody>
                  <a:tcPr>
                    <a:solidFill>
                      <a:schemeClr val="bg1">
                        <a:lumMod val="85000"/>
                      </a:schemeClr>
                    </a:solidFill>
                  </a:tcPr>
                </a:tc>
                <a:tc>
                  <a:txBody>
                    <a:bodyPr/>
                    <a:lstStyle/>
                    <a:p>
                      <a:r>
                        <a:rPr lang="en-IN" b="0" dirty="0">
                          <a:solidFill>
                            <a:schemeClr val="tx1"/>
                          </a:solidFill>
                        </a:rPr>
                        <a:t>90</a:t>
                      </a:r>
                    </a:p>
                  </a:txBody>
                  <a:tcPr>
                    <a:solidFill>
                      <a:schemeClr val="bg1">
                        <a:lumMod val="85000"/>
                      </a:schemeClr>
                    </a:solidFill>
                  </a:tcPr>
                </a:tc>
                <a:tc>
                  <a:txBody>
                    <a:bodyPr/>
                    <a:lstStyle/>
                    <a:p>
                      <a:r>
                        <a:rPr lang="en-IN" b="0" dirty="0">
                          <a:solidFill>
                            <a:schemeClr val="tx1"/>
                          </a:solidFill>
                        </a:rPr>
                        <a:t>95</a:t>
                      </a:r>
                    </a:p>
                  </a:txBody>
                  <a:tcPr>
                    <a:solidFill>
                      <a:schemeClr val="bg1">
                        <a:lumMod val="85000"/>
                      </a:schemeClr>
                    </a:solidFill>
                  </a:tcPr>
                </a:tc>
                <a:extLst>
                  <a:ext uri="{0D108BD9-81ED-4DB2-BD59-A6C34878D82A}">
                    <a16:rowId xmlns:a16="http://schemas.microsoft.com/office/drawing/2014/main" val="10000"/>
                  </a:ext>
                </a:extLst>
              </a:tr>
              <a:tr h="370840">
                <a:tc>
                  <a:txBody>
                    <a:bodyPr/>
                    <a:lstStyle/>
                    <a:p>
                      <a:r>
                        <a:rPr lang="en-IN" b="0" dirty="0">
                          <a:solidFill>
                            <a:schemeClr val="tx1"/>
                          </a:solidFill>
                        </a:rPr>
                        <a:t>82</a:t>
                      </a:r>
                    </a:p>
                  </a:txBody>
                  <a:tcPr>
                    <a:solidFill>
                      <a:schemeClr val="bg1">
                        <a:lumMod val="85000"/>
                      </a:schemeClr>
                    </a:solidFill>
                  </a:tcPr>
                </a:tc>
                <a:tc>
                  <a:txBody>
                    <a:bodyPr/>
                    <a:lstStyle/>
                    <a:p>
                      <a:pPr marL="0" algn="l" defTabSz="914400" rtl="0" eaLnBrk="1" latinLnBrk="0" hangingPunct="1"/>
                      <a:r>
                        <a:rPr lang="en-IN" sz="1800" b="1" kern="1200" dirty="0">
                          <a:solidFill>
                            <a:schemeClr val="accent2">
                              <a:lumMod val="75000"/>
                            </a:schemeClr>
                          </a:solidFill>
                          <a:latin typeface="+mn-lt"/>
                          <a:ea typeface="+mn-ea"/>
                          <a:cs typeface="+mn-cs"/>
                        </a:rPr>
                        <a:t>75</a:t>
                      </a:r>
                    </a:p>
                  </a:txBody>
                  <a:tcPr>
                    <a:solidFill>
                      <a:schemeClr val="bg1">
                        <a:lumMod val="85000"/>
                      </a:schemeClr>
                    </a:solidFill>
                  </a:tcPr>
                </a:tc>
                <a:tc>
                  <a:txBody>
                    <a:bodyPr/>
                    <a:lstStyle/>
                    <a:p>
                      <a:r>
                        <a:rPr lang="en-IN" b="0" dirty="0">
                          <a:solidFill>
                            <a:schemeClr val="tx1"/>
                          </a:solidFill>
                        </a:rPr>
                        <a:t>87</a:t>
                      </a:r>
                    </a:p>
                  </a:txBody>
                  <a:tcPr>
                    <a:solidFill>
                      <a:schemeClr val="bg1">
                        <a:lumMod val="85000"/>
                      </a:schemeClr>
                    </a:solidFill>
                  </a:tcPr>
                </a:tc>
                <a:tc>
                  <a:txBody>
                    <a:bodyPr/>
                    <a:lstStyle/>
                    <a:p>
                      <a:r>
                        <a:rPr lang="en-IN" b="0" dirty="0">
                          <a:solidFill>
                            <a:schemeClr val="tx1"/>
                          </a:solidFill>
                        </a:rPr>
                        <a:t>94</a:t>
                      </a:r>
                    </a:p>
                  </a:txBody>
                  <a:tcPr>
                    <a:solidFill>
                      <a:schemeClr val="bg1">
                        <a:lumMod val="85000"/>
                      </a:schemeClr>
                    </a:solidFill>
                  </a:tcPr>
                </a:tc>
                <a:extLst>
                  <a:ext uri="{0D108BD9-81ED-4DB2-BD59-A6C34878D82A}">
                    <a16:rowId xmlns:a16="http://schemas.microsoft.com/office/drawing/2014/main" val="10001"/>
                  </a:ext>
                </a:extLst>
              </a:tr>
              <a:tr h="370840">
                <a:tc>
                  <a:txBody>
                    <a:bodyPr/>
                    <a:lstStyle/>
                    <a:p>
                      <a:r>
                        <a:rPr lang="en-IN" b="0" dirty="0">
                          <a:solidFill>
                            <a:schemeClr val="tx1"/>
                          </a:solidFill>
                        </a:rPr>
                        <a:t>65</a:t>
                      </a:r>
                    </a:p>
                  </a:txBody>
                  <a:tcPr>
                    <a:solidFill>
                      <a:schemeClr val="bg1">
                        <a:lumMod val="85000"/>
                      </a:schemeClr>
                    </a:solidFill>
                  </a:tcPr>
                </a:tc>
                <a:tc>
                  <a:txBody>
                    <a:bodyPr/>
                    <a:lstStyle/>
                    <a:p>
                      <a:r>
                        <a:rPr lang="en-IN" b="0" dirty="0">
                          <a:solidFill>
                            <a:schemeClr val="tx1"/>
                          </a:solidFill>
                        </a:rPr>
                        <a:t>76</a:t>
                      </a:r>
                    </a:p>
                  </a:txBody>
                  <a:tcPr>
                    <a:solidFill>
                      <a:schemeClr val="bg1">
                        <a:lumMod val="85000"/>
                      </a:schemeClr>
                    </a:solidFill>
                  </a:tcPr>
                </a:tc>
                <a:tc>
                  <a:txBody>
                    <a:bodyPr/>
                    <a:lstStyle/>
                    <a:p>
                      <a:pPr marL="0" algn="l" defTabSz="914400" rtl="0" eaLnBrk="1" latinLnBrk="0" hangingPunct="1"/>
                      <a:r>
                        <a:rPr lang="en-IN" sz="1800" b="1" kern="1200" dirty="0">
                          <a:solidFill>
                            <a:schemeClr val="accent2">
                              <a:lumMod val="75000"/>
                            </a:schemeClr>
                          </a:solidFill>
                          <a:latin typeface="+mn-lt"/>
                          <a:ea typeface="+mn-ea"/>
                          <a:cs typeface="+mn-cs"/>
                        </a:rPr>
                        <a:t>86</a:t>
                      </a:r>
                    </a:p>
                  </a:txBody>
                  <a:tcPr>
                    <a:solidFill>
                      <a:schemeClr val="bg1">
                        <a:lumMod val="85000"/>
                      </a:schemeClr>
                    </a:solidFill>
                  </a:tcPr>
                </a:tc>
                <a:tc>
                  <a:txBody>
                    <a:bodyPr/>
                    <a:lstStyle/>
                    <a:p>
                      <a:r>
                        <a:rPr lang="en-IN" b="0" dirty="0">
                          <a:solidFill>
                            <a:schemeClr val="tx1"/>
                          </a:solidFill>
                        </a:rPr>
                        <a:t>96</a:t>
                      </a:r>
                    </a:p>
                  </a:txBody>
                  <a:tcPr>
                    <a:solidFill>
                      <a:schemeClr val="bg1">
                        <a:lumMod val="85000"/>
                      </a:schemeClr>
                    </a:solidFill>
                  </a:tcPr>
                </a:tc>
                <a:extLst>
                  <a:ext uri="{0D108BD9-81ED-4DB2-BD59-A6C34878D82A}">
                    <a16:rowId xmlns:a16="http://schemas.microsoft.com/office/drawing/2014/main" val="10002"/>
                  </a:ext>
                </a:extLst>
              </a:tr>
              <a:tr h="370840">
                <a:tc>
                  <a:txBody>
                    <a:bodyPr/>
                    <a:lstStyle/>
                    <a:p>
                      <a:r>
                        <a:rPr lang="en-IN" b="0" dirty="0">
                          <a:solidFill>
                            <a:schemeClr val="tx1"/>
                          </a:solidFill>
                        </a:rPr>
                        <a:t>100</a:t>
                      </a:r>
                    </a:p>
                  </a:txBody>
                  <a:tcPr>
                    <a:solidFill>
                      <a:schemeClr val="bg1">
                        <a:lumMod val="85000"/>
                      </a:schemeClr>
                    </a:solidFill>
                  </a:tcPr>
                </a:tc>
                <a:tc>
                  <a:txBody>
                    <a:bodyPr/>
                    <a:lstStyle/>
                    <a:p>
                      <a:r>
                        <a:rPr lang="en-IN" b="0" dirty="0">
                          <a:solidFill>
                            <a:schemeClr val="tx1"/>
                          </a:solidFill>
                        </a:rPr>
                        <a:t>101</a:t>
                      </a:r>
                    </a:p>
                  </a:txBody>
                  <a:tcPr>
                    <a:solidFill>
                      <a:schemeClr val="bg1">
                        <a:lumMod val="85000"/>
                      </a:schemeClr>
                    </a:solidFill>
                  </a:tcPr>
                </a:tc>
                <a:tc>
                  <a:txBody>
                    <a:bodyPr/>
                    <a:lstStyle/>
                    <a:p>
                      <a:r>
                        <a:rPr lang="en-IN" b="0" dirty="0">
                          <a:solidFill>
                            <a:schemeClr val="tx1"/>
                          </a:solidFill>
                        </a:rPr>
                        <a:t>102</a:t>
                      </a:r>
                    </a:p>
                  </a:txBody>
                  <a:tcPr>
                    <a:solidFill>
                      <a:schemeClr val="bg1">
                        <a:lumMod val="85000"/>
                      </a:schemeClr>
                    </a:solidFill>
                  </a:tcPr>
                </a:tc>
                <a:tc>
                  <a:txBody>
                    <a:bodyPr/>
                    <a:lstStyle/>
                    <a:p>
                      <a:pPr marL="0" algn="l" defTabSz="914400" rtl="0" eaLnBrk="1" latinLnBrk="0" hangingPunct="1"/>
                      <a:r>
                        <a:rPr lang="en-IN" sz="1800" b="1" kern="1200" dirty="0">
                          <a:solidFill>
                            <a:schemeClr val="accent2">
                              <a:lumMod val="75000"/>
                            </a:schemeClr>
                          </a:solidFill>
                          <a:latin typeface="+mn-lt"/>
                          <a:ea typeface="+mn-ea"/>
                          <a:cs typeface="+mn-cs"/>
                        </a:rPr>
                        <a:t>103</a:t>
                      </a:r>
                    </a:p>
                  </a:txBody>
                  <a:tcPr>
                    <a:solidFill>
                      <a:schemeClr val="bg1">
                        <a:lumMod val="85000"/>
                      </a:schemeClr>
                    </a:solidFill>
                  </a:tcPr>
                </a:tc>
                <a:extLst>
                  <a:ext uri="{0D108BD9-81ED-4DB2-BD59-A6C34878D82A}">
                    <a16:rowId xmlns:a16="http://schemas.microsoft.com/office/drawing/2014/main" val="10003"/>
                  </a:ext>
                </a:extLst>
              </a:tr>
            </a:tbl>
          </a:graphicData>
        </a:graphic>
      </p:graphicFrame>
      <p:sp>
        <p:nvSpPr>
          <p:cNvPr id="10" name="Content Placeholder 9"/>
          <p:cNvSpPr>
            <a:spLocks noGrp="1"/>
          </p:cNvSpPr>
          <p:nvPr>
            <p:ph idx="1"/>
          </p:nvPr>
        </p:nvSpPr>
        <p:spPr>
          <a:xfrm>
            <a:off x="381000" y="1752600"/>
            <a:ext cx="8229600" cy="4525963"/>
          </a:xfrm>
        </p:spPr>
        <p:txBody>
          <a:bodyPr/>
          <a:lstStyle/>
          <a:p>
            <a:endParaRPr lang="en-IN" dirty="0"/>
          </a:p>
          <a:p>
            <a:endParaRPr lang="en-IN" dirty="0"/>
          </a:p>
          <a:p>
            <a:endParaRPr lang="en-IN" dirty="0"/>
          </a:p>
          <a:p>
            <a:endParaRPr lang="en-IN" dirty="0"/>
          </a:p>
          <a:p>
            <a:endParaRPr lang="en-IN"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609600"/>
            <a:ext cx="8229600" cy="6096000"/>
          </a:xfrm>
        </p:spPr>
        <p:txBody>
          <a:bodyPr>
            <a:noAutofit/>
          </a:bodyPr>
          <a:lstStyle/>
          <a:p>
            <a:pPr>
              <a:buNone/>
            </a:pPr>
            <a:r>
              <a:rPr lang="en-US" sz="1600" dirty="0"/>
              <a:t>#include &lt;</a:t>
            </a:r>
            <a:r>
              <a:rPr lang="en-US" sz="1600" dirty="0" err="1"/>
              <a:t>stdio.h</a:t>
            </a:r>
            <a:r>
              <a:rPr lang="en-US" sz="1600" dirty="0"/>
              <a:t>&gt;</a:t>
            </a:r>
          </a:p>
          <a:p>
            <a:pPr>
              <a:buNone/>
            </a:pPr>
            <a:r>
              <a:rPr lang="en-US" sz="1600" dirty="0"/>
              <a:t>main()</a:t>
            </a:r>
          </a:p>
          <a:p>
            <a:pPr>
              <a:buNone/>
            </a:pPr>
            <a:r>
              <a:rPr lang="en-US" sz="1600" dirty="0"/>
              <a:t>{</a:t>
            </a:r>
          </a:p>
          <a:p>
            <a:pPr>
              <a:buNone/>
            </a:pPr>
            <a:r>
              <a:rPr lang="en-US" sz="1600" dirty="0"/>
              <a:t>		</a:t>
            </a:r>
            <a:r>
              <a:rPr lang="en-US" sz="1600" dirty="0" err="1"/>
              <a:t>int</a:t>
            </a:r>
            <a:r>
              <a:rPr lang="en-US" sz="1600" dirty="0"/>
              <a:t> i, j, </a:t>
            </a:r>
            <a:r>
              <a:rPr lang="en-US" sz="1600" dirty="0" err="1"/>
              <a:t>arr</a:t>
            </a:r>
            <a:r>
              <a:rPr lang="en-US" sz="1600" dirty="0"/>
              <a:t>[10][10],</a:t>
            </a:r>
            <a:r>
              <a:rPr lang="en-US" sz="1600" dirty="0" err="1"/>
              <a:t>r,c</a:t>
            </a:r>
            <a:r>
              <a:rPr lang="en-US" sz="1600" dirty="0"/>
              <a:t>, sum =0;</a:t>
            </a:r>
          </a:p>
          <a:p>
            <a:pPr>
              <a:buNone/>
            </a:pPr>
            <a:r>
              <a:rPr lang="en-US" sz="1600" dirty="0"/>
              <a:t>		</a:t>
            </a:r>
            <a:r>
              <a:rPr lang="en-US" sz="1600" dirty="0" err="1"/>
              <a:t>printf</a:t>
            </a:r>
            <a:r>
              <a:rPr lang="en-US" sz="1600" dirty="0"/>
              <a:t>("Enter number of row of matrix");</a:t>
            </a:r>
          </a:p>
          <a:p>
            <a:pPr>
              <a:buNone/>
            </a:pPr>
            <a:r>
              <a:rPr lang="en-US" sz="1600" dirty="0"/>
              <a:t>		</a:t>
            </a:r>
            <a:r>
              <a:rPr lang="en-US" sz="1600" dirty="0" err="1"/>
              <a:t>scanf</a:t>
            </a:r>
            <a:r>
              <a:rPr lang="en-US" sz="1600" dirty="0"/>
              <a:t>("%</a:t>
            </a:r>
            <a:r>
              <a:rPr lang="en-US" sz="1600" dirty="0" err="1"/>
              <a:t>d",&amp;r</a:t>
            </a:r>
            <a:r>
              <a:rPr lang="en-US" sz="1600" dirty="0"/>
              <a:t>);</a:t>
            </a:r>
          </a:p>
          <a:p>
            <a:pPr>
              <a:buNone/>
            </a:pPr>
            <a:r>
              <a:rPr lang="en-US" sz="1600" dirty="0"/>
              <a:t>		</a:t>
            </a:r>
            <a:r>
              <a:rPr lang="en-IN" sz="1600" dirty="0" err="1"/>
              <a:t>printf</a:t>
            </a:r>
            <a:r>
              <a:rPr lang="en-IN" sz="1600" dirty="0"/>
              <a:t>("Enter number of column of matrix");</a:t>
            </a:r>
            <a:endParaRPr lang="en-US" sz="1600" dirty="0"/>
          </a:p>
          <a:p>
            <a:pPr>
              <a:buNone/>
            </a:pPr>
            <a:r>
              <a:rPr lang="en-US" sz="1600" dirty="0"/>
              <a:t>		</a:t>
            </a:r>
            <a:r>
              <a:rPr lang="en-US" sz="1600" dirty="0" err="1"/>
              <a:t>scanf</a:t>
            </a:r>
            <a:r>
              <a:rPr lang="en-US" sz="1600" dirty="0"/>
              <a:t>("%</a:t>
            </a:r>
            <a:r>
              <a:rPr lang="en-US" sz="1600" dirty="0" err="1"/>
              <a:t>d",&amp;c</a:t>
            </a:r>
            <a:r>
              <a:rPr lang="en-US" sz="1600" dirty="0"/>
              <a:t>);</a:t>
            </a:r>
          </a:p>
          <a:p>
            <a:pPr>
              <a:buNone/>
            </a:pPr>
            <a:r>
              <a:rPr lang="en-US" sz="1600" dirty="0"/>
              <a:t>		</a:t>
            </a:r>
            <a:r>
              <a:rPr lang="en-US" sz="1600" dirty="0" err="1"/>
              <a:t>printf</a:t>
            </a:r>
            <a:r>
              <a:rPr lang="en-US" sz="1600" dirty="0"/>
              <a:t>("\n Enter the elements of the matrix:");</a:t>
            </a:r>
          </a:p>
          <a:p>
            <a:pPr>
              <a:buNone/>
            </a:pPr>
            <a:r>
              <a:rPr lang="en-US" sz="1600" dirty="0"/>
              <a:t>		for(i=0;i &lt;r; i++)</a:t>
            </a:r>
          </a:p>
          <a:p>
            <a:pPr>
              <a:buNone/>
            </a:pPr>
            <a:r>
              <a:rPr lang="en-US" sz="1600" dirty="0"/>
              <a:t>		{</a:t>
            </a:r>
          </a:p>
          <a:p>
            <a:pPr>
              <a:buNone/>
            </a:pPr>
            <a:r>
              <a:rPr lang="en-US" sz="1600" dirty="0"/>
              <a:t>			for(j=0;j&lt;</a:t>
            </a:r>
            <a:r>
              <a:rPr lang="en-US" sz="1600" dirty="0" err="1"/>
              <a:t>c;j</a:t>
            </a:r>
            <a:r>
              <a:rPr lang="en-US" sz="1600" dirty="0"/>
              <a:t>++)</a:t>
            </a:r>
          </a:p>
          <a:p>
            <a:pPr>
              <a:buNone/>
            </a:pPr>
            <a:r>
              <a:rPr lang="en-US" sz="1600" dirty="0"/>
              <a:t>			           </a:t>
            </a:r>
            <a:r>
              <a:rPr lang="en-US" sz="1600" dirty="0" err="1"/>
              <a:t>scanf</a:t>
            </a:r>
            <a:r>
              <a:rPr lang="en-US" sz="1600" dirty="0"/>
              <a:t>("%d", &amp;</a:t>
            </a:r>
            <a:r>
              <a:rPr lang="en-US" sz="1600" dirty="0" err="1"/>
              <a:t>arr</a:t>
            </a:r>
            <a:r>
              <a:rPr lang="en-US" sz="1600" dirty="0"/>
              <a:t>[i][j]);</a:t>
            </a:r>
          </a:p>
          <a:p>
            <a:pPr>
              <a:buNone/>
            </a:pPr>
            <a:r>
              <a:rPr lang="en-US" sz="1600" dirty="0"/>
              <a:t>		}</a:t>
            </a:r>
          </a:p>
          <a:p>
            <a:pPr>
              <a:buNone/>
            </a:pPr>
            <a:r>
              <a:rPr lang="en-US" sz="1600" dirty="0"/>
              <a:t>		</a:t>
            </a:r>
            <a:r>
              <a:rPr lang="en-US" sz="1600" dirty="0" err="1"/>
              <a:t>printf</a:t>
            </a:r>
            <a:r>
              <a:rPr lang="en-US" sz="1600" dirty="0"/>
              <a:t>("\n The elements of the matrix are as follows: :\n");</a:t>
            </a:r>
          </a:p>
          <a:p>
            <a:pPr>
              <a:buNone/>
            </a:pPr>
            <a:r>
              <a:rPr lang="en-US" sz="1600" dirty="0"/>
              <a:t>		for(i=0;i &lt;r; i++)</a:t>
            </a:r>
          </a:p>
          <a:p>
            <a:pPr>
              <a:buNone/>
            </a:pPr>
            <a:r>
              <a:rPr lang="en-US" sz="1600" dirty="0"/>
              <a:t>		{</a:t>
            </a:r>
          </a:p>
          <a:p>
            <a:pPr>
              <a:buNone/>
            </a:pPr>
            <a:r>
              <a:rPr lang="en-US" sz="1600" dirty="0"/>
              <a:t>			for(j=0;j&lt;</a:t>
            </a:r>
            <a:r>
              <a:rPr lang="en-US" sz="1600" dirty="0" err="1"/>
              <a:t>c;j</a:t>
            </a:r>
            <a:r>
              <a:rPr lang="en-US" sz="1600" dirty="0"/>
              <a:t>++)</a:t>
            </a:r>
          </a:p>
          <a:p>
            <a:pPr>
              <a:buNone/>
            </a:pPr>
            <a:r>
              <a:rPr lang="en-US" sz="1600" dirty="0"/>
              <a:t>				</a:t>
            </a:r>
            <a:r>
              <a:rPr lang="en-US" sz="1600" dirty="0" err="1"/>
              <a:t>printf</a:t>
            </a:r>
            <a:r>
              <a:rPr lang="en-US" sz="1600" dirty="0"/>
              <a:t>("%d\t", </a:t>
            </a:r>
            <a:r>
              <a:rPr lang="en-US" sz="1600" dirty="0" err="1"/>
              <a:t>arr</a:t>
            </a:r>
            <a:r>
              <a:rPr lang="en-US" sz="1600" dirty="0"/>
              <a:t>[i][j]);</a:t>
            </a:r>
          </a:p>
          <a:p>
            <a:pPr>
              <a:buNone/>
            </a:pPr>
            <a:r>
              <a:rPr lang="en-US" sz="1600" dirty="0"/>
              <a:t>			</a:t>
            </a:r>
            <a:r>
              <a:rPr lang="en-US" sz="1600" dirty="0" err="1"/>
              <a:t>printf</a:t>
            </a:r>
            <a:r>
              <a:rPr lang="en-US" sz="1600" dirty="0"/>
              <a:t>("\n");</a:t>
            </a:r>
          </a:p>
          <a:p>
            <a:pPr>
              <a:buNone/>
            </a:pPr>
            <a:r>
              <a:rPr lang="en-US" sz="1600" dirty="0"/>
              <a:t>       	 	}</a:t>
            </a:r>
          </a:p>
          <a:p>
            <a:pPr>
              <a:buNone/>
            </a:pPr>
            <a:endParaRPr lang="en-US" sz="1600" dirty="0"/>
          </a:p>
          <a:p>
            <a:pPr>
              <a:buNone/>
            </a:pPr>
            <a:endParaRPr lang="en-US" sz="1600" dirty="0"/>
          </a:p>
          <a:p>
            <a:pPr>
              <a:buNone/>
            </a:pPr>
            <a:r>
              <a:rPr lang="en-US" sz="1600" dirty="0"/>
              <a:t>		</a:t>
            </a:r>
          </a:p>
          <a:p>
            <a:pPr>
              <a:buNone/>
            </a:pPr>
            <a:r>
              <a:rPr lang="en-US" sz="1600" dirty="0"/>
              <a:t>		</a:t>
            </a:r>
            <a:endParaRPr lang="en-IN" sz="1600" dirty="0"/>
          </a:p>
        </p:txBody>
      </p:sp>
      <p:sp>
        <p:nvSpPr>
          <p:cNvPr id="5" name="Title 4"/>
          <p:cNvSpPr>
            <a:spLocks noGrp="1"/>
          </p:cNvSpPr>
          <p:nvPr>
            <p:ph type="title"/>
          </p:nvPr>
        </p:nvSpPr>
        <p:spPr>
          <a:xfrm>
            <a:off x="457200" y="274638"/>
            <a:ext cx="8229600" cy="334962"/>
          </a:xfrm>
        </p:spPr>
        <p:txBody>
          <a:bodyPr>
            <a:normAutofit fontScale="90000"/>
          </a:bodyPr>
          <a:lstStyle/>
          <a:p>
            <a:endParaRPr lang="en-IN"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457200" y="1600200"/>
            <a:ext cx="8915400" cy="4525963"/>
          </a:xfrm>
        </p:spPr>
        <p:txBody>
          <a:bodyPr>
            <a:normAutofit/>
          </a:bodyPr>
          <a:lstStyle/>
          <a:p>
            <a:pPr>
              <a:buNone/>
            </a:pPr>
            <a:r>
              <a:rPr lang="en-US" dirty="0"/>
              <a:t>		</a:t>
            </a:r>
            <a:r>
              <a:rPr lang="en-US" sz="1700" dirty="0"/>
              <a:t>// computing sum of diagonal element</a:t>
            </a:r>
          </a:p>
          <a:p>
            <a:pPr>
              <a:buNone/>
            </a:pPr>
            <a:r>
              <a:rPr lang="en-US" sz="1700" dirty="0"/>
              <a:t>		for(i=0;i &lt;r; i++)</a:t>
            </a:r>
          </a:p>
          <a:p>
            <a:pPr>
              <a:buNone/>
            </a:pPr>
            <a:r>
              <a:rPr lang="en-US" sz="1700" dirty="0"/>
              <a:t>		{</a:t>
            </a:r>
          </a:p>
          <a:p>
            <a:pPr>
              <a:buNone/>
            </a:pPr>
            <a:r>
              <a:rPr lang="en-US" sz="1700" dirty="0"/>
              <a:t>			sum = sum + </a:t>
            </a:r>
            <a:r>
              <a:rPr lang="en-US" sz="1700" dirty="0" err="1"/>
              <a:t>arr</a:t>
            </a:r>
            <a:r>
              <a:rPr lang="en-US" sz="1700" dirty="0"/>
              <a:t>[i][i];</a:t>
            </a:r>
          </a:p>
          <a:p>
            <a:pPr>
              <a:buNone/>
            </a:pPr>
            <a:r>
              <a:rPr lang="en-US" sz="1700" dirty="0"/>
              <a:t>		}</a:t>
            </a:r>
          </a:p>
          <a:p>
            <a:pPr>
              <a:buNone/>
            </a:pPr>
            <a:r>
              <a:rPr lang="en-US" sz="1700" dirty="0"/>
              <a:t>		</a:t>
            </a:r>
            <a:r>
              <a:rPr lang="en-US" sz="1700" dirty="0" err="1"/>
              <a:t>printf</a:t>
            </a:r>
            <a:r>
              <a:rPr lang="en-US" sz="1700" dirty="0"/>
              <a:t>("Sum of diagonal element = %d", sum);</a:t>
            </a:r>
          </a:p>
          <a:p>
            <a:pPr>
              <a:buNone/>
            </a:pPr>
            <a:r>
              <a:rPr lang="en-US" sz="1700" dirty="0"/>
              <a:t>}</a:t>
            </a:r>
            <a:endParaRPr lang="en-IN" dirty="0"/>
          </a:p>
          <a:p>
            <a:endParaRPr lang="en-IN"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IN" dirty="0"/>
              <a:t>Example</a:t>
            </a:r>
          </a:p>
        </p:txBody>
      </p:sp>
      <p:sp>
        <p:nvSpPr>
          <p:cNvPr id="3" name="Content Placeholder 2"/>
          <p:cNvSpPr>
            <a:spLocks noGrp="1"/>
          </p:cNvSpPr>
          <p:nvPr>
            <p:ph idx="1"/>
          </p:nvPr>
        </p:nvSpPr>
        <p:spPr>
          <a:xfrm>
            <a:off x="228600" y="990600"/>
            <a:ext cx="8458200" cy="5486400"/>
          </a:xfrm>
        </p:spPr>
        <p:txBody>
          <a:bodyPr/>
          <a:lstStyle/>
          <a:p>
            <a:r>
              <a:rPr lang="en-IN" dirty="0"/>
              <a:t>Write a program to add two matrix.</a:t>
            </a:r>
          </a:p>
        </p:txBody>
      </p:sp>
      <p:sp>
        <p:nvSpPr>
          <p:cNvPr id="4" name="TextBox 3"/>
          <p:cNvSpPr txBox="1"/>
          <p:nvPr/>
        </p:nvSpPr>
        <p:spPr>
          <a:xfrm>
            <a:off x="3048000" y="1676400"/>
            <a:ext cx="5334000" cy="3600986"/>
          </a:xfrm>
          <a:prstGeom prst="rect">
            <a:avLst/>
          </a:prstGeom>
          <a:solidFill>
            <a:schemeClr val="bg1">
              <a:lumMod val="85000"/>
            </a:schemeClr>
          </a:solidFill>
        </p:spPr>
        <p:txBody>
          <a:bodyPr wrap="square" rtlCol="0">
            <a:spAutoFit/>
          </a:bodyPr>
          <a:lstStyle/>
          <a:p>
            <a:pPr marL="228600" indent="-228600"/>
            <a:r>
              <a:rPr lang="en-IN" sz="1200" dirty="0"/>
              <a:t>Enter the no of rows of the matrix 3</a:t>
            </a:r>
          </a:p>
          <a:p>
            <a:pPr marL="228600" indent="-228600"/>
            <a:r>
              <a:rPr lang="en-IN" sz="1200" dirty="0"/>
              <a:t>Enter the no of column of the matrix 3</a:t>
            </a:r>
          </a:p>
          <a:p>
            <a:pPr marL="228600" indent="-228600"/>
            <a:r>
              <a:rPr lang="en-IN" sz="1200" dirty="0"/>
              <a:t>Enter the elements of the first matrix</a:t>
            </a:r>
          </a:p>
          <a:p>
            <a:pPr marL="228600" indent="-228600"/>
            <a:r>
              <a:rPr lang="en-IN" sz="1200" dirty="0"/>
              <a:t> 1 2 3 4 5 6 7 8 9</a:t>
            </a:r>
          </a:p>
          <a:p>
            <a:pPr marL="228600" indent="-228600"/>
            <a:r>
              <a:rPr lang="en-IN" sz="1200" dirty="0"/>
              <a:t>Enter the elements of the second matrix</a:t>
            </a:r>
          </a:p>
          <a:p>
            <a:pPr marL="228600" indent="-228600"/>
            <a:r>
              <a:rPr lang="en-IN" sz="1200" dirty="0"/>
              <a:t>10 11 12 13 14 15 16  17 18</a:t>
            </a:r>
          </a:p>
          <a:p>
            <a:pPr marL="228600" indent="-228600"/>
            <a:r>
              <a:rPr lang="en-IN" sz="1200" dirty="0"/>
              <a:t>The elements of the first matrix are as follows:</a:t>
            </a:r>
          </a:p>
          <a:p>
            <a:pPr marL="228600" indent="-228600"/>
            <a:r>
              <a:rPr lang="en-IN" sz="1200" dirty="0"/>
              <a:t>1		2	3</a:t>
            </a:r>
          </a:p>
          <a:p>
            <a:pPr marL="228600" indent="-228600">
              <a:buAutoNum type="arabicPlain" startAt="4"/>
            </a:pPr>
            <a:r>
              <a:rPr lang="en-IN" sz="1200" dirty="0"/>
              <a:t> 	5	6</a:t>
            </a:r>
          </a:p>
          <a:p>
            <a:pPr marL="228600" indent="-228600"/>
            <a:r>
              <a:rPr lang="en-IN" sz="1200" dirty="0"/>
              <a:t>7		8	9</a:t>
            </a:r>
          </a:p>
          <a:p>
            <a:pPr marL="228600" indent="-228600"/>
            <a:r>
              <a:rPr lang="en-IN" sz="1200" dirty="0"/>
              <a:t>The elements of the second matrix are as follows:</a:t>
            </a:r>
          </a:p>
          <a:p>
            <a:pPr marL="228600" indent="-228600"/>
            <a:r>
              <a:rPr lang="en-IN" sz="1200" dirty="0"/>
              <a:t>10		11	12</a:t>
            </a:r>
          </a:p>
          <a:p>
            <a:pPr marL="228600" indent="-228600"/>
            <a:r>
              <a:rPr lang="en-IN" sz="1200" dirty="0"/>
              <a:t>13		14	15</a:t>
            </a:r>
          </a:p>
          <a:p>
            <a:pPr marL="228600" indent="-228600"/>
            <a:r>
              <a:rPr lang="en-IN" sz="1200" dirty="0"/>
              <a:t>16		17	18</a:t>
            </a:r>
          </a:p>
          <a:p>
            <a:pPr marL="228600" indent="-228600"/>
            <a:r>
              <a:rPr lang="en-IN" sz="1200" dirty="0"/>
              <a:t>The elements of the resultant matrix are as follows:</a:t>
            </a:r>
          </a:p>
          <a:p>
            <a:pPr marL="228600" indent="-228600"/>
            <a:r>
              <a:rPr lang="en-IN" sz="1200" dirty="0"/>
              <a:t>11		13	15</a:t>
            </a:r>
          </a:p>
          <a:p>
            <a:pPr marL="228600" indent="-228600"/>
            <a:r>
              <a:rPr lang="en-IN" sz="1200" dirty="0"/>
              <a:t>17		19	21</a:t>
            </a:r>
          </a:p>
          <a:p>
            <a:pPr marL="228600" indent="-228600"/>
            <a:r>
              <a:rPr lang="en-IN" sz="1200" dirty="0"/>
              <a:t>23		25	27</a:t>
            </a:r>
          </a:p>
          <a:p>
            <a:pPr marL="228600" indent="-228600"/>
            <a:endParaRPr lang="en-IN" sz="1200" dirty="0"/>
          </a:p>
        </p:txBody>
      </p:sp>
      <p:sp>
        <p:nvSpPr>
          <p:cNvPr id="5" name="TextBox 4"/>
          <p:cNvSpPr txBox="1"/>
          <p:nvPr/>
        </p:nvSpPr>
        <p:spPr>
          <a:xfrm>
            <a:off x="685800" y="1981200"/>
            <a:ext cx="990600" cy="369332"/>
          </a:xfrm>
          <a:prstGeom prst="rect">
            <a:avLst/>
          </a:prstGeom>
          <a:noFill/>
        </p:spPr>
        <p:txBody>
          <a:bodyPr wrap="square" rtlCol="0">
            <a:spAutoFit/>
          </a:bodyPr>
          <a:lstStyle/>
          <a:p>
            <a:r>
              <a:rPr lang="en-IN" b="1" dirty="0"/>
              <a:t>output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8" name="TextBox 7"/>
          <p:cNvSpPr txBox="1"/>
          <p:nvPr/>
        </p:nvSpPr>
        <p:spPr>
          <a:xfrm>
            <a:off x="685800" y="1905000"/>
            <a:ext cx="685800" cy="369332"/>
          </a:xfrm>
          <a:prstGeom prst="rect">
            <a:avLst/>
          </a:prstGeom>
          <a:noFill/>
        </p:spPr>
        <p:txBody>
          <a:bodyPr wrap="square" rtlCol="0">
            <a:spAutoFit/>
          </a:bodyPr>
          <a:lstStyle/>
          <a:p>
            <a:r>
              <a:rPr lang="en-IN" dirty="0"/>
              <a:t>mat1</a:t>
            </a:r>
          </a:p>
        </p:txBody>
      </p:sp>
      <p:sp>
        <p:nvSpPr>
          <p:cNvPr id="10" name="Content Placeholder 9"/>
          <p:cNvSpPr>
            <a:spLocks noGrp="1"/>
          </p:cNvSpPr>
          <p:nvPr>
            <p:ph idx="1"/>
          </p:nvPr>
        </p:nvSpPr>
        <p:spPr>
          <a:xfrm>
            <a:off x="1447800" y="4191000"/>
            <a:ext cx="8229600" cy="4525963"/>
          </a:xfrm>
        </p:spPr>
        <p:txBody>
          <a:bodyPr/>
          <a:lstStyle/>
          <a:p>
            <a:endParaRPr lang="en-IN" dirty="0"/>
          </a:p>
          <a:p>
            <a:endParaRPr lang="en-IN" dirty="0"/>
          </a:p>
          <a:p>
            <a:endParaRPr lang="en-IN" dirty="0"/>
          </a:p>
        </p:txBody>
      </p:sp>
      <p:graphicFrame>
        <p:nvGraphicFramePr>
          <p:cNvPr id="6" name="Table 5"/>
          <p:cNvGraphicFramePr>
            <a:graphicFrameLocks noGrp="1"/>
          </p:cNvGraphicFramePr>
          <p:nvPr/>
        </p:nvGraphicFramePr>
        <p:xfrm>
          <a:off x="4953000" y="2286000"/>
          <a:ext cx="2895600" cy="1259840"/>
        </p:xfrm>
        <a:graphic>
          <a:graphicData uri="http://schemas.openxmlformats.org/drawingml/2006/table">
            <a:tbl>
              <a:tblPr firstRow="1" bandRow="1">
                <a:tableStyleId>{5C22544A-7EE6-4342-B048-85BDC9FD1C3A}</a:tableStyleId>
              </a:tblPr>
              <a:tblGrid>
                <a:gridCol w="965200">
                  <a:extLst>
                    <a:ext uri="{9D8B030D-6E8A-4147-A177-3AD203B41FA5}">
                      <a16:colId xmlns:a16="http://schemas.microsoft.com/office/drawing/2014/main" val="20000"/>
                    </a:ext>
                  </a:extLst>
                </a:gridCol>
                <a:gridCol w="965200">
                  <a:extLst>
                    <a:ext uri="{9D8B030D-6E8A-4147-A177-3AD203B41FA5}">
                      <a16:colId xmlns:a16="http://schemas.microsoft.com/office/drawing/2014/main" val="20001"/>
                    </a:ext>
                  </a:extLst>
                </a:gridCol>
                <a:gridCol w="965200">
                  <a:extLst>
                    <a:ext uri="{9D8B030D-6E8A-4147-A177-3AD203B41FA5}">
                      <a16:colId xmlns:a16="http://schemas.microsoft.com/office/drawing/2014/main" val="20002"/>
                    </a:ext>
                  </a:extLst>
                </a:gridCol>
              </a:tblGrid>
              <a:tr h="142240">
                <a:tc>
                  <a:txBody>
                    <a:bodyPr/>
                    <a:lstStyle/>
                    <a:p>
                      <a:r>
                        <a:rPr lang="en-IN" b="0" dirty="0">
                          <a:solidFill>
                            <a:schemeClr val="tx1"/>
                          </a:solidFill>
                        </a:rPr>
                        <a:t>10</a:t>
                      </a:r>
                    </a:p>
                  </a:txBody>
                  <a:tcPr>
                    <a:solidFill>
                      <a:schemeClr val="bg1">
                        <a:lumMod val="85000"/>
                      </a:schemeClr>
                    </a:solidFill>
                  </a:tcPr>
                </a:tc>
                <a:tc>
                  <a:txBody>
                    <a:bodyPr/>
                    <a:lstStyle/>
                    <a:p>
                      <a:r>
                        <a:rPr lang="en-IN" b="0" dirty="0">
                          <a:solidFill>
                            <a:schemeClr val="tx1"/>
                          </a:solidFill>
                        </a:rPr>
                        <a:t>11</a:t>
                      </a:r>
                    </a:p>
                  </a:txBody>
                  <a:tcPr>
                    <a:solidFill>
                      <a:schemeClr val="bg1">
                        <a:lumMod val="85000"/>
                      </a:schemeClr>
                    </a:solidFill>
                  </a:tcPr>
                </a:tc>
                <a:tc>
                  <a:txBody>
                    <a:bodyPr/>
                    <a:lstStyle/>
                    <a:p>
                      <a:r>
                        <a:rPr lang="en-IN" b="0" dirty="0">
                          <a:solidFill>
                            <a:schemeClr val="tx1"/>
                          </a:solidFill>
                        </a:rPr>
                        <a:t>12</a:t>
                      </a:r>
                    </a:p>
                  </a:txBody>
                  <a:tcPr>
                    <a:solidFill>
                      <a:schemeClr val="bg1">
                        <a:lumMod val="85000"/>
                      </a:schemeClr>
                    </a:solidFill>
                  </a:tcPr>
                </a:tc>
                <a:extLst>
                  <a:ext uri="{0D108BD9-81ED-4DB2-BD59-A6C34878D82A}">
                    <a16:rowId xmlns:a16="http://schemas.microsoft.com/office/drawing/2014/main" val="10000"/>
                  </a:ext>
                </a:extLst>
              </a:tr>
              <a:tr h="447040">
                <a:tc>
                  <a:txBody>
                    <a:bodyPr/>
                    <a:lstStyle/>
                    <a:p>
                      <a:r>
                        <a:rPr lang="en-IN" b="0" dirty="0">
                          <a:solidFill>
                            <a:schemeClr val="tx1"/>
                          </a:solidFill>
                        </a:rPr>
                        <a:t>13</a:t>
                      </a:r>
                    </a:p>
                  </a:txBody>
                  <a:tcPr>
                    <a:solidFill>
                      <a:schemeClr val="bg1">
                        <a:lumMod val="85000"/>
                      </a:schemeClr>
                    </a:solidFill>
                  </a:tcPr>
                </a:tc>
                <a:tc>
                  <a:txBody>
                    <a:bodyPr/>
                    <a:lstStyle/>
                    <a:p>
                      <a:r>
                        <a:rPr lang="en-IN" b="0" dirty="0">
                          <a:solidFill>
                            <a:schemeClr val="tx1"/>
                          </a:solidFill>
                        </a:rPr>
                        <a:t>14</a:t>
                      </a:r>
                    </a:p>
                  </a:txBody>
                  <a:tcPr>
                    <a:solidFill>
                      <a:schemeClr val="bg1">
                        <a:lumMod val="85000"/>
                      </a:schemeClr>
                    </a:solidFill>
                  </a:tcPr>
                </a:tc>
                <a:tc>
                  <a:txBody>
                    <a:bodyPr/>
                    <a:lstStyle/>
                    <a:p>
                      <a:r>
                        <a:rPr lang="en-IN" b="0" dirty="0">
                          <a:solidFill>
                            <a:schemeClr val="tx1"/>
                          </a:solidFill>
                        </a:rPr>
                        <a:t>15</a:t>
                      </a:r>
                    </a:p>
                  </a:txBody>
                  <a:tcPr>
                    <a:solidFill>
                      <a:schemeClr val="bg1">
                        <a:lumMod val="85000"/>
                      </a:schemeClr>
                    </a:solidFill>
                  </a:tcPr>
                </a:tc>
                <a:extLst>
                  <a:ext uri="{0D108BD9-81ED-4DB2-BD59-A6C34878D82A}">
                    <a16:rowId xmlns:a16="http://schemas.microsoft.com/office/drawing/2014/main" val="10001"/>
                  </a:ext>
                </a:extLst>
              </a:tr>
              <a:tr h="447040">
                <a:tc>
                  <a:txBody>
                    <a:bodyPr/>
                    <a:lstStyle/>
                    <a:p>
                      <a:r>
                        <a:rPr lang="en-IN" b="0" dirty="0">
                          <a:solidFill>
                            <a:schemeClr val="tx1"/>
                          </a:solidFill>
                        </a:rPr>
                        <a:t>16</a:t>
                      </a:r>
                    </a:p>
                  </a:txBody>
                  <a:tcPr>
                    <a:solidFill>
                      <a:schemeClr val="bg1">
                        <a:lumMod val="85000"/>
                      </a:schemeClr>
                    </a:solidFill>
                  </a:tcPr>
                </a:tc>
                <a:tc>
                  <a:txBody>
                    <a:bodyPr/>
                    <a:lstStyle/>
                    <a:p>
                      <a:r>
                        <a:rPr lang="en-IN" b="0" dirty="0">
                          <a:solidFill>
                            <a:schemeClr val="tx1"/>
                          </a:solidFill>
                        </a:rPr>
                        <a:t>17</a:t>
                      </a:r>
                    </a:p>
                  </a:txBody>
                  <a:tcPr>
                    <a:solidFill>
                      <a:schemeClr val="bg1">
                        <a:lumMod val="85000"/>
                      </a:schemeClr>
                    </a:solidFill>
                  </a:tcPr>
                </a:tc>
                <a:tc>
                  <a:txBody>
                    <a:bodyPr/>
                    <a:lstStyle/>
                    <a:p>
                      <a:r>
                        <a:rPr lang="en-IN" b="0" dirty="0">
                          <a:solidFill>
                            <a:schemeClr val="tx1"/>
                          </a:solidFill>
                        </a:rPr>
                        <a:t>18</a:t>
                      </a:r>
                    </a:p>
                  </a:txBody>
                  <a:tcPr>
                    <a:solidFill>
                      <a:schemeClr val="bg1">
                        <a:lumMod val="85000"/>
                      </a:schemeClr>
                    </a:solidFill>
                  </a:tcPr>
                </a:tc>
                <a:extLst>
                  <a:ext uri="{0D108BD9-81ED-4DB2-BD59-A6C34878D82A}">
                    <a16:rowId xmlns:a16="http://schemas.microsoft.com/office/drawing/2014/main" val="10002"/>
                  </a:ext>
                </a:extLst>
              </a:tr>
            </a:tbl>
          </a:graphicData>
        </a:graphic>
      </p:graphicFrame>
      <p:graphicFrame>
        <p:nvGraphicFramePr>
          <p:cNvPr id="11" name="Table 10"/>
          <p:cNvGraphicFramePr>
            <a:graphicFrameLocks noGrp="1"/>
          </p:cNvGraphicFramePr>
          <p:nvPr/>
        </p:nvGraphicFramePr>
        <p:xfrm>
          <a:off x="609600" y="2362200"/>
          <a:ext cx="2971800" cy="111252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tblGrid>
              <a:tr h="370840">
                <a:tc>
                  <a:txBody>
                    <a:bodyPr/>
                    <a:lstStyle/>
                    <a:p>
                      <a:r>
                        <a:rPr lang="en-IN" dirty="0">
                          <a:solidFill>
                            <a:schemeClr val="tx1"/>
                          </a:solidFill>
                        </a:rPr>
                        <a:t>1</a:t>
                      </a:r>
                    </a:p>
                  </a:txBody>
                  <a:tcPr>
                    <a:solidFill>
                      <a:schemeClr val="bg1">
                        <a:lumMod val="85000"/>
                      </a:schemeClr>
                    </a:solidFill>
                  </a:tcPr>
                </a:tc>
                <a:tc>
                  <a:txBody>
                    <a:bodyPr/>
                    <a:lstStyle/>
                    <a:p>
                      <a:r>
                        <a:rPr lang="en-IN" dirty="0">
                          <a:solidFill>
                            <a:schemeClr val="tx1"/>
                          </a:solidFill>
                        </a:rPr>
                        <a:t>2</a:t>
                      </a:r>
                    </a:p>
                  </a:txBody>
                  <a:tcPr>
                    <a:solidFill>
                      <a:schemeClr val="bg1">
                        <a:lumMod val="85000"/>
                      </a:schemeClr>
                    </a:solidFill>
                  </a:tcPr>
                </a:tc>
                <a:tc>
                  <a:txBody>
                    <a:bodyPr/>
                    <a:lstStyle/>
                    <a:p>
                      <a:r>
                        <a:rPr lang="en-IN" dirty="0">
                          <a:solidFill>
                            <a:schemeClr val="tx1"/>
                          </a:solidFill>
                        </a:rPr>
                        <a:t>3</a:t>
                      </a:r>
                    </a:p>
                  </a:txBody>
                  <a:tcPr>
                    <a:solidFill>
                      <a:schemeClr val="bg1">
                        <a:lumMod val="85000"/>
                      </a:schemeClr>
                    </a:solidFill>
                  </a:tcPr>
                </a:tc>
                <a:extLst>
                  <a:ext uri="{0D108BD9-81ED-4DB2-BD59-A6C34878D82A}">
                    <a16:rowId xmlns:a16="http://schemas.microsoft.com/office/drawing/2014/main" val="10000"/>
                  </a:ext>
                </a:extLst>
              </a:tr>
              <a:tr h="370840">
                <a:tc>
                  <a:txBody>
                    <a:bodyPr/>
                    <a:lstStyle/>
                    <a:p>
                      <a:r>
                        <a:rPr lang="en-IN" dirty="0">
                          <a:solidFill>
                            <a:schemeClr val="tx1"/>
                          </a:solidFill>
                        </a:rPr>
                        <a:t>4</a:t>
                      </a:r>
                    </a:p>
                  </a:txBody>
                  <a:tcPr>
                    <a:solidFill>
                      <a:schemeClr val="bg1">
                        <a:lumMod val="85000"/>
                      </a:schemeClr>
                    </a:solidFill>
                  </a:tcPr>
                </a:tc>
                <a:tc>
                  <a:txBody>
                    <a:bodyPr/>
                    <a:lstStyle/>
                    <a:p>
                      <a:r>
                        <a:rPr lang="en-IN" dirty="0">
                          <a:solidFill>
                            <a:schemeClr val="tx1"/>
                          </a:solidFill>
                        </a:rPr>
                        <a:t>5</a:t>
                      </a:r>
                    </a:p>
                  </a:txBody>
                  <a:tcPr>
                    <a:solidFill>
                      <a:schemeClr val="bg1">
                        <a:lumMod val="85000"/>
                      </a:schemeClr>
                    </a:solidFill>
                  </a:tcPr>
                </a:tc>
                <a:tc>
                  <a:txBody>
                    <a:bodyPr/>
                    <a:lstStyle/>
                    <a:p>
                      <a:r>
                        <a:rPr lang="en-IN" dirty="0">
                          <a:solidFill>
                            <a:schemeClr val="tx1"/>
                          </a:solidFill>
                        </a:rPr>
                        <a:t>6</a:t>
                      </a:r>
                    </a:p>
                  </a:txBody>
                  <a:tcPr>
                    <a:solidFill>
                      <a:schemeClr val="bg1">
                        <a:lumMod val="85000"/>
                      </a:schemeClr>
                    </a:solidFill>
                  </a:tcPr>
                </a:tc>
                <a:extLst>
                  <a:ext uri="{0D108BD9-81ED-4DB2-BD59-A6C34878D82A}">
                    <a16:rowId xmlns:a16="http://schemas.microsoft.com/office/drawing/2014/main" val="10001"/>
                  </a:ext>
                </a:extLst>
              </a:tr>
              <a:tr h="370840">
                <a:tc>
                  <a:txBody>
                    <a:bodyPr/>
                    <a:lstStyle/>
                    <a:p>
                      <a:r>
                        <a:rPr lang="en-IN" dirty="0">
                          <a:solidFill>
                            <a:schemeClr val="tx1"/>
                          </a:solidFill>
                        </a:rPr>
                        <a:t>7</a:t>
                      </a:r>
                    </a:p>
                  </a:txBody>
                  <a:tcPr>
                    <a:solidFill>
                      <a:schemeClr val="bg1">
                        <a:lumMod val="85000"/>
                      </a:schemeClr>
                    </a:solidFill>
                  </a:tcPr>
                </a:tc>
                <a:tc>
                  <a:txBody>
                    <a:bodyPr/>
                    <a:lstStyle/>
                    <a:p>
                      <a:r>
                        <a:rPr lang="en-IN" dirty="0">
                          <a:solidFill>
                            <a:schemeClr val="tx1"/>
                          </a:solidFill>
                        </a:rPr>
                        <a:t>8</a:t>
                      </a:r>
                    </a:p>
                  </a:txBody>
                  <a:tcPr>
                    <a:solidFill>
                      <a:schemeClr val="bg1">
                        <a:lumMod val="85000"/>
                      </a:schemeClr>
                    </a:solidFill>
                  </a:tcPr>
                </a:tc>
                <a:tc>
                  <a:txBody>
                    <a:bodyPr/>
                    <a:lstStyle/>
                    <a:p>
                      <a:r>
                        <a:rPr lang="en-IN" dirty="0">
                          <a:solidFill>
                            <a:schemeClr val="tx1"/>
                          </a:solidFill>
                        </a:rPr>
                        <a:t>9</a:t>
                      </a:r>
                    </a:p>
                  </a:txBody>
                  <a:tcPr>
                    <a:solidFill>
                      <a:schemeClr val="bg1">
                        <a:lumMod val="85000"/>
                      </a:schemeClr>
                    </a:solidFill>
                  </a:tcPr>
                </a:tc>
                <a:extLst>
                  <a:ext uri="{0D108BD9-81ED-4DB2-BD59-A6C34878D82A}">
                    <a16:rowId xmlns:a16="http://schemas.microsoft.com/office/drawing/2014/main" val="10002"/>
                  </a:ext>
                </a:extLst>
              </a:tr>
            </a:tbl>
          </a:graphicData>
        </a:graphic>
      </p:graphicFrame>
      <p:sp>
        <p:nvSpPr>
          <p:cNvPr id="12" name="TextBox 11"/>
          <p:cNvSpPr txBox="1"/>
          <p:nvPr/>
        </p:nvSpPr>
        <p:spPr>
          <a:xfrm>
            <a:off x="5029200" y="1905000"/>
            <a:ext cx="685800" cy="369332"/>
          </a:xfrm>
          <a:prstGeom prst="rect">
            <a:avLst/>
          </a:prstGeom>
          <a:noFill/>
        </p:spPr>
        <p:txBody>
          <a:bodyPr wrap="square" rtlCol="0">
            <a:spAutoFit/>
          </a:bodyPr>
          <a:lstStyle/>
          <a:p>
            <a:r>
              <a:rPr lang="en-IN" dirty="0"/>
              <a:t>mat2</a:t>
            </a:r>
          </a:p>
        </p:txBody>
      </p:sp>
      <p:graphicFrame>
        <p:nvGraphicFramePr>
          <p:cNvPr id="13" name="Table 12"/>
          <p:cNvGraphicFramePr>
            <a:graphicFrameLocks noGrp="1"/>
          </p:cNvGraphicFramePr>
          <p:nvPr/>
        </p:nvGraphicFramePr>
        <p:xfrm>
          <a:off x="685800" y="4302760"/>
          <a:ext cx="2895600" cy="1259840"/>
        </p:xfrm>
        <a:graphic>
          <a:graphicData uri="http://schemas.openxmlformats.org/drawingml/2006/table">
            <a:tbl>
              <a:tblPr firstRow="1" bandRow="1">
                <a:tableStyleId>{5C22544A-7EE6-4342-B048-85BDC9FD1C3A}</a:tableStyleId>
              </a:tblPr>
              <a:tblGrid>
                <a:gridCol w="965200">
                  <a:extLst>
                    <a:ext uri="{9D8B030D-6E8A-4147-A177-3AD203B41FA5}">
                      <a16:colId xmlns:a16="http://schemas.microsoft.com/office/drawing/2014/main" val="20000"/>
                    </a:ext>
                  </a:extLst>
                </a:gridCol>
                <a:gridCol w="965200">
                  <a:extLst>
                    <a:ext uri="{9D8B030D-6E8A-4147-A177-3AD203B41FA5}">
                      <a16:colId xmlns:a16="http://schemas.microsoft.com/office/drawing/2014/main" val="20001"/>
                    </a:ext>
                  </a:extLst>
                </a:gridCol>
                <a:gridCol w="965200">
                  <a:extLst>
                    <a:ext uri="{9D8B030D-6E8A-4147-A177-3AD203B41FA5}">
                      <a16:colId xmlns:a16="http://schemas.microsoft.com/office/drawing/2014/main" val="20002"/>
                    </a:ext>
                  </a:extLst>
                </a:gridCol>
              </a:tblGrid>
              <a:tr h="142240">
                <a:tc>
                  <a:txBody>
                    <a:bodyPr/>
                    <a:lstStyle/>
                    <a:p>
                      <a:r>
                        <a:rPr lang="en-IN" b="0" dirty="0">
                          <a:solidFill>
                            <a:schemeClr val="tx1"/>
                          </a:solidFill>
                        </a:rPr>
                        <a:t>11</a:t>
                      </a:r>
                    </a:p>
                  </a:txBody>
                  <a:tcPr>
                    <a:solidFill>
                      <a:schemeClr val="bg1">
                        <a:lumMod val="85000"/>
                      </a:schemeClr>
                    </a:solidFill>
                  </a:tcPr>
                </a:tc>
                <a:tc>
                  <a:txBody>
                    <a:bodyPr/>
                    <a:lstStyle/>
                    <a:p>
                      <a:r>
                        <a:rPr lang="en-IN" b="0" dirty="0">
                          <a:solidFill>
                            <a:schemeClr val="tx1"/>
                          </a:solidFill>
                        </a:rPr>
                        <a:t>13</a:t>
                      </a:r>
                    </a:p>
                  </a:txBody>
                  <a:tcPr>
                    <a:solidFill>
                      <a:schemeClr val="bg1">
                        <a:lumMod val="85000"/>
                      </a:schemeClr>
                    </a:solidFill>
                  </a:tcPr>
                </a:tc>
                <a:tc>
                  <a:txBody>
                    <a:bodyPr/>
                    <a:lstStyle/>
                    <a:p>
                      <a:r>
                        <a:rPr lang="en-IN" b="0" dirty="0">
                          <a:solidFill>
                            <a:schemeClr val="tx1"/>
                          </a:solidFill>
                        </a:rPr>
                        <a:t>15</a:t>
                      </a:r>
                    </a:p>
                  </a:txBody>
                  <a:tcPr>
                    <a:solidFill>
                      <a:schemeClr val="bg1">
                        <a:lumMod val="85000"/>
                      </a:schemeClr>
                    </a:solidFill>
                  </a:tcPr>
                </a:tc>
                <a:extLst>
                  <a:ext uri="{0D108BD9-81ED-4DB2-BD59-A6C34878D82A}">
                    <a16:rowId xmlns:a16="http://schemas.microsoft.com/office/drawing/2014/main" val="10000"/>
                  </a:ext>
                </a:extLst>
              </a:tr>
              <a:tr h="447040">
                <a:tc>
                  <a:txBody>
                    <a:bodyPr/>
                    <a:lstStyle/>
                    <a:p>
                      <a:r>
                        <a:rPr lang="en-IN" b="0" dirty="0">
                          <a:solidFill>
                            <a:schemeClr val="tx1"/>
                          </a:solidFill>
                        </a:rPr>
                        <a:t>17</a:t>
                      </a:r>
                    </a:p>
                  </a:txBody>
                  <a:tcPr>
                    <a:solidFill>
                      <a:schemeClr val="bg1">
                        <a:lumMod val="85000"/>
                      </a:schemeClr>
                    </a:solidFill>
                  </a:tcPr>
                </a:tc>
                <a:tc>
                  <a:txBody>
                    <a:bodyPr/>
                    <a:lstStyle/>
                    <a:p>
                      <a:r>
                        <a:rPr lang="en-IN" b="0" dirty="0">
                          <a:solidFill>
                            <a:schemeClr val="tx1"/>
                          </a:solidFill>
                        </a:rPr>
                        <a:t>19</a:t>
                      </a:r>
                    </a:p>
                  </a:txBody>
                  <a:tcPr>
                    <a:solidFill>
                      <a:schemeClr val="bg1">
                        <a:lumMod val="85000"/>
                      </a:schemeClr>
                    </a:solidFill>
                  </a:tcPr>
                </a:tc>
                <a:tc>
                  <a:txBody>
                    <a:bodyPr/>
                    <a:lstStyle/>
                    <a:p>
                      <a:r>
                        <a:rPr lang="en-IN" b="0" dirty="0">
                          <a:solidFill>
                            <a:schemeClr val="tx1"/>
                          </a:solidFill>
                        </a:rPr>
                        <a:t>21</a:t>
                      </a:r>
                    </a:p>
                  </a:txBody>
                  <a:tcPr>
                    <a:solidFill>
                      <a:schemeClr val="bg1">
                        <a:lumMod val="85000"/>
                      </a:schemeClr>
                    </a:solidFill>
                  </a:tcPr>
                </a:tc>
                <a:extLst>
                  <a:ext uri="{0D108BD9-81ED-4DB2-BD59-A6C34878D82A}">
                    <a16:rowId xmlns:a16="http://schemas.microsoft.com/office/drawing/2014/main" val="10001"/>
                  </a:ext>
                </a:extLst>
              </a:tr>
              <a:tr h="447040">
                <a:tc>
                  <a:txBody>
                    <a:bodyPr/>
                    <a:lstStyle/>
                    <a:p>
                      <a:r>
                        <a:rPr lang="en-IN" b="0" dirty="0">
                          <a:solidFill>
                            <a:schemeClr val="tx1"/>
                          </a:solidFill>
                        </a:rPr>
                        <a:t>23</a:t>
                      </a:r>
                    </a:p>
                  </a:txBody>
                  <a:tcPr>
                    <a:solidFill>
                      <a:schemeClr val="bg1">
                        <a:lumMod val="85000"/>
                      </a:schemeClr>
                    </a:solidFill>
                  </a:tcPr>
                </a:tc>
                <a:tc>
                  <a:txBody>
                    <a:bodyPr/>
                    <a:lstStyle/>
                    <a:p>
                      <a:r>
                        <a:rPr lang="en-IN" b="0" dirty="0">
                          <a:solidFill>
                            <a:schemeClr val="tx1"/>
                          </a:solidFill>
                        </a:rPr>
                        <a:t>25</a:t>
                      </a:r>
                    </a:p>
                  </a:txBody>
                  <a:tcPr>
                    <a:solidFill>
                      <a:schemeClr val="bg1">
                        <a:lumMod val="85000"/>
                      </a:schemeClr>
                    </a:solidFill>
                  </a:tcPr>
                </a:tc>
                <a:tc>
                  <a:txBody>
                    <a:bodyPr/>
                    <a:lstStyle/>
                    <a:p>
                      <a:r>
                        <a:rPr lang="en-IN" b="0" dirty="0">
                          <a:solidFill>
                            <a:schemeClr val="tx1"/>
                          </a:solidFill>
                        </a:rPr>
                        <a:t>27</a:t>
                      </a:r>
                    </a:p>
                  </a:txBody>
                  <a:tcPr>
                    <a:solidFill>
                      <a:schemeClr val="bg1">
                        <a:lumMod val="85000"/>
                      </a:schemeClr>
                    </a:solidFill>
                  </a:tcPr>
                </a:tc>
                <a:extLst>
                  <a:ext uri="{0D108BD9-81ED-4DB2-BD59-A6C34878D82A}">
                    <a16:rowId xmlns:a16="http://schemas.microsoft.com/office/drawing/2014/main" val="10002"/>
                  </a:ext>
                </a:extLst>
              </a:tr>
            </a:tbl>
          </a:graphicData>
        </a:graphic>
      </p:graphicFrame>
      <p:sp>
        <p:nvSpPr>
          <p:cNvPr id="14" name="TextBox 13"/>
          <p:cNvSpPr txBox="1"/>
          <p:nvPr/>
        </p:nvSpPr>
        <p:spPr>
          <a:xfrm>
            <a:off x="762000" y="3921760"/>
            <a:ext cx="685800" cy="369332"/>
          </a:xfrm>
          <a:prstGeom prst="rect">
            <a:avLst/>
          </a:prstGeom>
          <a:noFill/>
        </p:spPr>
        <p:txBody>
          <a:bodyPr wrap="square" rtlCol="0">
            <a:spAutoFit/>
          </a:bodyPr>
          <a:lstStyle/>
          <a:p>
            <a:r>
              <a:rPr lang="en-IN" dirty="0"/>
              <a:t>res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6096000"/>
          </a:xfrm>
        </p:spPr>
        <p:txBody>
          <a:bodyPr>
            <a:noAutofit/>
          </a:bodyPr>
          <a:lstStyle/>
          <a:p>
            <a:pPr>
              <a:buNone/>
            </a:pPr>
            <a:r>
              <a:rPr lang="en-US" sz="1600" dirty="0"/>
              <a:t>#include &lt;</a:t>
            </a:r>
            <a:r>
              <a:rPr lang="en-US" sz="1600" dirty="0" err="1"/>
              <a:t>stdio.h</a:t>
            </a:r>
            <a:r>
              <a:rPr lang="en-US" sz="1600" dirty="0"/>
              <a:t>&gt;</a:t>
            </a:r>
          </a:p>
          <a:p>
            <a:pPr>
              <a:buNone/>
            </a:pPr>
            <a:r>
              <a:rPr lang="en-US" sz="1600" dirty="0"/>
              <a:t>main()</a:t>
            </a:r>
          </a:p>
          <a:p>
            <a:pPr>
              <a:buNone/>
            </a:pPr>
            <a:r>
              <a:rPr lang="en-US" sz="1600" dirty="0"/>
              <a:t>{</a:t>
            </a:r>
          </a:p>
          <a:p>
            <a:pPr>
              <a:buNone/>
            </a:pPr>
            <a:r>
              <a:rPr lang="en-US" sz="1600" dirty="0"/>
              <a:t>		</a:t>
            </a:r>
            <a:r>
              <a:rPr lang="en-US" sz="1600" dirty="0" err="1"/>
              <a:t>int</a:t>
            </a:r>
            <a:r>
              <a:rPr lang="en-US" sz="1600" dirty="0"/>
              <a:t> i, j, mat1[10][10],mat2[10][10],res[10][10],</a:t>
            </a:r>
            <a:r>
              <a:rPr lang="en-US" sz="1600" dirty="0" err="1"/>
              <a:t>r,c</a:t>
            </a:r>
            <a:r>
              <a:rPr lang="en-US" sz="1600" dirty="0"/>
              <a:t>;</a:t>
            </a:r>
          </a:p>
          <a:p>
            <a:pPr>
              <a:buNone/>
            </a:pPr>
            <a:r>
              <a:rPr lang="en-US" sz="1600" dirty="0"/>
              <a:t>		</a:t>
            </a:r>
            <a:r>
              <a:rPr lang="en-US" sz="1600" dirty="0" err="1"/>
              <a:t>printf</a:t>
            </a:r>
            <a:r>
              <a:rPr lang="en-US" sz="1600" dirty="0"/>
              <a:t>("Enter number of row of matrix");</a:t>
            </a:r>
          </a:p>
          <a:p>
            <a:pPr>
              <a:buNone/>
            </a:pPr>
            <a:r>
              <a:rPr lang="en-US" sz="1600" dirty="0"/>
              <a:t>		</a:t>
            </a:r>
            <a:r>
              <a:rPr lang="en-US" sz="1600" dirty="0" err="1"/>
              <a:t>scanf</a:t>
            </a:r>
            <a:r>
              <a:rPr lang="en-US" sz="1600" dirty="0"/>
              <a:t>("%</a:t>
            </a:r>
            <a:r>
              <a:rPr lang="en-US" sz="1600" dirty="0" err="1"/>
              <a:t>d",&amp;r</a:t>
            </a:r>
            <a:r>
              <a:rPr lang="en-US" sz="1600" dirty="0"/>
              <a:t>);</a:t>
            </a:r>
          </a:p>
          <a:p>
            <a:pPr>
              <a:buNone/>
            </a:pPr>
            <a:r>
              <a:rPr lang="en-US" sz="1600" dirty="0"/>
              <a:t>		</a:t>
            </a:r>
            <a:r>
              <a:rPr lang="en-IN" sz="1600" dirty="0" err="1"/>
              <a:t>printf</a:t>
            </a:r>
            <a:r>
              <a:rPr lang="en-IN" sz="1600" dirty="0"/>
              <a:t>("Enter number of column of matrix");</a:t>
            </a:r>
            <a:endParaRPr lang="en-US" sz="1600" dirty="0"/>
          </a:p>
          <a:p>
            <a:pPr>
              <a:buNone/>
            </a:pPr>
            <a:r>
              <a:rPr lang="en-US" sz="1600" dirty="0"/>
              <a:t>		</a:t>
            </a:r>
            <a:r>
              <a:rPr lang="en-US" sz="1600" dirty="0" err="1"/>
              <a:t>scanf</a:t>
            </a:r>
            <a:r>
              <a:rPr lang="en-US" sz="1600" dirty="0"/>
              <a:t>("%</a:t>
            </a:r>
            <a:r>
              <a:rPr lang="en-US" sz="1600" dirty="0" err="1"/>
              <a:t>d",&amp;c</a:t>
            </a:r>
            <a:r>
              <a:rPr lang="en-US" sz="1600" dirty="0"/>
              <a:t>);</a:t>
            </a:r>
          </a:p>
          <a:p>
            <a:pPr>
              <a:buNone/>
            </a:pPr>
            <a:r>
              <a:rPr lang="en-US" sz="1600" dirty="0"/>
              <a:t>		</a:t>
            </a:r>
            <a:r>
              <a:rPr lang="en-US" sz="1600" dirty="0" err="1"/>
              <a:t>printf</a:t>
            </a:r>
            <a:r>
              <a:rPr lang="en-US" sz="1600" dirty="0"/>
              <a:t>("\n Enter the elements of the first matrix:");</a:t>
            </a:r>
          </a:p>
          <a:p>
            <a:pPr>
              <a:buNone/>
            </a:pPr>
            <a:r>
              <a:rPr lang="en-US" sz="1600" dirty="0"/>
              <a:t>		for(i=0;i &lt;r; i++)</a:t>
            </a:r>
          </a:p>
          <a:p>
            <a:pPr>
              <a:buNone/>
            </a:pPr>
            <a:r>
              <a:rPr lang="en-US" sz="1600" dirty="0"/>
              <a:t>		{</a:t>
            </a:r>
          </a:p>
          <a:p>
            <a:pPr>
              <a:buNone/>
            </a:pPr>
            <a:r>
              <a:rPr lang="en-US" sz="1600" dirty="0"/>
              <a:t>			for(j=0;j&lt;</a:t>
            </a:r>
            <a:r>
              <a:rPr lang="en-US" sz="1600" dirty="0" err="1"/>
              <a:t>c;j</a:t>
            </a:r>
            <a:r>
              <a:rPr lang="en-US" sz="1600" dirty="0"/>
              <a:t>++)</a:t>
            </a:r>
          </a:p>
          <a:p>
            <a:pPr>
              <a:buNone/>
            </a:pPr>
            <a:r>
              <a:rPr lang="en-US" sz="1600" dirty="0"/>
              <a:t>				</a:t>
            </a:r>
            <a:r>
              <a:rPr lang="en-US" sz="1600" dirty="0" err="1"/>
              <a:t>scanf</a:t>
            </a:r>
            <a:r>
              <a:rPr lang="en-US" sz="1600" dirty="0"/>
              <a:t>("%d", &amp;mat1[i][j]);</a:t>
            </a:r>
          </a:p>
          <a:p>
            <a:pPr>
              <a:buNone/>
            </a:pPr>
            <a:r>
              <a:rPr lang="en-US" sz="1600" dirty="0"/>
              <a:t>		}</a:t>
            </a:r>
          </a:p>
          <a:p>
            <a:pPr>
              <a:buNone/>
            </a:pPr>
            <a:r>
              <a:rPr lang="en-US" sz="1600" dirty="0"/>
              <a:t>		</a:t>
            </a:r>
            <a:r>
              <a:rPr lang="en-US" sz="1600" dirty="0" err="1"/>
              <a:t>printf</a:t>
            </a:r>
            <a:r>
              <a:rPr lang="en-US" sz="1600" dirty="0"/>
              <a:t>("\n Enter the elements of the second matrix:");</a:t>
            </a:r>
          </a:p>
          <a:p>
            <a:pPr>
              <a:buNone/>
            </a:pPr>
            <a:r>
              <a:rPr lang="en-US" sz="1600" dirty="0"/>
              <a:t>		for(i=0;i &lt;r; i++)</a:t>
            </a:r>
          </a:p>
          <a:p>
            <a:pPr>
              <a:buNone/>
            </a:pPr>
            <a:r>
              <a:rPr lang="en-US" sz="1600" dirty="0"/>
              <a:t>		{</a:t>
            </a:r>
          </a:p>
          <a:p>
            <a:pPr>
              <a:buNone/>
            </a:pPr>
            <a:r>
              <a:rPr lang="en-US" sz="1600" dirty="0"/>
              <a:t>			for(j=0;j&lt;</a:t>
            </a:r>
            <a:r>
              <a:rPr lang="en-US" sz="1600" dirty="0" err="1"/>
              <a:t>c;j</a:t>
            </a:r>
            <a:r>
              <a:rPr lang="en-US" sz="1600" dirty="0"/>
              <a:t>++)</a:t>
            </a:r>
          </a:p>
          <a:p>
            <a:pPr>
              <a:buNone/>
            </a:pPr>
            <a:r>
              <a:rPr lang="en-US" sz="1600" dirty="0"/>
              <a:t>		           		</a:t>
            </a:r>
            <a:r>
              <a:rPr lang="en-US" sz="1600" dirty="0" err="1"/>
              <a:t>scanf</a:t>
            </a:r>
            <a:r>
              <a:rPr lang="en-US" sz="1600" dirty="0"/>
              <a:t>("%d", &amp;mat2[i][j]);</a:t>
            </a:r>
          </a:p>
          <a:p>
            <a:pPr>
              <a:buNone/>
            </a:pPr>
            <a:r>
              <a:rPr lang="en-US" sz="1600" dirty="0"/>
              <a:t>		}</a:t>
            </a:r>
          </a:p>
          <a:p>
            <a:pPr>
              <a:buNone/>
            </a:pPr>
            <a:endParaRPr lang="en-US" sz="1600" dirty="0"/>
          </a:p>
          <a:p>
            <a:pPr>
              <a:buNone/>
            </a:pPr>
            <a:r>
              <a:rPr lang="en-US" sz="1600" dirty="0"/>
              <a:t>		</a:t>
            </a:r>
          </a:p>
          <a:p>
            <a:pPr>
              <a:buNone/>
            </a:pPr>
            <a:endParaRPr lang="en-US" sz="1600" dirty="0"/>
          </a:p>
          <a:p>
            <a:pPr>
              <a:buNone/>
            </a:pPr>
            <a:endParaRPr lang="en-US" sz="1600" dirty="0"/>
          </a:p>
          <a:p>
            <a:pPr>
              <a:buNone/>
            </a:pPr>
            <a:r>
              <a:rPr lang="en-US" sz="1600" dirty="0"/>
              <a:t>		</a:t>
            </a:r>
          </a:p>
          <a:p>
            <a:pPr>
              <a:buNone/>
            </a:pPr>
            <a:r>
              <a:rPr lang="en-US" sz="1600" dirty="0"/>
              <a:t>		</a:t>
            </a:r>
            <a:endParaRPr lang="en-IN" sz="1600" dirty="0"/>
          </a:p>
        </p:txBody>
      </p:sp>
      <p:sp>
        <p:nvSpPr>
          <p:cNvPr id="5" name="Title 4"/>
          <p:cNvSpPr>
            <a:spLocks noGrp="1"/>
          </p:cNvSpPr>
          <p:nvPr>
            <p:ph type="title"/>
          </p:nvPr>
        </p:nvSpPr>
        <p:spPr>
          <a:xfrm>
            <a:off x="457200" y="274638"/>
            <a:ext cx="8229600" cy="334962"/>
          </a:xfrm>
        </p:spPr>
        <p:txBody>
          <a:bodyPr>
            <a:normAutofit fontScale="90000"/>
          </a:bodyPr>
          <a:lstStyle/>
          <a:p>
            <a:endParaRPr lang="en-IN"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915400" cy="6629400"/>
          </a:xfrm>
        </p:spPr>
        <p:txBody>
          <a:bodyPr>
            <a:normAutofit fontScale="77500" lnSpcReduction="20000"/>
          </a:bodyPr>
          <a:lstStyle/>
          <a:p>
            <a:pPr>
              <a:buNone/>
            </a:pPr>
            <a:r>
              <a:rPr lang="en-US" dirty="0"/>
              <a:t>		</a:t>
            </a:r>
            <a:r>
              <a:rPr lang="en-US" sz="1800" dirty="0"/>
              <a:t> 	for(i=0;i &lt;r; i++)</a:t>
            </a:r>
          </a:p>
          <a:p>
            <a:pPr>
              <a:buNone/>
            </a:pPr>
            <a:r>
              <a:rPr lang="en-US" sz="1800" dirty="0"/>
              <a:t>			{</a:t>
            </a:r>
          </a:p>
          <a:p>
            <a:pPr>
              <a:buNone/>
            </a:pPr>
            <a:r>
              <a:rPr lang="en-US" sz="1800" dirty="0"/>
              <a:t>				for(j=0;j&lt;</a:t>
            </a:r>
            <a:r>
              <a:rPr lang="en-US" sz="1800" dirty="0" err="1"/>
              <a:t>c;j</a:t>
            </a:r>
            <a:r>
              <a:rPr lang="en-US" sz="1800" dirty="0"/>
              <a:t>++)</a:t>
            </a:r>
          </a:p>
          <a:p>
            <a:pPr>
              <a:buNone/>
            </a:pPr>
            <a:r>
              <a:rPr lang="en-US" sz="1800" dirty="0"/>
              <a:t>			           		res[i][j] = mat1[i][j] + mat2[i][j];	</a:t>
            </a:r>
          </a:p>
          <a:p>
            <a:pPr>
              <a:buNone/>
            </a:pPr>
            <a:r>
              <a:rPr lang="en-US" sz="1800" dirty="0"/>
              <a:t>			}</a:t>
            </a:r>
          </a:p>
          <a:p>
            <a:pPr>
              <a:buNone/>
            </a:pPr>
            <a:endParaRPr lang="en-US" sz="1800" dirty="0"/>
          </a:p>
          <a:p>
            <a:pPr>
              <a:buNone/>
            </a:pPr>
            <a:r>
              <a:rPr lang="en-US" sz="1800" dirty="0"/>
              <a:t>			 </a:t>
            </a:r>
            <a:r>
              <a:rPr lang="en-US" sz="1800" dirty="0" err="1"/>
              <a:t>printf</a:t>
            </a:r>
            <a:r>
              <a:rPr lang="en-US" sz="1800" dirty="0"/>
              <a:t>("\n The elements of the first matrix are as follows: :\n");</a:t>
            </a:r>
          </a:p>
          <a:p>
            <a:pPr>
              <a:buNone/>
            </a:pPr>
            <a:r>
              <a:rPr lang="en-US" sz="1800" dirty="0"/>
              <a:t>			for(i=0;i &lt;r; i++)</a:t>
            </a:r>
          </a:p>
          <a:p>
            <a:pPr>
              <a:buNone/>
            </a:pPr>
            <a:r>
              <a:rPr lang="en-US" sz="1800" dirty="0"/>
              <a:t>			{</a:t>
            </a:r>
          </a:p>
          <a:p>
            <a:pPr>
              <a:buNone/>
            </a:pPr>
            <a:r>
              <a:rPr lang="en-US" sz="1800" dirty="0"/>
              <a:t>				for(j=0;j&lt;</a:t>
            </a:r>
            <a:r>
              <a:rPr lang="en-US" sz="1800" dirty="0" err="1"/>
              <a:t>c;j</a:t>
            </a:r>
            <a:r>
              <a:rPr lang="en-US" sz="1800" dirty="0"/>
              <a:t>++)</a:t>
            </a:r>
          </a:p>
          <a:p>
            <a:pPr>
              <a:buNone/>
            </a:pPr>
            <a:r>
              <a:rPr lang="en-US" sz="1800" dirty="0"/>
              <a:t>					</a:t>
            </a:r>
            <a:r>
              <a:rPr lang="en-US" sz="1800" dirty="0" err="1"/>
              <a:t>printf</a:t>
            </a:r>
            <a:r>
              <a:rPr lang="en-US" sz="1800" dirty="0"/>
              <a:t>("%d\t", mat1[i][j]);</a:t>
            </a:r>
          </a:p>
          <a:p>
            <a:pPr>
              <a:buNone/>
            </a:pPr>
            <a:r>
              <a:rPr lang="en-US" sz="1800" dirty="0"/>
              <a:t>				</a:t>
            </a:r>
            <a:r>
              <a:rPr lang="en-US" sz="1800" dirty="0" err="1"/>
              <a:t>printf</a:t>
            </a:r>
            <a:r>
              <a:rPr lang="en-US" sz="1800" dirty="0"/>
              <a:t>("\n");</a:t>
            </a:r>
          </a:p>
          <a:p>
            <a:pPr>
              <a:buNone/>
            </a:pPr>
            <a:r>
              <a:rPr lang="en-US" sz="1800" dirty="0"/>
              <a:t>       	 		}</a:t>
            </a:r>
          </a:p>
          <a:p>
            <a:pPr>
              <a:buNone/>
            </a:pPr>
            <a:r>
              <a:rPr lang="en-US" sz="1800" dirty="0"/>
              <a:t>			 </a:t>
            </a:r>
            <a:r>
              <a:rPr lang="en-US" sz="1800" dirty="0" err="1"/>
              <a:t>printf</a:t>
            </a:r>
            <a:r>
              <a:rPr lang="en-US" sz="1800" dirty="0"/>
              <a:t>("\n The elements of the second matrix are as follows: :\n");</a:t>
            </a:r>
          </a:p>
          <a:p>
            <a:pPr>
              <a:buNone/>
            </a:pPr>
            <a:r>
              <a:rPr lang="en-US" sz="1800" dirty="0"/>
              <a:t>			for(i=0;i &lt;r; i++)</a:t>
            </a:r>
          </a:p>
          <a:p>
            <a:pPr>
              <a:buNone/>
            </a:pPr>
            <a:r>
              <a:rPr lang="en-US" sz="1800" dirty="0"/>
              <a:t>			{</a:t>
            </a:r>
          </a:p>
          <a:p>
            <a:pPr>
              <a:buNone/>
            </a:pPr>
            <a:r>
              <a:rPr lang="en-US" sz="1800" dirty="0"/>
              <a:t>				for(j=0;j&lt;</a:t>
            </a:r>
            <a:r>
              <a:rPr lang="en-US" sz="1800" dirty="0" err="1"/>
              <a:t>c;j</a:t>
            </a:r>
            <a:r>
              <a:rPr lang="en-US" sz="1800" dirty="0"/>
              <a:t>++)</a:t>
            </a:r>
          </a:p>
          <a:p>
            <a:pPr>
              <a:buNone/>
            </a:pPr>
            <a:r>
              <a:rPr lang="en-US" sz="1800" dirty="0"/>
              <a:t>					</a:t>
            </a:r>
            <a:r>
              <a:rPr lang="en-US" sz="1800" dirty="0" err="1"/>
              <a:t>printf</a:t>
            </a:r>
            <a:r>
              <a:rPr lang="en-US" sz="1800" dirty="0"/>
              <a:t>("%d\t", mat2[i][j]);</a:t>
            </a:r>
          </a:p>
          <a:p>
            <a:pPr>
              <a:buNone/>
            </a:pPr>
            <a:r>
              <a:rPr lang="en-US" sz="1800" dirty="0"/>
              <a:t>				</a:t>
            </a:r>
            <a:r>
              <a:rPr lang="en-US" sz="1800" dirty="0" err="1"/>
              <a:t>printf</a:t>
            </a:r>
            <a:r>
              <a:rPr lang="en-US" sz="1800" dirty="0"/>
              <a:t>("\n");</a:t>
            </a:r>
          </a:p>
          <a:p>
            <a:pPr>
              <a:buNone/>
            </a:pPr>
            <a:r>
              <a:rPr lang="en-US" sz="1800" dirty="0"/>
              <a:t>       	 		}</a:t>
            </a:r>
          </a:p>
          <a:p>
            <a:pPr>
              <a:buNone/>
            </a:pPr>
            <a:r>
              <a:rPr lang="en-US" sz="1800" dirty="0"/>
              <a:t>			</a:t>
            </a:r>
            <a:r>
              <a:rPr lang="en-US" sz="1800" dirty="0" err="1"/>
              <a:t>printf</a:t>
            </a:r>
            <a:r>
              <a:rPr lang="en-US" sz="1800" dirty="0"/>
              <a:t>("\n The elements of the matrix are as follows: :\n");</a:t>
            </a:r>
          </a:p>
          <a:p>
            <a:pPr>
              <a:buNone/>
            </a:pPr>
            <a:r>
              <a:rPr lang="en-US" sz="1800" dirty="0"/>
              <a:t>			for(i=0;i &lt;r; i++)</a:t>
            </a:r>
          </a:p>
          <a:p>
            <a:pPr>
              <a:buNone/>
            </a:pPr>
            <a:r>
              <a:rPr lang="en-US" sz="1800" dirty="0"/>
              <a:t>			{</a:t>
            </a:r>
          </a:p>
          <a:p>
            <a:pPr>
              <a:buNone/>
            </a:pPr>
            <a:r>
              <a:rPr lang="en-US" sz="1800" dirty="0"/>
              <a:t>				for(j=0;j&lt;</a:t>
            </a:r>
            <a:r>
              <a:rPr lang="en-US" sz="1800" dirty="0" err="1"/>
              <a:t>c;j</a:t>
            </a:r>
            <a:r>
              <a:rPr lang="en-US" sz="1800" dirty="0"/>
              <a:t>++)</a:t>
            </a:r>
          </a:p>
          <a:p>
            <a:pPr>
              <a:buNone/>
            </a:pPr>
            <a:r>
              <a:rPr lang="en-US" sz="1800" dirty="0"/>
              <a:t>					</a:t>
            </a:r>
            <a:r>
              <a:rPr lang="en-US" sz="1800" dirty="0" err="1"/>
              <a:t>printf</a:t>
            </a:r>
            <a:r>
              <a:rPr lang="en-US" sz="1800" dirty="0"/>
              <a:t>("%d\t", res[i][j]);</a:t>
            </a:r>
          </a:p>
          <a:p>
            <a:pPr>
              <a:buNone/>
            </a:pPr>
            <a:r>
              <a:rPr lang="en-US" sz="1800" dirty="0"/>
              <a:t>				</a:t>
            </a:r>
            <a:r>
              <a:rPr lang="en-US" sz="1800" dirty="0" err="1"/>
              <a:t>printf</a:t>
            </a:r>
            <a:r>
              <a:rPr lang="en-US" sz="1800" dirty="0"/>
              <a:t>("\n");</a:t>
            </a:r>
          </a:p>
          <a:p>
            <a:pPr>
              <a:buNone/>
            </a:pPr>
            <a:r>
              <a:rPr lang="en-US" sz="1800" dirty="0"/>
              <a:t>       	 		}</a:t>
            </a:r>
          </a:p>
          <a:p>
            <a:pPr>
              <a:buNone/>
            </a:pPr>
            <a:r>
              <a:rPr lang="en-US" sz="1800" dirty="0"/>
              <a:t>}</a:t>
            </a:r>
          </a:p>
          <a:p>
            <a:pPr>
              <a:buNone/>
            </a:pPr>
            <a:r>
              <a:rPr lang="en-US" sz="1800" dirty="0"/>
              <a:t>		</a:t>
            </a:r>
            <a:endParaRPr lang="en-IN"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IN" dirty="0"/>
              <a:t>Example</a:t>
            </a:r>
          </a:p>
        </p:txBody>
      </p:sp>
      <p:sp>
        <p:nvSpPr>
          <p:cNvPr id="3" name="Content Placeholder 2"/>
          <p:cNvSpPr>
            <a:spLocks noGrp="1"/>
          </p:cNvSpPr>
          <p:nvPr>
            <p:ph idx="1"/>
          </p:nvPr>
        </p:nvSpPr>
        <p:spPr>
          <a:xfrm>
            <a:off x="457200" y="990600"/>
            <a:ext cx="8229600" cy="5135563"/>
          </a:xfrm>
        </p:spPr>
        <p:txBody>
          <a:bodyPr/>
          <a:lstStyle/>
          <a:p>
            <a:r>
              <a:rPr lang="en-IN" dirty="0"/>
              <a:t>Write a program to compute transpose of a matrix.</a:t>
            </a:r>
          </a:p>
        </p:txBody>
      </p:sp>
      <p:sp>
        <p:nvSpPr>
          <p:cNvPr id="4" name="TextBox 3"/>
          <p:cNvSpPr txBox="1"/>
          <p:nvPr/>
        </p:nvSpPr>
        <p:spPr>
          <a:xfrm>
            <a:off x="1447800" y="1981200"/>
            <a:ext cx="4343400" cy="2677656"/>
          </a:xfrm>
          <a:prstGeom prst="rect">
            <a:avLst/>
          </a:prstGeom>
          <a:solidFill>
            <a:schemeClr val="bg1">
              <a:lumMod val="85000"/>
            </a:schemeClr>
          </a:solidFill>
        </p:spPr>
        <p:txBody>
          <a:bodyPr wrap="square" rtlCol="0">
            <a:spAutoFit/>
          </a:bodyPr>
          <a:lstStyle/>
          <a:p>
            <a:pPr marL="228600" indent="-228600"/>
            <a:r>
              <a:rPr lang="en-IN" sz="1200" dirty="0"/>
              <a:t>Enter the no of rows of the matrix 3</a:t>
            </a:r>
          </a:p>
          <a:p>
            <a:pPr marL="228600" indent="-228600"/>
            <a:r>
              <a:rPr lang="en-IN" sz="1200" dirty="0"/>
              <a:t>Enter the no of column of the matrix 4</a:t>
            </a:r>
          </a:p>
          <a:p>
            <a:pPr marL="228600" indent="-228600"/>
            <a:r>
              <a:rPr lang="en-IN" sz="1200" dirty="0"/>
              <a:t>Enter the elements of the matrix</a:t>
            </a:r>
          </a:p>
          <a:p>
            <a:pPr marL="228600" indent="-228600"/>
            <a:r>
              <a:rPr lang="en-IN" sz="1200" dirty="0"/>
              <a:t> 60 70 90 95 82 75 87 94 65 76 86 96</a:t>
            </a:r>
          </a:p>
          <a:p>
            <a:pPr marL="228600" indent="-228600"/>
            <a:r>
              <a:rPr lang="en-IN" sz="1200" dirty="0"/>
              <a:t>The elements of the matrix are as follows:</a:t>
            </a:r>
          </a:p>
          <a:p>
            <a:pPr marL="342900" indent="-342900">
              <a:buAutoNum type="arabicPlain" startAt="60"/>
            </a:pPr>
            <a:r>
              <a:rPr lang="en-IN" sz="1200" dirty="0"/>
              <a:t>70	90	95	</a:t>
            </a:r>
          </a:p>
          <a:p>
            <a:pPr marL="342900" indent="-342900"/>
            <a:r>
              <a:rPr lang="en-IN" sz="1200" dirty="0"/>
              <a:t>82	75	87	94		</a:t>
            </a:r>
          </a:p>
          <a:p>
            <a:pPr marL="342900" indent="-342900">
              <a:buAutoNum type="arabicPlain" startAt="65"/>
            </a:pPr>
            <a:r>
              <a:rPr lang="en-IN" sz="1200" dirty="0"/>
              <a:t>76	86	96</a:t>
            </a:r>
          </a:p>
          <a:p>
            <a:pPr marL="228600" indent="-228600"/>
            <a:r>
              <a:rPr lang="en-IN" sz="1200" dirty="0"/>
              <a:t>The elements of the transpose matrix are as follows:</a:t>
            </a:r>
          </a:p>
          <a:p>
            <a:pPr marL="342900" indent="-342900">
              <a:buAutoNum type="arabicPlain" startAt="60"/>
            </a:pPr>
            <a:r>
              <a:rPr lang="en-IN" sz="1200" dirty="0"/>
              <a:t>82	65</a:t>
            </a:r>
          </a:p>
          <a:p>
            <a:pPr marL="342900" indent="-342900">
              <a:buAutoNum type="arabicPlain" startAt="70"/>
            </a:pPr>
            <a:r>
              <a:rPr lang="en-IN" sz="1200" dirty="0"/>
              <a:t>75	76</a:t>
            </a:r>
          </a:p>
          <a:p>
            <a:pPr marL="342900" indent="-342900">
              <a:buAutoNum type="arabicPlain" startAt="90"/>
            </a:pPr>
            <a:r>
              <a:rPr lang="en-IN" sz="1200" dirty="0"/>
              <a:t>87	86</a:t>
            </a:r>
          </a:p>
          <a:p>
            <a:pPr marL="342900" indent="-342900"/>
            <a:r>
              <a:rPr lang="en-IN" sz="1200" dirty="0"/>
              <a:t>95	94	96</a:t>
            </a:r>
          </a:p>
          <a:p>
            <a:pPr marL="342900" indent="-342900"/>
            <a:endParaRPr lang="en-IN" sz="1200" dirty="0"/>
          </a:p>
        </p:txBody>
      </p:sp>
      <p:sp>
        <p:nvSpPr>
          <p:cNvPr id="5" name="TextBox 4"/>
          <p:cNvSpPr txBox="1"/>
          <p:nvPr/>
        </p:nvSpPr>
        <p:spPr>
          <a:xfrm>
            <a:off x="685800" y="1981200"/>
            <a:ext cx="990600" cy="369332"/>
          </a:xfrm>
          <a:prstGeom prst="rect">
            <a:avLst/>
          </a:prstGeom>
          <a:noFill/>
        </p:spPr>
        <p:txBody>
          <a:bodyPr wrap="square" rtlCol="0">
            <a:spAutoFit/>
          </a:bodyPr>
          <a:lstStyle/>
          <a:p>
            <a:r>
              <a:rPr lang="en-IN" b="1" dirty="0"/>
              <a:t>output</a:t>
            </a:r>
          </a:p>
        </p:txBody>
      </p:sp>
      <p:graphicFrame>
        <p:nvGraphicFramePr>
          <p:cNvPr id="6" name="Table 5"/>
          <p:cNvGraphicFramePr>
            <a:graphicFrameLocks noGrp="1"/>
          </p:cNvGraphicFramePr>
          <p:nvPr/>
        </p:nvGraphicFramePr>
        <p:xfrm>
          <a:off x="381000" y="4953000"/>
          <a:ext cx="3505200" cy="1107440"/>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20000"/>
                    </a:ext>
                  </a:extLst>
                </a:gridCol>
                <a:gridCol w="876300">
                  <a:extLst>
                    <a:ext uri="{9D8B030D-6E8A-4147-A177-3AD203B41FA5}">
                      <a16:colId xmlns:a16="http://schemas.microsoft.com/office/drawing/2014/main" val="20001"/>
                    </a:ext>
                  </a:extLst>
                </a:gridCol>
                <a:gridCol w="876300">
                  <a:extLst>
                    <a:ext uri="{9D8B030D-6E8A-4147-A177-3AD203B41FA5}">
                      <a16:colId xmlns:a16="http://schemas.microsoft.com/office/drawing/2014/main" val="20002"/>
                    </a:ext>
                  </a:extLst>
                </a:gridCol>
                <a:gridCol w="876300">
                  <a:extLst>
                    <a:ext uri="{9D8B030D-6E8A-4147-A177-3AD203B41FA5}">
                      <a16:colId xmlns:a16="http://schemas.microsoft.com/office/drawing/2014/main" val="20003"/>
                    </a:ext>
                  </a:extLst>
                </a:gridCol>
              </a:tblGrid>
              <a:tr h="0">
                <a:tc>
                  <a:txBody>
                    <a:bodyPr/>
                    <a:lstStyle/>
                    <a:p>
                      <a:r>
                        <a:rPr lang="en-IN" b="0" dirty="0">
                          <a:solidFill>
                            <a:schemeClr val="tx1"/>
                          </a:solidFill>
                        </a:rPr>
                        <a:t>60</a:t>
                      </a:r>
                    </a:p>
                  </a:txBody>
                  <a:tcPr>
                    <a:solidFill>
                      <a:schemeClr val="bg1">
                        <a:lumMod val="85000"/>
                      </a:schemeClr>
                    </a:solidFill>
                  </a:tcPr>
                </a:tc>
                <a:tc>
                  <a:txBody>
                    <a:bodyPr/>
                    <a:lstStyle/>
                    <a:p>
                      <a:r>
                        <a:rPr lang="en-IN" b="0" dirty="0">
                          <a:solidFill>
                            <a:schemeClr val="tx1"/>
                          </a:solidFill>
                        </a:rPr>
                        <a:t>70</a:t>
                      </a:r>
                    </a:p>
                  </a:txBody>
                  <a:tcPr>
                    <a:solidFill>
                      <a:schemeClr val="bg1">
                        <a:lumMod val="85000"/>
                      </a:schemeClr>
                    </a:solidFill>
                  </a:tcPr>
                </a:tc>
                <a:tc>
                  <a:txBody>
                    <a:bodyPr/>
                    <a:lstStyle/>
                    <a:p>
                      <a:r>
                        <a:rPr lang="en-IN" b="0" dirty="0">
                          <a:solidFill>
                            <a:schemeClr val="tx1"/>
                          </a:solidFill>
                        </a:rPr>
                        <a:t>90</a:t>
                      </a:r>
                    </a:p>
                  </a:txBody>
                  <a:tcPr>
                    <a:solidFill>
                      <a:schemeClr val="bg1">
                        <a:lumMod val="85000"/>
                      </a:schemeClr>
                    </a:solidFill>
                  </a:tcPr>
                </a:tc>
                <a:tc>
                  <a:txBody>
                    <a:bodyPr/>
                    <a:lstStyle/>
                    <a:p>
                      <a:r>
                        <a:rPr lang="en-IN" b="0" dirty="0">
                          <a:solidFill>
                            <a:schemeClr val="tx1"/>
                          </a:solidFill>
                        </a:rPr>
                        <a:t>95</a:t>
                      </a:r>
                    </a:p>
                  </a:txBody>
                  <a:tcPr>
                    <a:solidFill>
                      <a:schemeClr val="bg1">
                        <a:lumMod val="85000"/>
                      </a:schemeClr>
                    </a:solidFill>
                  </a:tcPr>
                </a:tc>
                <a:extLst>
                  <a:ext uri="{0D108BD9-81ED-4DB2-BD59-A6C34878D82A}">
                    <a16:rowId xmlns:a16="http://schemas.microsoft.com/office/drawing/2014/main" val="10000"/>
                  </a:ext>
                </a:extLst>
              </a:tr>
              <a:tr h="370840">
                <a:tc>
                  <a:txBody>
                    <a:bodyPr/>
                    <a:lstStyle/>
                    <a:p>
                      <a:r>
                        <a:rPr lang="en-IN" b="0" dirty="0">
                          <a:solidFill>
                            <a:schemeClr val="tx1"/>
                          </a:solidFill>
                        </a:rPr>
                        <a:t>82</a:t>
                      </a:r>
                    </a:p>
                  </a:txBody>
                  <a:tcPr>
                    <a:solidFill>
                      <a:schemeClr val="bg1">
                        <a:lumMod val="85000"/>
                      </a:schemeClr>
                    </a:solidFill>
                  </a:tcPr>
                </a:tc>
                <a:tc>
                  <a:txBody>
                    <a:bodyPr/>
                    <a:lstStyle/>
                    <a:p>
                      <a:r>
                        <a:rPr lang="en-IN" b="0" dirty="0">
                          <a:solidFill>
                            <a:schemeClr val="tx1"/>
                          </a:solidFill>
                        </a:rPr>
                        <a:t>75</a:t>
                      </a:r>
                    </a:p>
                  </a:txBody>
                  <a:tcPr>
                    <a:solidFill>
                      <a:schemeClr val="bg1">
                        <a:lumMod val="85000"/>
                      </a:schemeClr>
                    </a:solidFill>
                  </a:tcPr>
                </a:tc>
                <a:tc>
                  <a:txBody>
                    <a:bodyPr/>
                    <a:lstStyle/>
                    <a:p>
                      <a:r>
                        <a:rPr lang="en-IN" b="0" dirty="0">
                          <a:solidFill>
                            <a:schemeClr val="tx1"/>
                          </a:solidFill>
                        </a:rPr>
                        <a:t>87</a:t>
                      </a:r>
                    </a:p>
                  </a:txBody>
                  <a:tcPr>
                    <a:solidFill>
                      <a:schemeClr val="bg1">
                        <a:lumMod val="85000"/>
                      </a:schemeClr>
                    </a:solidFill>
                  </a:tcPr>
                </a:tc>
                <a:tc>
                  <a:txBody>
                    <a:bodyPr/>
                    <a:lstStyle/>
                    <a:p>
                      <a:r>
                        <a:rPr lang="en-IN" b="0" dirty="0">
                          <a:solidFill>
                            <a:schemeClr val="tx1"/>
                          </a:solidFill>
                        </a:rPr>
                        <a:t>94</a:t>
                      </a:r>
                    </a:p>
                  </a:txBody>
                  <a:tcPr>
                    <a:solidFill>
                      <a:schemeClr val="bg1">
                        <a:lumMod val="85000"/>
                      </a:schemeClr>
                    </a:solidFill>
                  </a:tcPr>
                </a:tc>
                <a:extLst>
                  <a:ext uri="{0D108BD9-81ED-4DB2-BD59-A6C34878D82A}">
                    <a16:rowId xmlns:a16="http://schemas.microsoft.com/office/drawing/2014/main" val="10001"/>
                  </a:ext>
                </a:extLst>
              </a:tr>
              <a:tr h="370840">
                <a:tc>
                  <a:txBody>
                    <a:bodyPr/>
                    <a:lstStyle/>
                    <a:p>
                      <a:r>
                        <a:rPr lang="en-IN" b="0" dirty="0">
                          <a:solidFill>
                            <a:schemeClr val="tx1"/>
                          </a:solidFill>
                        </a:rPr>
                        <a:t>65</a:t>
                      </a:r>
                    </a:p>
                  </a:txBody>
                  <a:tcPr>
                    <a:solidFill>
                      <a:schemeClr val="bg1">
                        <a:lumMod val="85000"/>
                      </a:schemeClr>
                    </a:solidFill>
                  </a:tcPr>
                </a:tc>
                <a:tc>
                  <a:txBody>
                    <a:bodyPr/>
                    <a:lstStyle/>
                    <a:p>
                      <a:r>
                        <a:rPr lang="en-IN" b="0" dirty="0">
                          <a:solidFill>
                            <a:schemeClr val="tx1"/>
                          </a:solidFill>
                        </a:rPr>
                        <a:t>76</a:t>
                      </a:r>
                    </a:p>
                  </a:txBody>
                  <a:tcPr>
                    <a:solidFill>
                      <a:schemeClr val="bg1">
                        <a:lumMod val="85000"/>
                      </a:schemeClr>
                    </a:solidFill>
                  </a:tcPr>
                </a:tc>
                <a:tc>
                  <a:txBody>
                    <a:bodyPr/>
                    <a:lstStyle/>
                    <a:p>
                      <a:r>
                        <a:rPr lang="en-IN" b="0" dirty="0">
                          <a:solidFill>
                            <a:schemeClr val="tx1"/>
                          </a:solidFill>
                        </a:rPr>
                        <a:t>86</a:t>
                      </a:r>
                    </a:p>
                  </a:txBody>
                  <a:tcPr>
                    <a:solidFill>
                      <a:schemeClr val="bg1">
                        <a:lumMod val="85000"/>
                      </a:schemeClr>
                    </a:solidFill>
                  </a:tcPr>
                </a:tc>
                <a:tc>
                  <a:txBody>
                    <a:bodyPr/>
                    <a:lstStyle/>
                    <a:p>
                      <a:r>
                        <a:rPr lang="en-IN" b="0" dirty="0">
                          <a:solidFill>
                            <a:schemeClr val="tx1"/>
                          </a:solidFill>
                        </a:rPr>
                        <a:t>96</a:t>
                      </a:r>
                    </a:p>
                  </a:txBody>
                  <a:tcPr>
                    <a:solidFill>
                      <a:schemeClr val="bg1">
                        <a:lumMod val="85000"/>
                      </a:schemeClr>
                    </a:solidFill>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5" name="Content Placeholder 4"/>
          <p:cNvGraphicFramePr>
            <a:graphicFrameLocks noGrp="1"/>
          </p:cNvGraphicFramePr>
          <p:nvPr>
            <p:ph idx="1"/>
          </p:nvPr>
        </p:nvGraphicFramePr>
        <p:xfrm>
          <a:off x="762000" y="4267200"/>
          <a:ext cx="3429000" cy="148336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370840">
                <a:tc>
                  <a:txBody>
                    <a:bodyPr/>
                    <a:lstStyle/>
                    <a:p>
                      <a:r>
                        <a:rPr lang="en-IN" dirty="0">
                          <a:solidFill>
                            <a:srgbClr val="00B050"/>
                          </a:solidFill>
                        </a:rPr>
                        <a:t>60</a:t>
                      </a:r>
                    </a:p>
                  </a:txBody>
                  <a:tcPr>
                    <a:solidFill>
                      <a:schemeClr val="bg1">
                        <a:lumMod val="85000"/>
                      </a:schemeClr>
                    </a:solidFill>
                  </a:tcPr>
                </a:tc>
                <a:tc>
                  <a:txBody>
                    <a:bodyPr/>
                    <a:lstStyle/>
                    <a:p>
                      <a:r>
                        <a:rPr lang="en-IN" b="0" dirty="0">
                          <a:solidFill>
                            <a:srgbClr val="FF0000"/>
                          </a:solidFill>
                        </a:rPr>
                        <a:t>82</a:t>
                      </a:r>
                    </a:p>
                  </a:txBody>
                  <a:tcPr>
                    <a:solidFill>
                      <a:schemeClr val="bg1">
                        <a:lumMod val="85000"/>
                      </a:schemeClr>
                    </a:solidFill>
                  </a:tcPr>
                </a:tc>
                <a:tc>
                  <a:txBody>
                    <a:bodyPr/>
                    <a:lstStyle/>
                    <a:p>
                      <a:r>
                        <a:rPr lang="en-IN" b="0" dirty="0">
                          <a:solidFill>
                            <a:schemeClr val="accent5">
                              <a:lumMod val="50000"/>
                            </a:schemeClr>
                          </a:solidFill>
                        </a:rPr>
                        <a:t>65</a:t>
                      </a:r>
                    </a:p>
                  </a:txBody>
                  <a:tcPr>
                    <a:solidFill>
                      <a:schemeClr val="bg1">
                        <a:lumMod val="85000"/>
                      </a:schemeClr>
                    </a:solidFill>
                  </a:tcPr>
                </a:tc>
                <a:extLst>
                  <a:ext uri="{0D108BD9-81ED-4DB2-BD59-A6C34878D82A}">
                    <a16:rowId xmlns:a16="http://schemas.microsoft.com/office/drawing/2014/main" val="10000"/>
                  </a:ext>
                </a:extLst>
              </a:tr>
              <a:tr h="370840">
                <a:tc>
                  <a:txBody>
                    <a:bodyPr/>
                    <a:lstStyle/>
                    <a:p>
                      <a:r>
                        <a:rPr lang="en-IN" dirty="0">
                          <a:solidFill>
                            <a:srgbClr val="00B050"/>
                          </a:solidFill>
                        </a:rPr>
                        <a:t>70</a:t>
                      </a:r>
                    </a:p>
                  </a:txBody>
                  <a:tcPr>
                    <a:solidFill>
                      <a:schemeClr val="bg1">
                        <a:lumMod val="85000"/>
                      </a:schemeClr>
                    </a:solidFill>
                  </a:tcPr>
                </a:tc>
                <a:tc>
                  <a:txBody>
                    <a:bodyPr/>
                    <a:lstStyle/>
                    <a:p>
                      <a:r>
                        <a:rPr lang="en-IN" b="0" dirty="0">
                          <a:solidFill>
                            <a:srgbClr val="FF0000"/>
                          </a:solidFill>
                        </a:rPr>
                        <a:t>75</a:t>
                      </a:r>
                    </a:p>
                  </a:txBody>
                  <a:tcPr>
                    <a:solidFill>
                      <a:schemeClr val="bg1">
                        <a:lumMod val="85000"/>
                      </a:schemeClr>
                    </a:solidFill>
                  </a:tcPr>
                </a:tc>
                <a:tc>
                  <a:txBody>
                    <a:bodyPr/>
                    <a:lstStyle/>
                    <a:p>
                      <a:r>
                        <a:rPr lang="en-IN" b="0" dirty="0">
                          <a:solidFill>
                            <a:schemeClr val="accent5">
                              <a:lumMod val="50000"/>
                            </a:schemeClr>
                          </a:solidFill>
                        </a:rPr>
                        <a:t>76</a:t>
                      </a:r>
                    </a:p>
                  </a:txBody>
                  <a:tcPr>
                    <a:solidFill>
                      <a:schemeClr val="bg1">
                        <a:lumMod val="85000"/>
                      </a:schemeClr>
                    </a:solidFill>
                  </a:tcPr>
                </a:tc>
                <a:extLst>
                  <a:ext uri="{0D108BD9-81ED-4DB2-BD59-A6C34878D82A}">
                    <a16:rowId xmlns:a16="http://schemas.microsoft.com/office/drawing/2014/main" val="10001"/>
                  </a:ext>
                </a:extLst>
              </a:tr>
              <a:tr h="370840">
                <a:tc>
                  <a:txBody>
                    <a:bodyPr/>
                    <a:lstStyle/>
                    <a:p>
                      <a:r>
                        <a:rPr lang="en-IN" dirty="0">
                          <a:solidFill>
                            <a:srgbClr val="00B050"/>
                          </a:solidFill>
                        </a:rPr>
                        <a:t>90</a:t>
                      </a:r>
                    </a:p>
                  </a:txBody>
                  <a:tcPr>
                    <a:solidFill>
                      <a:schemeClr val="bg1">
                        <a:lumMod val="85000"/>
                      </a:schemeClr>
                    </a:solidFill>
                  </a:tcPr>
                </a:tc>
                <a:tc>
                  <a:txBody>
                    <a:bodyPr/>
                    <a:lstStyle/>
                    <a:p>
                      <a:r>
                        <a:rPr lang="en-IN" b="0" dirty="0">
                          <a:solidFill>
                            <a:srgbClr val="FF0000"/>
                          </a:solidFill>
                        </a:rPr>
                        <a:t>87</a:t>
                      </a:r>
                    </a:p>
                  </a:txBody>
                  <a:tcPr>
                    <a:solidFill>
                      <a:schemeClr val="bg1">
                        <a:lumMod val="85000"/>
                      </a:schemeClr>
                    </a:solidFill>
                  </a:tcPr>
                </a:tc>
                <a:tc>
                  <a:txBody>
                    <a:bodyPr/>
                    <a:lstStyle/>
                    <a:p>
                      <a:r>
                        <a:rPr lang="en-IN" b="0" dirty="0">
                          <a:solidFill>
                            <a:schemeClr val="accent5">
                              <a:lumMod val="50000"/>
                            </a:schemeClr>
                          </a:solidFill>
                        </a:rPr>
                        <a:t>86</a:t>
                      </a:r>
                    </a:p>
                  </a:txBody>
                  <a:tcPr>
                    <a:solidFill>
                      <a:schemeClr val="bg1">
                        <a:lumMod val="85000"/>
                      </a:schemeClr>
                    </a:solidFill>
                  </a:tcPr>
                </a:tc>
                <a:extLst>
                  <a:ext uri="{0D108BD9-81ED-4DB2-BD59-A6C34878D82A}">
                    <a16:rowId xmlns:a16="http://schemas.microsoft.com/office/drawing/2014/main" val="10002"/>
                  </a:ext>
                </a:extLst>
              </a:tr>
              <a:tr h="370840">
                <a:tc>
                  <a:txBody>
                    <a:bodyPr/>
                    <a:lstStyle/>
                    <a:p>
                      <a:r>
                        <a:rPr lang="en-IN" dirty="0">
                          <a:solidFill>
                            <a:srgbClr val="00B050"/>
                          </a:solidFill>
                        </a:rPr>
                        <a:t>95</a:t>
                      </a:r>
                    </a:p>
                  </a:txBody>
                  <a:tcPr>
                    <a:solidFill>
                      <a:schemeClr val="bg1">
                        <a:lumMod val="85000"/>
                      </a:schemeClr>
                    </a:solidFill>
                  </a:tcPr>
                </a:tc>
                <a:tc>
                  <a:txBody>
                    <a:bodyPr/>
                    <a:lstStyle/>
                    <a:p>
                      <a:r>
                        <a:rPr lang="en-IN" b="0" dirty="0">
                          <a:solidFill>
                            <a:srgbClr val="FF0000"/>
                          </a:solidFill>
                        </a:rPr>
                        <a:t>94</a:t>
                      </a:r>
                    </a:p>
                  </a:txBody>
                  <a:tcPr>
                    <a:solidFill>
                      <a:schemeClr val="bg1">
                        <a:lumMod val="85000"/>
                      </a:schemeClr>
                    </a:solidFill>
                  </a:tcPr>
                </a:tc>
                <a:tc>
                  <a:txBody>
                    <a:bodyPr/>
                    <a:lstStyle/>
                    <a:p>
                      <a:r>
                        <a:rPr lang="en-IN" b="0" dirty="0">
                          <a:solidFill>
                            <a:schemeClr val="accent5">
                              <a:lumMod val="50000"/>
                            </a:schemeClr>
                          </a:solidFill>
                        </a:rPr>
                        <a:t>96</a:t>
                      </a:r>
                    </a:p>
                  </a:txBody>
                  <a:tcPr>
                    <a:solidFill>
                      <a:schemeClr val="bg1">
                        <a:lumMod val="85000"/>
                      </a:schemeClr>
                    </a:solidFill>
                  </a:tcPr>
                </a:tc>
                <a:extLst>
                  <a:ext uri="{0D108BD9-81ED-4DB2-BD59-A6C34878D82A}">
                    <a16:rowId xmlns:a16="http://schemas.microsoft.com/office/drawing/2014/main" val="10003"/>
                  </a:ext>
                </a:extLst>
              </a:tr>
            </a:tbl>
          </a:graphicData>
        </a:graphic>
      </p:graphicFrame>
      <p:graphicFrame>
        <p:nvGraphicFramePr>
          <p:cNvPr id="4" name="Table 3"/>
          <p:cNvGraphicFramePr>
            <a:graphicFrameLocks noGrp="1"/>
          </p:cNvGraphicFramePr>
          <p:nvPr/>
        </p:nvGraphicFramePr>
        <p:xfrm>
          <a:off x="762000" y="2438400"/>
          <a:ext cx="3505200" cy="1107440"/>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20000"/>
                    </a:ext>
                  </a:extLst>
                </a:gridCol>
                <a:gridCol w="876300">
                  <a:extLst>
                    <a:ext uri="{9D8B030D-6E8A-4147-A177-3AD203B41FA5}">
                      <a16:colId xmlns:a16="http://schemas.microsoft.com/office/drawing/2014/main" val="20001"/>
                    </a:ext>
                  </a:extLst>
                </a:gridCol>
                <a:gridCol w="876300">
                  <a:extLst>
                    <a:ext uri="{9D8B030D-6E8A-4147-A177-3AD203B41FA5}">
                      <a16:colId xmlns:a16="http://schemas.microsoft.com/office/drawing/2014/main" val="20002"/>
                    </a:ext>
                  </a:extLst>
                </a:gridCol>
                <a:gridCol w="876300">
                  <a:extLst>
                    <a:ext uri="{9D8B030D-6E8A-4147-A177-3AD203B41FA5}">
                      <a16:colId xmlns:a16="http://schemas.microsoft.com/office/drawing/2014/main" val="20003"/>
                    </a:ext>
                  </a:extLst>
                </a:gridCol>
              </a:tblGrid>
              <a:tr h="0">
                <a:tc>
                  <a:txBody>
                    <a:bodyPr/>
                    <a:lstStyle/>
                    <a:p>
                      <a:r>
                        <a:rPr lang="en-IN" dirty="0">
                          <a:solidFill>
                            <a:srgbClr val="00B050"/>
                          </a:solidFill>
                        </a:rPr>
                        <a:t>60</a:t>
                      </a:r>
                    </a:p>
                  </a:txBody>
                  <a:tcPr>
                    <a:solidFill>
                      <a:schemeClr val="bg1">
                        <a:lumMod val="85000"/>
                      </a:schemeClr>
                    </a:solidFill>
                  </a:tcPr>
                </a:tc>
                <a:tc>
                  <a:txBody>
                    <a:bodyPr/>
                    <a:lstStyle/>
                    <a:p>
                      <a:r>
                        <a:rPr lang="en-IN" dirty="0">
                          <a:solidFill>
                            <a:srgbClr val="00B050"/>
                          </a:solidFill>
                        </a:rPr>
                        <a:t>70</a:t>
                      </a:r>
                    </a:p>
                  </a:txBody>
                  <a:tcPr>
                    <a:solidFill>
                      <a:schemeClr val="bg1">
                        <a:lumMod val="85000"/>
                      </a:schemeClr>
                    </a:solidFill>
                  </a:tcPr>
                </a:tc>
                <a:tc>
                  <a:txBody>
                    <a:bodyPr/>
                    <a:lstStyle/>
                    <a:p>
                      <a:r>
                        <a:rPr lang="en-IN" dirty="0">
                          <a:solidFill>
                            <a:srgbClr val="00B050"/>
                          </a:solidFill>
                        </a:rPr>
                        <a:t>90</a:t>
                      </a:r>
                    </a:p>
                  </a:txBody>
                  <a:tcPr>
                    <a:solidFill>
                      <a:schemeClr val="bg1">
                        <a:lumMod val="85000"/>
                      </a:schemeClr>
                    </a:solidFill>
                  </a:tcPr>
                </a:tc>
                <a:tc>
                  <a:txBody>
                    <a:bodyPr/>
                    <a:lstStyle/>
                    <a:p>
                      <a:r>
                        <a:rPr lang="en-IN" dirty="0">
                          <a:solidFill>
                            <a:srgbClr val="00B050"/>
                          </a:solidFill>
                        </a:rPr>
                        <a:t>95</a:t>
                      </a:r>
                    </a:p>
                  </a:txBody>
                  <a:tcPr>
                    <a:solidFill>
                      <a:schemeClr val="bg1">
                        <a:lumMod val="85000"/>
                      </a:schemeClr>
                    </a:solidFill>
                  </a:tcPr>
                </a:tc>
                <a:extLst>
                  <a:ext uri="{0D108BD9-81ED-4DB2-BD59-A6C34878D82A}">
                    <a16:rowId xmlns:a16="http://schemas.microsoft.com/office/drawing/2014/main" val="10000"/>
                  </a:ext>
                </a:extLst>
              </a:tr>
              <a:tr h="370840">
                <a:tc>
                  <a:txBody>
                    <a:bodyPr/>
                    <a:lstStyle/>
                    <a:p>
                      <a:r>
                        <a:rPr lang="en-IN" dirty="0">
                          <a:solidFill>
                            <a:srgbClr val="FF0000"/>
                          </a:solidFill>
                        </a:rPr>
                        <a:t>82</a:t>
                      </a:r>
                    </a:p>
                  </a:txBody>
                  <a:tcPr>
                    <a:solidFill>
                      <a:schemeClr val="bg1">
                        <a:lumMod val="85000"/>
                      </a:schemeClr>
                    </a:solidFill>
                  </a:tcPr>
                </a:tc>
                <a:tc>
                  <a:txBody>
                    <a:bodyPr/>
                    <a:lstStyle/>
                    <a:p>
                      <a:r>
                        <a:rPr lang="en-IN" dirty="0">
                          <a:solidFill>
                            <a:srgbClr val="FF0000"/>
                          </a:solidFill>
                        </a:rPr>
                        <a:t>75</a:t>
                      </a:r>
                    </a:p>
                  </a:txBody>
                  <a:tcPr>
                    <a:solidFill>
                      <a:schemeClr val="bg1">
                        <a:lumMod val="85000"/>
                      </a:schemeClr>
                    </a:solidFill>
                  </a:tcPr>
                </a:tc>
                <a:tc>
                  <a:txBody>
                    <a:bodyPr/>
                    <a:lstStyle/>
                    <a:p>
                      <a:r>
                        <a:rPr lang="en-IN" dirty="0">
                          <a:solidFill>
                            <a:srgbClr val="FF0000"/>
                          </a:solidFill>
                        </a:rPr>
                        <a:t>87</a:t>
                      </a:r>
                    </a:p>
                  </a:txBody>
                  <a:tcPr>
                    <a:solidFill>
                      <a:schemeClr val="bg1">
                        <a:lumMod val="85000"/>
                      </a:schemeClr>
                    </a:solidFill>
                  </a:tcPr>
                </a:tc>
                <a:tc>
                  <a:txBody>
                    <a:bodyPr/>
                    <a:lstStyle/>
                    <a:p>
                      <a:r>
                        <a:rPr lang="en-IN" dirty="0">
                          <a:solidFill>
                            <a:srgbClr val="FF0000"/>
                          </a:solidFill>
                        </a:rPr>
                        <a:t>94</a:t>
                      </a:r>
                    </a:p>
                  </a:txBody>
                  <a:tcPr>
                    <a:solidFill>
                      <a:schemeClr val="bg1">
                        <a:lumMod val="85000"/>
                      </a:schemeClr>
                    </a:solidFill>
                  </a:tcPr>
                </a:tc>
                <a:extLst>
                  <a:ext uri="{0D108BD9-81ED-4DB2-BD59-A6C34878D82A}">
                    <a16:rowId xmlns:a16="http://schemas.microsoft.com/office/drawing/2014/main" val="10001"/>
                  </a:ext>
                </a:extLst>
              </a:tr>
              <a:tr h="370840">
                <a:tc>
                  <a:txBody>
                    <a:bodyPr/>
                    <a:lstStyle/>
                    <a:p>
                      <a:r>
                        <a:rPr lang="en-IN" dirty="0">
                          <a:solidFill>
                            <a:schemeClr val="accent5">
                              <a:lumMod val="50000"/>
                            </a:schemeClr>
                          </a:solidFill>
                        </a:rPr>
                        <a:t>65</a:t>
                      </a:r>
                    </a:p>
                  </a:txBody>
                  <a:tcPr>
                    <a:solidFill>
                      <a:schemeClr val="bg1">
                        <a:lumMod val="85000"/>
                      </a:schemeClr>
                    </a:solidFill>
                  </a:tcPr>
                </a:tc>
                <a:tc>
                  <a:txBody>
                    <a:bodyPr/>
                    <a:lstStyle/>
                    <a:p>
                      <a:r>
                        <a:rPr lang="en-IN" dirty="0">
                          <a:solidFill>
                            <a:schemeClr val="accent5">
                              <a:lumMod val="50000"/>
                            </a:schemeClr>
                          </a:solidFill>
                        </a:rPr>
                        <a:t>76</a:t>
                      </a:r>
                    </a:p>
                  </a:txBody>
                  <a:tcPr>
                    <a:solidFill>
                      <a:schemeClr val="bg1">
                        <a:lumMod val="85000"/>
                      </a:schemeClr>
                    </a:solidFill>
                  </a:tcPr>
                </a:tc>
                <a:tc>
                  <a:txBody>
                    <a:bodyPr/>
                    <a:lstStyle/>
                    <a:p>
                      <a:r>
                        <a:rPr lang="en-IN" dirty="0">
                          <a:solidFill>
                            <a:schemeClr val="accent5">
                              <a:lumMod val="50000"/>
                            </a:schemeClr>
                          </a:solidFill>
                        </a:rPr>
                        <a:t>86</a:t>
                      </a:r>
                    </a:p>
                  </a:txBody>
                  <a:tcPr>
                    <a:solidFill>
                      <a:schemeClr val="bg1">
                        <a:lumMod val="85000"/>
                      </a:schemeClr>
                    </a:solidFill>
                  </a:tcPr>
                </a:tc>
                <a:tc>
                  <a:txBody>
                    <a:bodyPr/>
                    <a:lstStyle/>
                    <a:p>
                      <a:r>
                        <a:rPr lang="en-IN" dirty="0">
                          <a:solidFill>
                            <a:schemeClr val="accent5">
                              <a:lumMod val="50000"/>
                            </a:schemeClr>
                          </a:solidFill>
                        </a:rPr>
                        <a:t>96</a:t>
                      </a:r>
                    </a:p>
                  </a:txBody>
                  <a:tcPr>
                    <a:solidFill>
                      <a:schemeClr val="bg1">
                        <a:lumMod val="85000"/>
                      </a:schemeClr>
                    </a:solidFill>
                  </a:tcPr>
                </a:tc>
                <a:extLst>
                  <a:ext uri="{0D108BD9-81ED-4DB2-BD59-A6C34878D82A}">
                    <a16:rowId xmlns:a16="http://schemas.microsoft.com/office/drawing/2014/main" val="10002"/>
                  </a:ext>
                </a:extLst>
              </a:tr>
            </a:tbl>
          </a:graphicData>
        </a:graphic>
      </p:graphicFrame>
      <p:sp>
        <p:nvSpPr>
          <p:cNvPr id="8" name="TextBox 7"/>
          <p:cNvSpPr txBox="1"/>
          <p:nvPr/>
        </p:nvSpPr>
        <p:spPr>
          <a:xfrm>
            <a:off x="685800" y="1905000"/>
            <a:ext cx="609600" cy="369332"/>
          </a:xfrm>
          <a:prstGeom prst="rect">
            <a:avLst/>
          </a:prstGeom>
          <a:noFill/>
        </p:spPr>
        <p:txBody>
          <a:bodyPr wrap="square" rtlCol="0">
            <a:spAutoFit/>
          </a:bodyPr>
          <a:lstStyle/>
          <a:p>
            <a:r>
              <a:rPr lang="en-IN" dirty="0" err="1"/>
              <a:t>arr</a:t>
            </a:r>
            <a:endParaRPr lang="en-IN" dirty="0"/>
          </a:p>
        </p:txBody>
      </p:sp>
      <p:sp>
        <p:nvSpPr>
          <p:cNvPr id="9" name="TextBox 8"/>
          <p:cNvSpPr txBox="1"/>
          <p:nvPr/>
        </p:nvSpPr>
        <p:spPr>
          <a:xfrm>
            <a:off x="762000" y="3810000"/>
            <a:ext cx="838200" cy="369332"/>
          </a:xfrm>
          <a:prstGeom prst="rect">
            <a:avLst/>
          </a:prstGeom>
          <a:noFill/>
        </p:spPr>
        <p:txBody>
          <a:bodyPr wrap="square" rtlCol="0">
            <a:spAutoFit/>
          </a:bodyPr>
          <a:lstStyle/>
          <a:p>
            <a:r>
              <a:rPr lang="en-IN" dirty="0"/>
              <a:t>trans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867400"/>
          </a:xfrm>
        </p:spPr>
        <p:txBody>
          <a:bodyPr>
            <a:noAutofit/>
          </a:bodyPr>
          <a:lstStyle/>
          <a:p>
            <a:pPr>
              <a:buNone/>
            </a:pPr>
            <a:r>
              <a:rPr lang="en-US" sz="1600" dirty="0"/>
              <a:t>#include &lt;</a:t>
            </a:r>
            <a:r>
              <a:rPr lang="en-US" sz="1600" dirty="0" err="1"/>
              <a:t>stdio.h</a:t>
            </a:r>
            <a:r>
              <a:rPr lang="en-US" sz="1600" dirty="0"/>
              <a:t>&gt;</a:t>
            </a:r>
          </a:p>
          <a:p>
            <a:pPr>
              <a:buNone/>
            </a:pPr>
            <a:r>
              <a:rPr lang="en-US" sz="1600" dirty="0"/>
              <a:t>main()</a:t>
            </a:r>
          </a:p>
          <a:p>
            <a:pPr>
              <a:buNone/>
            </a:pPr>
            <a:r>
              <a:rPr lang="en-US" sz="1600" dirty="0"/>
              <a:t>{</a:t>
            </a:r>
          </a:p>
          <a:p>
            <a:pPr>
              <a:buNone/>
            </a:pPr>
            <a:r>
              <a:rPr lang="en-US" sz="1600" dirty="0"/>
              <a:t>		</a:t>
            </a:r>
            <a:r>
              <a:rPr lang="en-US" sz="1600" dirty="0" err="1"/>
              <a:t>int</a:t>
            </a:r>
            <a:r>
              <a:rPr lang="en-US" sz="1600" dirty="0"/>
              <a:t> i, j, </a:t>
            </a:r>
            <a:r>
              <a:rPr lang="en-US" sz="1600" dirty="0" err="1"/>
              <a:t>arr</a:t>
            </a:r>
            <a:r>
              <a:rPr lang="en-US" sz="1600" dirty="0"/>
              <a:t>[10][10],trans[10][10],</a:t>
            </a:r>
            <a:r>
              <a:rPr lang="en-US" sz="1600" dirty="0" err="1"/>
              <a:t>r,c</a:t>
            </a:r>
            <a:r>
              <a:rPr lang="en-US" sz="1600" dirty="0"/>
              <a:t>;</a:t>
            </a:r>
          </a:p>
          <a:p>
            <a:pPr>
              <a:buNone/>
            </a:pPr>
            <a:r>
              <a:rPr lang="en-US" sz="1600" dirty="0"/>
              <a:t>		</a:t>
            </a:r>
            <a:r>
              <a:rPr lang="en-IN" sz="1600" dirty="0" err="1"/>
              <a:t>printf</a:t>
            </a:r>
            <a:r>
              <a:rPr lang="en-IN" sz="1600" dirty="0"/>
              <a:t>("Enter number of row of matrix");</a:t>
            </a:r>
            <a:endParaRPr lang="en-US" sz="1600" dirty="0"/>
          </a:p>
          <a:p>
            <a:pPr>
              <a:buNone/>
            </a:pPr>
            <a:r>
              <a:rPr lang="en-US" sz="1600" dirty="0"/>
              <a:t>		</a:t>
            </a:r>
            <a:r>
              <a:rPr lang="en-US" sz="1600" dirty="0" err="1"/>
              <a:t>scanf</a:t>
            </a:r>
            <a:r>
              <a:rPr lang="en-US" sz="1600" dirty="0"/>
              <a:t>("%</a:t>
            </a:r>
            <a:r>
              <a:rPr lang="en-US" sz="1600" dirty="0" err="1"/>
              <a:t>d",&amp;r</a:t>
            </a:r>
            <a:r>
              <a:rPr lang="en-US" sz="1600" dirty="0"/>
              <a:t>);</a:t>
            </a:r>
          </a:p>
          <a:p>
            <a:pPr>
              <a:buNone/>
            </a:pPr>
            <a:r>
              <a:rPr lang="en-US" sz="1600" dirty="0"/>
              <a:t>		</a:t>
            </a:r>
            <a:r>
              <a:rPr lang="en-US" sz="1600" dirty="0" err="1"/>
              <a:t>printf</a:t>
            </a:r>
            <a:r>
              <a:rPr lang="en-US" sz="1600" dirty="0"/>
              <a:t>("Enter number of column of matrix");</a:t>
            </a:r>
          </a:p>
          <a:p>
            <a:pPr>
              <a:buNone/>
            </a:pPr>
            <a:r>
              <a:rPr lang="en-US" sz="1600" dirty="0"/>
              <a:t>		</a:t>
            </a:r>
            <a:r>
              <a:rPr lang="en-US" sz="1600" dirty="0" err="1"/>
              <a:t>scanf</a:t>
            </a:r>
            <a:r>
              <a:rPr lang="en-US" sz="1600" dirty="0"/>
              <a:t>("%</a:t>
            </a:r>
            <a:r>
              <a:rPr lang="en-US" sz="1600" dirty="0" err="1"/>
              <a:t>d",&amp;c</a:t>
            </a:r>
            <a:r>
              <a:rPr lang="en-US" sz="1600" dirty="0"/>
              <a:t>);</a:t>
            </a:r>
          </a:p>
          <a:p>
            <a:pPr>
              <a:buNone/>
            </a:pPr>
            <a:r>
              <a:rPr lang="en-US" sz="1600" dirty="0"/>
              <a:t>		</a:t>
            </a:r>
            <a:r>
              <a:rPr lang="en-US" sz="1600" dirty="0" err="1"/>
              <a:t>printf</a:t>
            </a:r>
            <a:r>
              <a:rPr lang="en-US" sz="1600" dirty="0"/>
              <a:t>("\n Enter the elements of the matrix:");</a:t>
            </a:r>
          </a:p>
          <a:p>
            <a:pPr>
              <a:buNone/>
            </a:pPr>
            <a:r>
              <a:rPr lang="en-US" sz="1600" dirty="0"/>
              <a:t>		for(i=0;i &lt;r; i++)</a:t>
            </a:r>
          </a:p>
          <a:p>
            <a:pPr>
              <a:buNone/>
            </a:pPr>
            <a:r>
              <a:rPr lang="en-US" sz="1600" dirty="0"/>
              <a:t>		{</a:t>
            </a:r>
          </a:p>
          <a:p>
            <a:pPr>
              <a:buNone/>
            </a:pPr>
            <a:r>
              <a:rPr lang="en-US" sz="1600" dirty="0"/>
              <a:t>			for(j=0;j&lt;</a:t>
            </a:r>
            <a:r>
              <a:rPr lang="en-US" sz="1600" dirty="0" err="1"/>
              <a:t>c;j</a:t>
            </a:r>
            <a:r>
              <a:rPr lang="en-US" sz="1600" dirty="0"/>
              <a:t>++)</a:t>
            </a:r>
          </a:p>
          <a:p>
            <a:pPr>
              <a:buNone/>
            </a:pPr>
            <a:r>
              <a:rPr lang="en-US" sz="1600" dirty="0"/>
              <a:t>			           </a:t>
            </a:r>
            <a:r>
              <a:rPr lang="en-US" sz="1600" dirty="0" err="1"/>
              <a:t>scanf</a:t>
            </a:r>
            <a:r>
              <a:rPr lang="en-US" sz="1600" dirty="0"/>
              <a:t>("%d", &amp;</a:t>
            </a:r>
            <a:r>
              <a:rPr lang="en-US" sz="1600" dirty="0" err="1"/>
              <a:t>arr</a:t>
            </a:r>
            <a:r>
              <a:rPr lang="en-US" sz="1600" dirty="0"/>
              <a:t>[i][j]);</a:t>
            </a:r>
          </a:p>
          <a:p>
            <a:pPr>
              <a:buNone/>
            </a:pPr>
            <a:r>
              <a:rPr lang="en-US" sz="1600" dirty="0"/>
              <a:t>		}</a:t>
            </a:r>
          </a:p>
          <a:p>
            <a:pPr>
              <a:buNone/>
            </a:pPr>
            <a:r>
              <a:rPr lang="en-US" sz="1600" dirty="0"/>
              <a:t>		for(i=0;i &lt;c; i++)</a:t>
            </a:r>
          </a:p>
          <a:p>
            <a:pPr>
              <a:buNone/>
            </a:pPr>
            <a:r>
              <a:rPr lang="en-US" sz="1600" dirty="0"/>
              <a:t>		{</a:t>
            </a:r>
          </a:p>
          <a:p>
            <a:pPr>
              <a:buNone/>
            </a:pPr>
            <a:r>
              <a:rPr lang="en-US" sz="1600" dirty="0"/>
              <a:t>			for(j=0;j&lt;</a:t>
            </a:r>
            <a:r>
              <a:rPr lang="en-US" sz="1600" dirty="0" err="1"/>
              <a:t>r;j</a:t>
            </a:r>
            <a:r>
              <a:rPr lang="en-US" sz="1600" dirty="0"/>
              <a:t>++)</a:t>
            </a:r>
          </a:p>
          <a:p>
            <a:pPr>
              <a:buNone/>
            </a:pPr>
            <a:r>
              <a:rPr lang="en-US" sz="1600" dirty="0"/>
              <a:t>				trans[i][j] = </a:t>
            </a:r>
            <a:r>
              <a:rPr lang="en-US" sz="1600" dirty="0" err="1"/>
              <a:t>arr</a:t>
            </a:r>
            <a:r>
              <a:rPr lang="en-US" sz="1600" dirty="0"/>
              <a:t>[j][i];</a:t>
            </a:r>
          </a:p>
          <a:p>
            <a:pPr>
              <a:buNone/>
            </a:pPr>
            <a:r>
              <a:rPr lang="en-US" sz="1600" dirty="0"/>
              <a:t>		}</a:t>
            </a:r>
          </a:p>
          <a:p>
            <a:pPr>
              <a:buNone/>
            </a:pPr>
            <a:endParaRPr lang="en-US" sz="1600" dirty="0"/>
          </a:p>
          <a:p>
            <a:pPr>
              <a:buNone/>
            </a:pPr>
            <a:endParaRPr lang="en-US" sz="1600" dirty="0"/>
          </a:p>
          <a:p>
            <a:pPr>
              <a:buNone/>
            </a:pPr>
            <a:r>
              <a:rPr lang="en-US" sz="1600" dirty="0"/>
              <a:t>		</a:t>
            </a:r>
            <a:endParaRPr lang="en-IN" sz="1600" dirty="0"/>
          </a:p>
        </p:txBody>
      </p:sp>
      <p:sp>
        <p:nvSpPr>
          <p:cNvPr id="5" name="Title 4"/>
          <p:cNvSpPr>
            <a:spLocks noGrp="1"/>
          </p:cNvSpPr>
          <p:nvPr>
            <p:ph type="title"/>
          </p:nvPr>
        </p:nvSpPr>
        <p:spPr>
          <a:xfrm>
            <a:off x="457200" y="274638"/>
            <a:ext cx="8229600" cy="334962"/>
          </a:xfrm>
        </p:spPr>
        <p:txBody>
          <a:bodyPr>
            <a:normAutofit fontScale="90000"/>
          </a:bodyPr>
          <a:lstStyle/>
          <a:p>
            <a:endParaRPr lang="en-IN"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457200" y="1600200"/>
            <a:ext cx="8915400" cy="4525963"/>
          </a:xfrm>
        </p:spPr>
        <p:txBody>
          <a:bodyPr>
            <a:normAutofit fontScale="92500" lnSpcReduction="20000"/>
          </a:bodyPr>
          <a:lstStyle/>
          <a:p>
            <a:pPr>
              <a:buNone/>
            </a:pPr>
            <a:r>
              <a:rPr lang="en-US" dirty="0"/>
              <a:t>		</a:t>
            </a:r>
            <a:r>
              <a:rPr lang="en-US" sz="1700" dirty="0" err="1"/>
              <a:t>printf</a:t>
            </a:r>
            <a:r>
              <a:rPr lang="en-US" sz="1700" dirty="0"/>
              <a:t>("\n The elements of the matrix are as follows:\n");</a:t>
            </a:r>
          </a:p>
          <a:p>
            <a:pPr>
              <a:buNone/>
            </a:pPr>
            <a:r>
              <a:rPr lang="en-US" sz="1700" dirty="0"/>
              <a:t>		for(i=0;i &lt;r; i++)</a:t>
            </a:r>
          </a:p>
          <a:p>
            <a:pPr>
              <a:buNone/>
            </a:pPr>
            <a:r>
              <a:rPr lang="en-US" sz="1700" dirty="0"/>
              <a:t>		{</a:t>
            </a:r>
          </a:p>
          <a:p>
            <a:pPr>
              <a:buNone/>
            </a:pPr>
            <a:r>
              <a:rPr lang="en-US" sz="1700" dirty="0"/>
              <a:t>			for(j=0;j&lt;</a:t>
            </a:r>
            <a:r>
              <a:rPr lang="en-US" sz="1700" dirty="0" err="1"/>
              <a:t>c;j</a:t>
            </a:r>
            <a:r>
              <a:rPr lang="en-US" sz="1700" dirty="0"/>
              <a:t>++)</a:t>
            </a:r>
          </a:p>
          <a:p>
            <a:pPr>
              <a:buNone/>
            </a:pPr>
            <a:r>
              <a:rPr lang="en-US" sz="1700" dirty="0"/>
              <a:t>				</a:t>
            </a:r>
            <a:r>
              <a:rPr lang="en-US" sz="1700" dirty="0" err="1"/>
              <a:t>printf</a:t>
            </a:r>
            <a:r>
              <a:rPr lang="en-US" sz="1700" dirty="0"/>
              <a:t>("%d\t", </a:t>
            </a:r>
            <a:r>
              <a:rPr lang="en-US" sz="1700" dirty="0" err="1"/>
              <a:t>arr</a:t>
            </a:r>
            <a:r>
              <a:rPr lang="en-US" sz="1700" dirty="0"/>
              <a:t>[i][j]);</a:t>
            </a:r>
          </a:p>
          <a:p>
            <a:pPr>
              <a:buNone/>
            </a:pPr>
            <a:r>
              <a:rPr lang="en-US" sz="1700" dirty="0"/>
              <a:t>			</a:t>
            </a:r>
            <a:r>
              <a:rPr lang="en-US" sz="1700" dirty="0" err="1"/>
              <a:t>printf</a:t>
            </a:r>
            <a:r>
              <a:rPr lang="en-US" sz="1700" dirty="0"/>
              <a:t>("\n");</a:t>
            </a:r>
          </a:p>
          <a:p>
            <a:pPr>
              <a:buNone/>
            </a:pPr>
            <a:r>
              <a:rPr lang="en-US" sz="1700" dirty="0"/>
              <a:t>       	 	}</a:t>
            </a:r>
          </a:p>
          <a:p>
            <a:pPr>
              <a:buNone/>
            </a:pPr>
            <a:r>
              <a:rPr lang="en-US" sz="1700" dirty="0"/>
              <a:t>		</a:t>
            </a:r>
            <a:r>
              <a:rPr lang="en-US" sz="1700" dirty="0" err="1"/>
              <a:t>printf</a:t>
            </a:r>
            <a:r>
              <a:rPr lang="en-US" sz="1700" dirty="0"/>
              <a:t>("\n The elements of the transpose matrix are as follows:\n");</a:t>
            </a:r>
          </a:p>
          <a:p>
            <a:pPr>
              <a:buNone/>
            </a:pPr>
            <a:r>
              <a:rPr lang="en-US" sz="1700" dirty="0"/>
              <a:t>		for(i=0;i &lt;c; i++)</a:t>
            </a:r>
          </a:p>
          <a:p>
            <a:pPr>
              <a:buNone/>
            </a:pPr>
            <a:r>
              <a:rPr lang="en-US" sz="1700" dirty="0"/>
              <a:t>		{</a:t>
            </a:r>
          </a:p>
          <a:p>
            <a:pPr>
              <a:buNone/>
            </a:pPr>
            <a:r>
              <a:rPr lang="en-US" sz="1700" dirty="0"/>
              <a:t>			for(j=0;j&lt;</a:t>
            </a:r>
            <a:r>
              <a:rPr lang="en-US" sz="1700" dirty="0" err="1"/>
              <a:t>r;j</a:t>
            </a:r>
            <a:r>
              <a:rPr lang="en-US" sz="1700" dirty="0"/>
              <a:t>++)</a:t>
            </a:r>
          </a:p>
          <a:p>
            <a:pPr>
              <a:buNone/>
            </a:pPr>
            <a:r>
              <a:rPr lang="en-US" sz="1700" dirty="0"/>
              <a:t>				</a:t>
            </a:r>
            <a:r>
              <a:rPr lang="en-US" sz="1700" dirty="0" err="1"/>
              <a:t>printf</a:t>
            </a:r>
            <a:r>
              <a:rPr lang="en-US" sz="1700" dirty="0"/>
              <a:t>("%d\t", trans[i][j]);</a:t>
            </a:r>
          </a:p>
          <a:p>
            <a:pPr>
              <a:buNone/>
            </a:pPr>
            <a:r>
              <a:rPr lang="en-US" sz="1700" dirty="0"/>
              <a:t>			</a:t>
            </a:r>
            <a:r>
              <a:rPr lang="en-US" sz="1700" dirty="0" err="1"/>
              <a:t>printf</a:t>
            </a:r>
            <a:r>
              <a:rPr lang="en-US" sz="1700" dirty="0"/>
              <a:t>("\n");</a:t>
            </a:r>
          </a:p>
          <a:p>
            <a:pPr>
              <a:buNone/>
            </a:pPr>
            <a:r>
              <a:rPr lang="en-US" sz="1700" dirty="0"/>
              <a:t>       		 }</a:t>
            </a:r>
          </a:p>
          <a:p>
            <a:pPr>
              <a:buNone/>
            </a:pPr>
            <a:endParaRPr lang="en-US" sz="1700" dirty="0"/>
          </a:p>
          <a:p>
            <a:pPr>
              <a:buNone/>
            </a:pPr>
            <a:r>
              <a:rPr lang="en-US" sz="1700" dirty="0"/>
              <a:t>	}</a:t>
            </a:r>
          </a:p>
          <a:p>
            <a:endParaRPr lang="en-IN" dirty="0"/>
          </a:p>
          <a:p>
            <a:endParaRPr lang="en-IN"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FF0000"/>
                </a:solidFill>
              </a:rPr>
              <a:t>Selection Sort</a:t>
            </a:r>
            <a:endParaRPr lang="en-IN" dirty="0"/>
          </a:p>
        </p:txBody>
      </p:sp>
      <p:pic>
        <p:nvPicPr>
          <p:cNvPr id="1026" name="Picture 2"/>
          <p:cNvPicPr>
            <a:picLocks noGrp="1" noChangeAspect="1" noChangeArrowheads="1"/>
          </p:cNvPicPr>
          <p:nvPr>
            <p:ph idx="1"/>
          </p:nvPr>
        </p:nvPicPr>
        <p:blipFill>
          <a:blip r:embed="rId2"/>
          <a:srcRect/>
          <a:stretch>
            <a:fillRect/>
          </a:stretch>
        </p:blipFill>
        <p:spPr bwMode="auto">
          <a:xfrm>
            <a:off x="1714500" y="2377281"/>
            <a:ext cx="5715000" cy="2971800"/>
          </a:xfrm>
          <a:prstGeom prst="rect">
            <a:avLst/>
          </a:prstGeom>
          <a:noFill/>
          <a:ln w="9525">
            <a:noFill/>
            <a:miter lim="800000"/>
            <a:headEnd/>
            <a:tailEnd/>
          </a:ln>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050" name="Picture 2"/>
          <p:cNvPicPr>
            <a:picLocks noGrp="1" noChangeAspect="1" noChangeArrowheads="1"/>
          </p:cNvPicPr>
          <p:nvPr>
            <p:ph idx="1"/>
          </p:nvPr>
        </p:nvPicPr>
        <p:blipFill>
          <a:blip r:embed="rId2"/>
          <a:srcRect/>
          <a:stretch>
            <a:fillRect/>
          </a:stretch>
        </p:blipFill>
        <p:spPr bwMode="auto">
          <a:xfrm>
            <a:off x="0" y="2286000"/>
            <a:ext cx="5334000" cy="3924300"/>
          </a:xfrm>
          <a:prstGeom prst="rect">
            <a:avLst/>
          </a:prstGeom>
          <a:noFill/>
          <a:ln w="9525">
            <a:noFill/>
            <a:miter lim="800000"/>
            <a:headEnd/>
            <a:tailEnd/>
          </a:ln>
          <a:effectLst/>
        </p:spPr>
      </p:pic>
      <p:sp>
        <p:nvSpPr>
          <p:cNvPr id="5" name="TextBox 4"/>
          <p:cNvSpPr txBox="1"/>
          <p:nvPr/>
        </p:nvSpPr>
        <p:spPr>
          <a:xfrm>
            <a:off x="914400" y="1600200"/>
            <a:ext cx="7696200" cy="369332"/>
          </a:xfrm>
          <a:prstGeom prst="rect">
            <a:avLst/>
          </a:prstGeom>
          <a:noFill/>
          <a:ln>
            <a:solidFill>
              <a:schemeClr val="accent1">
                <a:shade val="50000"/>
              </a:schemeClr>
            </a:solidFill>
          </a:ln>
        </p:spPr>
        <p:txBody>
          <a:bodyPr wrap="square" rtlCol="0">
            <a:spAutoFit/>
          </a:bodyPr>
          <a:lstStyle/>
          <a:p>
            <a:r>
              <a:rPr lang="en-IN" dirty="0"/>
              <a:t>77                    33                     44           11              88           22              66             55               </a:t>
            </a:r>
          </a:p>
        </p:txBody>
      </p:sp>
      <p:cxnSp>
        <p:nvCxnSpPr>
          <p:cNvPr id="7" name="Straight Connector 6"/>
          <p:cNvCxnSpPr/>
          <p:nvPr/>
        </p:nvCxnSpPr>
        <p:spPr>
          <a:xfrm rot="5400000">
            <a:off x="1638300" y="1790700"/>
            <a:ext cx="381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5400000">
            <a:off x="2856706" y="1790700"/>
            <a:ext cx="381794" cy="7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5400000">
            <a:off x="4001294" y="1790700"/>
            <a:ext cx="380206" cy="7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5400000">
            <a:off x="4914900" y="1790700"/>
            <a:ext cx="381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5400000">
            <a:off x="5830094" y="1789906"/>
            <a:ext cx="381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5400000">
            <a:off x="6742906" y="1789906"/>
            <a:ext cx="381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a:off x="7581106" y="1789906"/>
            <a:ext cx="3810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3259</TotalTime>
  <Words>5421</Words>
  <Application>Microsoft Office PowerPoint</Application>
  <PresentationFormat>On-screen Show (4:3)</PresentationFormat>
  <Paragraphs>928</Paragraphs>
  <Slides>49</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49</vt:i4>
      </vt:variant>
    </vt:vector>
  </HeadingPairs>
  <TitlesOfParts>
    <vt:vector size="53" baseType="lpstr">
      <vt:lpstr>Arial</vt:lpstr>
      <vt:lpstr>Calibri</vt:lpstr>
      <vt:lpstr>Times New Roman</vt:lpstr>
      <vt:lpstr>Office Theme</vt:lpstr>
      <vt:lpstr>ARRAY</vt:lpstr>
      <vt:lpstr>PowerPoint Presentation</vt:lpstr>
      <vt:lpstr>PowerPoint Presentation</vt:lpstr>
      <vt:lpstr>ARRAYS</vt:lpstr>
      <vt:lpstr>PowerPoint Presentation</vt:lpstr>
      <vt:lpstr>Significance of array name</vt:lpstr>
      <vt:lpstr>Example</vt:lpstr>
      <vt:lpstr>PowerPoint Presentation</vt:lpstr>
      <vt:lpstr>Example</vt:lpstr>
      <vt:lpstr>PowerPoint Presentation</vt:lpstr>
      <vt:lpstr>Example</vt:lpstr>
      <vt:lpstr>PowerPoint Presentation</vt:lpstr>
      <vt:lpstr>PowerPoint Presentation</vt:lpstr>
      <vt:lpstr>Example</vt:lpstr>
      <vt:lpstr>PowerPoint Presentation</vt:lpstr>
      <vt:lpstr>Bound Checking</vt:lpstr>
      <vt:lpstr>Linear Search</vt:lpstr>
      <vt:lpstr>Linear Search</vt:lpstr>
      <vt:lpstr>PowerPoint Presentation</vt:lpstr>
      <vt:lpstr>Example</vt:lpstr>
      <vt:lpstr>PowerPoint Presentation</vt:lpstr>
      <vt:lpstr>PowerPoint Presentation</vt:lpstr>
      <vt:lpstr>Example</vt:lpstr>
      <vt:lpstr>PowerPoint Presentation</vt:lpstr>
      <vt:lpstr>PowerPoint Presentation</vt:lpstr>
      <vt:lpstr>PowerPoint Presentation</vt:lpstr>
      <vt:lpstr>Matrix:</vt:lpstr>
      <vt:lpstr>Matrix:</vt:lpstr>
      <vt:lpstr>PowerPoint Presentation</vt:lpstr>
      <vt:lpstr>PowerPoint Presentation</vt:lpstr>
      <vt:lpstr>PowerPoint Presentation</vt:lpstr>
      <vt:lpstr>Example</vt:lpstr>
      <vt:lpstr>PowerPoint Presentation</vt:lpstr>
      <vt:lpstr>PowerPoint Presentation</vt:lpstr>
      <vt:lpstr>Example</vt:lpstr>
      <vt:lpstr>PowerPoint Presentation</vt:lpstr>
      <vt:lpstr>PowerPoint Presentation</vt:lpstr>
      <vt:lpstr>PowerPoint Presentation</vt:lpstr>
      <vt:lpstr>Example</vt:lpstr>
      <vt:lpstr>PowerPoint Presentation</vt:lpstr>
      <vt:lpstr>PowerPoint Presentation</vt:lpstr>
      <vt:lpstr>PowerPoint Presentation</vt:lpstr>
      <vt:lpstr>Example</vt:lpstr>
      <vt:lpstr>PowerPoint Presentation</vt:lpstr>
      <vt:lpstr>PowerPoint Presentation</vt:lpstr>
      <vt:lpstr>PowerPoint Presentation</vt:lpstr>
      <vt:lpstr>PowerPoint Presentation</vt:lpstr>
      <vt:lpstr>Selection Sort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ARRAY</dc:title>
  <dc:creator>hp</dc:creator>
  <cp:lastModifiedBy>Ranajoy Chatterjee</cp:lastModifiedBy>
  <cp:revision>209</cp:revision>
  <dcterms:created xsi:type="dcterms:W3CDTF">2006-08-16T00:00:00Z</dcterms:created>
  <dcterms:modified xsi:type="dcterms:W3CDTF">2023-11-06T04:27:14Z</dcterms:modified>
</cp:coreProperties>
</file>